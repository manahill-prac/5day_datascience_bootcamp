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Calibri (MS) Bold" charset="1" panose="020F0702030404030204"/>
      <p:regular r:id="rId50"/>
    </p:embeddedFont>
    <p:embeddedFont>
      <p:font typeface="Calibri (MS)" charset="1" panose="020F0502020204030204"/>
      <p:regular r:id="rId51"/>
    </p:embeddedFont>
    <p:embeddedFont>
      <p:font typeface="Consolas" charset="1" panose="020B0609020204030204"/>
      <p:regular r:id="rId57"/>
    </p:embeddedFont>
    <p:embeddedFont>
      <p:font typeface="Noto Sans" charset="1" panose="020B0502040504020204"/>
      <p:regular r:id="rId58"/>
    </p:embeddedFont>
    <p:embeddedFont>
      <p:font typeface="Arimo" charset="1" panose="020B0604020202020204"/>
      <p:regular r:id="rId59"/>
    </p:embeddedFont>
    <p:embeddedFont>
      <p:font typeface="Arial" charset="1" panose="020B0604020202020204"/>
      <p:regular r:id="rId60"/>
    </p:embeddedFont>
    <p:embeddedFont>
      <p:font typeface="Arial Bold" charset="1" panose="020B0704020202020204"/>
      <p:regular r:id="rId61"/>
    </p:embeddedFont>
    <p:embeddedFont>
      <p:font typeface="Consolas Bold" charset="1" panose="020B0709020204030204"/>
      <p:regular r:id="rId64"/>
    </p:embeddedFont>
    <p:embeddedFont>
      <p:font typeface="Calibri (MS) Italics" charset="1" panose="020F05020202040A0204"/>
      <p:regular r:id="rId66"/>
    </p:embeddedFont>
    <p:embeddedFont>
      <p:font typeface="Lato" charset="1" panose="020F0502020204030203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notesMasters/notesMaster1.xml" Type="http://schemas.openxmlformats.org/officeDocument/2006/relationships/notesMaster"/><Relationship Id="rId48" Target="theme/theme2.xml" Type="http://schemas.openxmlformats.org/officeDocument/2006/relationships/theme"/><Relationship Id="rId49" Target="notesSlides/notesSlide1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Slides/notesSlide2.xml" Type="http://schemas.openxmlformats.org/officeDocument/2006/relationships/notesSlide"/><Relationship Id="rId53" Target="notesSlides/notesSlide3.xml" Type="http://schemas.openxmlformats.org/officeDocument/2006/relationships/notesSlide"/><Relationship Id="rId54" Target="notesSlides/notesSlide4.xml" Type="http://schemas.openxmlformats.org/officeDocument/2006/relationships/notesSlide"/><Relationship Id="rId55" Target="notesSlides/notesSlide5.xml" Type="http://schemas.openxmlformats.org/officeDocument/2006/relationships/notesSlide"/><Relationship Id="rId56" Target="notesSlides/notesSlide6.xml" Type="http://schemas.openxmlformats.org/officeDocument/2006/relationships/notesSlide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notesSlides/notesSlide7.xml" Type="http://schemas.openxmlformats.org/officeDocument/2006/relationships/notesSlide"/><Relationship Id="rId63" Target="notesSlides/notesSlide8.xml" Type="http://schemas.openxmlformats.org/officeDocument/2006/relationships/notesSlide"/><Relationship Id="rId64" Target="fonts/font64.fntdata" Type="http://schemas.openxmlformats.org/officeDocument/2006/relationships/font"/><Relationship Id="rId65" Target="notesSlides/notesSlide9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10.xml" Type="http://schemas.openxmlformats.org/officeDocument/2006/relationships/notesSlide"/><Relationship Id="rId68" Target="fonts/font68.fntdata" Type="http://schemas.openxmlformats.org/officeDocument/2006/relationships/font"/><Relationship Id="rId69" Target="notesSlides/notesSlide11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2.xml" Type="http://schemas.openxmlformats.org/officeDocument/2006/relationships/notesSlide"/><Relationship Id="rId71" Target="notesSlides/notesSlide13.xml" Type="http://schemas.openxmlformats.org/officeDocument/2006/relationships/notesSlide"/><Relationship Id="rId72" Target="notesSlides/notesSlide14.xml" Type="http://schemas.openxmlformats.org/officeDocument/2006/relationships/notesSlide"/><Relationship Id="rId73" Target="notesSlides/notesSlide15.xml" Type="http://schemas.openxmlformats.org/officeDocument/2006/relationships/notesSlide"/><Relationship Id="rId74" Target="notesSlides/notesSlide16.xml" Type="http://schemas.openxmlformats.org/officeDocument/2006/relationships/notesSlide"/><Relationship Id="rId75" Target="notesSlides/notesSlide17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youtube.com/shorts/7I8b-Kgogtc?si=j0Xom-XPNSRcKn_L" TargetMode="External" Type="http://schemas.openxmlformats.org/officeDocument/2006/relationships/hyperlink"/><Relationship Id="rId5" Target="https://youtu.be/sWhqqiJuypA?si=e5ACBZtLWsSXfELN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0"/>
            <a:ext cx="16459200" cy="1828800"/>
            <a:chOff x="0" y="0"/>
            <a:chExt cx="219456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19075"/>
              <a:ext cx="21945600" cy="2657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Bootcamp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30352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1: Python Fundamentals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0" y="6949440"/>
            <a:ext cx="5486400" cy="146304"/>
            <a:chOff x="0" y="0"/>
            <a:chExt cx="7315200" cy="195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863840"/>
            <a:ext cx="16459200" cy="731520"/>
            <a:chOff x="0" y="0"/>
            <a:chExt cx="219456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 Manahil Mirza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595360"/>
            <a:ext cx="16459200" cy="731520"/>
            <a:chOff x="0" y="0"/>
            <a:chExt cx="219456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Developers Group CUI Wah Campus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146304" cy="6949440"/>
            <a:chOff x="0" y="0"/>
            <a:chExt cx="195072" cy="926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9265920"/>
            </a:xfrm>
            <a:custGeom>
              <a:avLst/>
              <a:gdLst/>
              <a:ahLst/>
              <a:cxnLst/>
              <a:rect r="r" b="b" t="t" l="l"/>
              <a:pathLst>
                <a:path h="9265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2194560"/>
            <a:ext cx="15910560" cy="6583680"/>
            <a:chOff x="0" y="0"/>
            <a:chExt cx="21214080" cy="877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8778240"/>
                  </a:lnTo>
                  <a:lnTo>
                    <a:pt x="0" y="877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1" t="0" r="-309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214080" cy="8854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Data Science?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Science Pipeline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Basics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 &amp; Data Types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Flow (Loops &amp; Conditionals)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Functions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Structures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Data Science?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7863840" cy="2556313"/>
            <a:chOff x="0" y="0"/>
            <a:chExt cx="10485120" cy="34084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3408418"/>
            </a:xfrm>
            <a:custGeom>
              <a:avLst/>
              <a:gdLst/>
              <a:ahLst/>
              <a:cxnLst/>
              <a:rect r="r" b="b" t="t" l="l"/>
              <a:pathLst>
                <a:path h="340841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08418"/>
                  </a:lnTo>
                  <a:lnTo>
                    <a:pt x="0" y="34084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7132320" cy="1814438"/>
            <a:chOff x="0" y="0"/>
            <a:chExt cx="9509760" cy="24192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09760" cy="2419251"/>
            </a:xfrm>
            <a:custGeom>
              <a:avLst/>
              <a:gdLst/>
              <a:ahLst/>
              <a:cxnLst/>
              <a:rect r="r" b="b" t="t" l="l"/>
              <a:pathLst>
                <a:path h="2419251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34" r="0" b="324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509760" cy="24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is an interdisciplinary field that extracts actionable insights, patterns, and knowledge from structured and unstructured data to inform decision-making.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4750873"/>
            <a:ext cx="5958457" cy="2586633"/>
            <a:chOff x="0" y="0"/>
            <a:chExt cx="7944609" cy="3448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44609" cy="3448844"/>
            </a:xfrm>
            <a:custGeom>
              <a:avLst/>
              <a:gdLst/>
              <a:ahLst/>
              <a:cxnLst/>
              <a:rect r="r" b="b" t="t" l="l"/>
              <a:pathLst>
                <a:path h="3448844" w="7944609">
                  <a:moveTo>
                    <a:pt x="0" y="0"/>
                  </a:moveTo>
                  <a:lnTo>
                    <a:pt x="7944609" y="0"/>
                  </a:lnTo>
                  <a:lnTo>
                    <a:pt x="7944609" y="3448844"/>
                  </a:lnTo>
                  <a:lnTo>
                    <a:pt x="0" y="34488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84" t="0" r="-46485" b="-555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944609" cy="3505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Interdisciplinary field  as it combines techniques:</a:t>
              </a:r>
            </a:p>
            <a:p>
              <a:pPr algn="l" marL="772160" indent="-38608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Science</a:t>
              </a:r>
            </a:p>
            <a:p>
              <a:pPr algn="l" marL="772161" indent="-38608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Maths and Statistics</a:t>
              </a:r>
            </a:p>
            <a:p>
              <a:pPr algn="l" marL="772160" indent="-38608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 Knowledge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9760" y="2194560"/>
            <a:ext cx="7863840" cy="5852160"/>
            <a:chOff x="0" y="0"/>
            <a:chExt cx="10485120" cy="7802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75520" y="2560320"/>
            <a:ext cx="7132320" cy="797272"/>
            <a:chOff x="0" y="0"/>
            <a:chExt cx="9509760" cy="1063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1063030"/>
            </a:xfrm>
            <a:custGeom>
              <a:avLst/>
              <a:gdLst/>
              <a:ahLst/>
              <a:cxnLst/>
              <a:rect r="r" b="b" t="t" l="l"/>
              <a:pathLst>
                <a:path h="106303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434" r="0" b="-1201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9509760" cy="114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75520" y="3474720"/>
            <a:ext cx="7132320" cy="4023360"/>
            <a:chOff x="0" y="0"/>
            <a:chExt cx="9509760" cy="536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376" t="0" r="-2237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9509760" cy="543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answer questions about: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happened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it happened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will happen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to optimize results.</a:t>
              </a:r>
            </a:p>
            <a:p>
              <a:pPr algn="l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3040" y="3291840"/>
            <a:ext cx="2560320" cy="2194560"/>
            <a:chOff x="0" y="0"/>
            <a:chExt cx="3413760" cy="2926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54880" y="3291840"/>
            <a:ext cx="2560320" cy="2194560"/>
            <a:chOff x="0" y="0"/>
            <a:chExt cx="341376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46720" y="3291840"/>
            <a:ext cx="2560320" cy="2194560"/>
            <a:chOff x="0" y="0"/>
            <a:chExt cx="3413760" cy="2926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38560" y="3291840"/>
            <a:ext cx="2560320" cy="2194560"/>
            <a:chOff x="0" y="0"/>
            <a:chExt cx="341376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0" y="3291840"/>
            <a:ext cx="2560320" cy="2194560"/>
            <a:chOff x="0" y="0"/>
            <a:chExt cx="3413760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3040" y="3301365"/>
            <a:ext cx="2560320" cy="2194560"/>
            <a:chOff x="0" y="0"/>
            <a:chExt cx="3413760" cy="2926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44315" y="4032885"/>
            <a:ext cx="731520" cy="731520"/>
            <a:chOff x="0" y="0"/>
            <a:chExt cx="9753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54880" y="3301365"/>
            <a:ext cx="2560320" cy="2194560"/>
            <a:chOff x="0" y="0"/>
            <a:chExt cx="3413760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34250" y="4032885"/>
            <a:ext cx="731520" cy="731520"/>
            <a:chOff x="0" y="0"/>
            <a:chExt cx="9753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046720" y="3301365"/>
            <a:ext cx="2560320" cy="2194560"/>
            <a:chOff x="0" y="0"/>
            <a:chExt cx="3413760" cy="2926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26090" y="4032885"/>
            <a:ext cx="731520" cy="731520"/>
            <a:chOff x="0" y="0"/>
            <a:chExt cx="97536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338560" y="3301365"/>
            <a:ext cx="2560320" cy="2194560"/>
            <a:chOff x="0" y="0"/>
            <a:chExt cx="3413760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341376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Modeling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Evaluation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917930" y="4032885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630400" y="3301365"/>
            <a:ext cx="2560320" cy="2194560"/>
            <a:chOff x="0" y="0"/>
            <a:chExt cx="3413760" cy="292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64665" y="8678087"/>
            <a:ext cx="16927313" cy="1580338"/>
            <a:chOff x="0" y="0"/>
            <a:chExt cx="22569750" cy="21071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569751" cy="2107118"/>
            </a:xfrm>
            <a:custGeom>
              <a:avLst/>
              <a:gdLst/>
              <a:ahLst/>
              <a:cxnLst/>
              <a:rect r="r" b="b" t="t" l="l"/>
              <a:pathLst>
                <a:path h="2107118" w="22569751">
                  <a:moveTo>
                    <a:pt x="0" y="0"/>
                  </a:moveTo>
                  <a:lnTo>
                    <a:pt x="22569751" y="0"/>
                  </a:lnTo>
                  <a:lnTo>
                    <a:pt x="22569751" y="2107118"/>
                  </a:lnTo>
                  <a:lnTo>
                    <a:pt x="0" y="2107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19" r="2765" b="-1376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22569750" cy="2173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Roadmap </a:t>
              </a:r>
            </a:p>
            <a:p>
              <a:pPr algn="l">
                <a:lnSpc>
                  <a:spcPts val="3600"/>
                </a:lnSpc>
              </a:pPr>
              <a:r>
                <a:rPr lang="en-US" b="true" sz="3000" u="sng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youtube.com/shorts/7I8b-Kgogtc?si=j0Xom-XPNSRcKn_L"/>
                </a:rPr>
                <a:t>YouTube</a:t>
              </a:r>
            </a:p>
            <a:p>
              <a:pPr algn="l">
                <a:lnSpc>
                  <a:spcPts val="3600"/>
                </a:lnSpc>
              </a:pPr>
              <a:r>
                <a:rPr lang="en-US" b="true" sz="3000" u="sng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5" tooltip="https://youtu.be/sWhqqiJuypA?si=e5ACBZtLWsSXfELN"/>
                </a:rPr>
                <a:t>YouTube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Python for Data Science?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7863840" cy="2377440"/>
            <a:chOff x="0" y="0"/>
            <a:chExt cx="10485120" cy="3169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146304" cy="2377440"/>
            <a:chOff x="0" y="0"/>
            <a:chExt cx="195072" cy="3169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63040" y="2926080"/>
            <a:ext cx="6766560" cy="731520"/>
            <a:chOff x="0" y="0"/>
            <a:chExt cx="90220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Easy to Learn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3840480"/>
            <a:ext cx="6766560" cy="731520"/>
            <a:chOff x="0" y="0"/>
            <a:chExt cx="902208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Simple, readable syntax perfect for beginners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0" y="2560320"/>
            <a:ext cx="7863840" cy="2377440"/>
            <a:chOff x="0" y="0"/>
            <a:chExt cx="10485120" cy="3169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1200" y="2560320"/>
            <a:ext cx="146304" cy="2377440"/>
            <a:chOff x="0" y="0"/>
            <a:chExt cx="195072" cy="3169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49840" y="2926080"/>
            <a:ext cx="6766560" cy="731520"/>
            <a:chOff x="0" y="0"/>
            <a:chExt cx="90220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Rich Ecosystem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49840" y="3840480"/>
            <a:ext cx="6766560" cy="731520"/>
            <a:chOff x="0" y="0"/>
            <a:chExt cx="902208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NumPy, Pandas, Matplotlib, Scikit-learn, TensorFlow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669280"/>
            <a:ext cx="7863840" cy="2377440"/>
            <a:chOff x="0" y="0"/>
            <a:chExt cx="10485120" cy="3169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669280"/>
            <a:ext cx="146304" cy="2377440"/>
            <a:chOff x="0" y="0"/>
            <a:chExt cx="195072" cy="3169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63040" y="6035040"/>
            <a:ext cx="6766560" cy="731520"/>
            <a:chOff x="0" y="0"/>
            <a:chExt cx="902208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Community Support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3040" y="6949440"/>
            <a:ext cx="6766560" cy="731520"/>
            <a:chOff x="0" y="0"/>
            <a:chExt cx="902208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community, extensive documentation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0" y="5669280"/>
            <a:ext cx="7863840" cy="2377440"/>
            <a:chOff x="0" y="0"/>
            <a:chExt cx="10485120" cy="3169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01200" y="5669280"/>
            <a:ext cx="146304" cy="2377440"/>
            <a:chOff x="0" y="0"/>
            <a:chExt cx="195072" cy="3169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49840" y="6035040"/>
            <a:ext cx="6766560" cy="731520"/>
            <a:chOff x="0" y="0"/>
            <a:chExt cx="902208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Versatile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149840" y="6949440"/>
            <a:ext cx="6766560" cy="731520"/>
            <a:chOff x="0" y="0"/>
            <a:chExt cx="902208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dev, automation, AI/ML, data analysis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8935" y="1028700"/>
            <a:ext cx="14162529" cy="10382853"/>
            <a:chOff x="0" y="0"/>
            <a:chExt cx="18883372" cy="13843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83339" cy="13843735"/>
            </a:xfrm>
            <a:custGeom>
              <a:avLst/>
              <a:gdLst/>
              <a:ahLst/>
              <a:cxnLst/>
              <a:rect r="r" b="b" t="t" l="l"/>
              <a:pathLst>
                <a:path h="13843735" w="18883339">
                  <a:moveTo>
                    <a:pt x="0" y="0"/>
                  </a:moveTo>
                  <a:lnTo>
                    <a:pt x="18883339" y="0"/>
                  </a:lnTo>
                  <a:lnTo>
                    <a:pt x="18883339" y="13843735"/>
                  </a:lnTo>
                  <a:lnTo>
                    <a:pt x="0" y="13843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47" t="0" r="-1447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Basics - Getting Started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8229600" cy="6035040"/>
            <a:chOff x="0" y="0"/>
            <a:chExt cx="10972800" cy="8046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7498080" cy="5303520"/>
            <a:chOff x="0" y="0"/>
            <a:chExt cx="9997440" cy="7071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97440" cy="7071360"/>
            </a:xfrm>
            <a:custGeom>
              <a:avLst/>
              <a:gdLst/>
              <a:ahLst/>
              <a:cxnLst/>
              <a:rect r="r" b="b" t="t" l="l"/>
              <a:pathLst>
                <a:path h="7071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071360"/>
                  </a:lnTo>
                  <a:lnTo>
                    <a:pt x="0" y="7071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751" t="0" r="-407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997440" cy="712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Your first Python program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"Hello, World!"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Python is case-sensitive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name 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"Alice"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f"Hello, 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{name}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!"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92640" y="2291715"/>
            <a:ext cx="7680960" cy="731520"/>
            <a:chOff x="0" y="0"/>
            <a:chExt cx="102412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02412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Points: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78340" y="2837372"/>
            <a:ext cx="7680960" cy="2505662"/>
            <a:chOff x="0" y="0"/>
            <a:chExt cx="10241280" cy="33408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3340883"/>
            </a:xfrm>
            <a:custGeom>
              <a:avLst/>
              <a:gdLst/>
              <a:ahLst/>
              <a:cxnLst/>
              <a:rect r="r" b="b" t="t" l="l"/>
              <a:pathLst>
                <a:path h="334088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340883"/>
                  </a:lnTo>
                  <a:lnTo>
                    <a:pt x="0" y="3340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261" t="0" r="-20261" b="-678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241280" cy="340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uses indentation for code blocks</a:t>
              </a: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semicolons needed at line ends</a:t>
              </a: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# for comments</a:t>
              </a: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print() function displays output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78340" y="6120765"/>
            <a:ext cx="7680960" cy="2891098"/>
            <a:chOff x="0" y="0"/>
            <a:chExt cx="10241280" cy="38547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854797"/>
            </a:xfrm>
            <a:custGeom>
              <a:avLst/>
              <a:gdLst/>
              <a:ahLst/>
              <a:cxnLst/>
              <a:rect r="r" b="b" t="t" l="l"/>
              <a:pathLst>
                <a:path h="385479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854797"/>
                  </a:lnTo>
                  <a:lnTo>
                    <a:pt x="0" y="3854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261" t="0" r="-20261" b="-454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241280" cy="3921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</a:t>
              </a:r>
              <a:r>
                <a:rPr lang="en-US" b="true" sz="3000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thout f-string:</a:t>
              </a: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print("Hello, " + name + "! You're " + str(age) + " years old.")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 f-string:</a:t>
              </a: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print(f"Hello, {name}! You're {age} years old.")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54540" y="5352559"/>
            <a:ext cx="7680960" cy="797272"/>
            <a:chOff x="0" y="0"/>
            <a:chExt cx="10241280" cy="10630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43" r="0" b="-1335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024128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f-string: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59514" y="9467412"/>
            <a:ext cx="5884926" cy="803491"/>
          </a:xfrm>
          <a:custGeom>
            <a:avLst/>
            <a:gdLst/>
            <a:ahLst/>
            <a:cxnLst/>
            <a:rect r="r" b="b" t="t" l="l"/>
            <a:pathLst>
              <a:path h="803491" w="5884926">
                <a:moveTo>
                  <a:pt x="0" y="0"/>
                </a:moveTo>
                <a:lnTo>
                  <a:pt x="5884926" y="0"/>
                </a:lnTo>
                <a:lnTo>
                  <a:pt x="5884926" y="803491"/>
                </a:lnTo>
                <a:lnTo>
                  <a:pt x="0" y="803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3617" y="160230"/>
            <a:ext cx="6625647" cy="1145057"/>
          </a:xfrm>
          <a:custGeom>
            <a:avLst/>
            <a:gdLst/>
            <a:ahLst/>
            <a:cxnLst/>
            <a:rect r="r" b="b" t="t" l="l"/>
            <a:pathLst>
              <a:path h="1145057" w="6625647">
                <a:moveTo>
                  <a:pt x="0" y="0"/>
                </a:moveTo>
                <a:lnTo>
                  <a:pt x="6625647" y="0"/>
                </a:lnTo>
                <a:lnTo>
                  <a:pt x="6625647" y="1145057"/>
                </a:lnTo>
                <a:lnTo>
                  <a:pt x="0" y="1145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59888" y="1485348"/>
            <a:ext cx="1873606" cy="1865700"/>
          </a:xfrm>
          <a:custGeom>
            <a:avLst/>
            <a:gdLst/>
            <a:ahLst/>
            <a:cxnLst/>
            <a:rect r="r" b="b" t="t" l="l"/>
            <a:pathLst>
              <a:path h="1865700" w="1873606">
                <a:moveTo>
                  <a:pt x="0" y="0"/>
                </a:moveTo>
                <a:lnTo>
                  <a:pt x="1873605" y="0"/>
                </a:lnTo>
                <a:lnTo>
                  <a:pt x="1873605" y="1865699"/>
                </a:lnTo>
                <a:lnTo>
                  <a:pt x="0" y="1865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1260" y="793432"/>
            <a:ext cx="15319248" cy="7891253"/>
          </a:xfrm>
          <a:custGeom>
            <a:avLst/>
            <a:gdLst/>
            <a:ahLst/>
            <a:cxnLst/>
            <a:rect r="r" b="b" t="t" l="l"/>
            <a:pathLst>
              <a:path h="7891253" w="15319248">
                <a:moveTo>
                  <a:pt x="0" y="0"/>
                </a:moveTo>
                <a:lnTo>
                  <a:pt x="15319248" y="0"/>
                </a:lnTo>
                <a:lnTo>
                  <a:pt x="15319248" y="7891253"/>
                </a:lnTo>
                <a:lnTo>
                  <a:pt x="0" y="78912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41595" y="1951615"/>
            <a:ext cx="409613" cy="345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36"/>
              </a:lnSpc>
            </a:pP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✔ ✔ ✔ 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1595" y="6410077"/>
            <a:ext cx="409613" cy="115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✔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1061" y="1828914"/>
            <a:ext cx="13528929" cy="585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variable name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must start with a letter or the underscore character _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must be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no white space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variable name A variable name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cannot start with a number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variable name can only contain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characters (A-Z, a-z, 0-9, and _ )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No special </a:t>
            </a:r>
          </a:p>
          <a:p>
            <a:pPr algn="l">
              <a:lnSpc>
                <a:spcPts val="5784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characters are allowed i.e. @icode , Python$ are the invalid variables.</a:t>
            </a:r>
          </a:p>
          <a:p>
            <a:pPr algn="l">
              <a:lnSpc>
                <a:spcPts val="6792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 names are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case-sensitive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(age, Age and AGE are three different variables)</a:t>
            </a:r>
          </a:p>
          <a:p>
            <a:pPr algn="l">
              <a:lnSpc>
                <a:spcPts val="5927"/>
              </a:lnSpc>
            </a:pP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Keywords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be used as variable names.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033" y="378187"/>
            <a:ext cx="29757709" cy="153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b="true" sz="7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Rules For Naming Variable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 &amp; Data Types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7863840" cy="2560320"/>
            <a:chOff x="0" y="0"/>
            <a:chExt cx="10485120" cy="3413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7863840" cy="914400"/>
            <a:chOff x="0" y="0"/>
            <a:chExt cx="104851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2651760"/>
            <a:ext cx="7132320" cy="731520"/>
            <a:chOff x="0" y="0"/>
            <a:chExt cx="95097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0160" y="3840480"/>
            <a:ext cx="7132320" cy="914400"/>
            <a:chOff x="0" y="0"/>
            <a:chExt cx="950976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3931920"/>
            <a:ext cx="6766560" cy="731520"/>
            <a:chOff x="0" y="0"/>
            <a:chExt cx="902208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age = 25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0" y="2560320"/>
            <a:ext cx="7863840" cy="2560320"/>
            <a:chOff x="0" y="0"/>
            <a:chExt cx="10485120" cy="3413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0" y="2560320"/>
            <a:ext cx="7863840" cy="914400"/>
            <a:chOff x="0" y="0"/>
            <a:chExt cx="1048512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66960" y="2651760"/>
            <a:ext cx="7132320" cy="731520"/>
            <a:chOff x="0" y="0"/>
            <a:chExt cx="95097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Float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66960" y="3840480"/>
            <a:ext cx="7132320" cy="914400"/>
            <a:chOff x="0" y="0"/>
            <a:chExt cx="950976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49840" y="3931920"/>
            <a:ext cx="6766560" cy="731520"/>
            <a:chOff x="0" y="0"/>
            <a:chExt cx="902208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price = 19.99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5852160"/>
            <a:ext cx="7863840" cy="2560320"/>
            <a:chOff x="0" y="0"/>
            <a:chExt cx="10485120" cy="3413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5852160"/>
            <a:ext cx="7863840" cy="914400"/>
            <a:chOff x="0" y="0"/>
            <a:chExt cx="1048512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0160" y="5943600"/>
            <a:ext cx="7132320" cy="731520"/>
            <a:chOff x="0" y="0"/>
            <a:chExt cx="95097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160" y="7132320"/>
            <a:ext cx="7132320" cy="914400"/>
            <a:chOff x="0" y="0"/>
            <a:chExt cx="950976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63040" y="7223760"/>
            <a:ext cx="6766560" cy="731520"/>
            <a:chOff x="0" y="0"/>
            <a:chExt cx="902208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name = "Alice"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5852160"/>
            <a:ext cx="7863840" cy="2560320"/>
            <a:chOff x="0" y="0"/>
            <a:chExt cx="10485120" cy="3413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01200" y="5852160"/>
            <a:ext cx="7863840" cy="914400"/>
            <a:chOff x="0" y="0"/>
            <a:chExt cx="1048512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A433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66960" y="5943600"/>
            <a:ext cx="7132320" cy="731520"/>
            <a:chOff x="0" y="0"/>
            <a:chExt cx="950976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Boolean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966960" y="7132320"/>
            <a:ext cx="7132320" cy="914400"/>
            <a:chOff x="0" y="0"/>
            <a:chExt cx="950976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49840" y="7223760"/>
            <a:ext cx="6766560" cy="731520"/>
            <a:chOff x="0" y="0"/>
            <a:chExt cx="902208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is_student = True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Operators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5120640" cy="5852160"/>
            <a:chOff x="0" y="0"/>
            <a:chExt cx="6827520" cy="780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275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377440"/>
            <a:ext cx="4754880" cy="731520"/>
            <a:chOff x="0" y="0"/>
            <a:chExt cx="633984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Arithmetic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3291840"/>
            <a:ext cx="4389120" cy="4206240"/>
            <a:chOff x="0" y="0"/>
            <a:chExt cx="5852160" cy="5608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52160" cy="5608320"/>
            </a:xfrm>
            <a:custGeom>
              <a:avLst/>
              <a:gdLst/>
              <a:ahLst/>
              <a:cxnLst/>
              <a:rect r="r" b="b" t="t" l="l"/>
              <a:pathLst>
                <a:path h="5608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957" t="0" r="-7295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852160" cy="5665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+ (add)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- (subtract)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* (multiply)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/ (divide)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// (floor divide)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** (power)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83680" y="2194560"/>
            <a:ext cx="5120640" cy="5852160"/>
            <a:chOff x="0" y="0"/>
            <a:chExt cx="6827520" cy="7802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66560" y="2377440"/>
            <a:ext cx="4754880" cy="731520"/>
            <a:chOff x="0" y="0"/>
            <a:chExt cx="633984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Comparison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49440" y="3291840"/>
            <a:ext cx="4389120" cy="4206240"/>
            <a:chOff x="0" y="0"/>
            <a:chExt cx="5852160" cy="560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5608320"/>
            </a:xfrm>
            <a:custGeom>
              <a:avLst/>
              <a:gdLst/>
              <a:ahLst/>
              <a:cxnLst/>
              <a:rect r="r" b="b" t="t" l="l"/>
              <a:pathLst>
                <a:path h="5608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957" t="0" r="-7295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852160" cy="5665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== (equal)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!= (not equal)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&gt; (greater)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&lt; (less)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&gt;= (greater/equal)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&lt;= (less/equal)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52960" y="2194560"/>
            <a:ext cx="5120640" cy="5852160"/>
            <a:chOff x="0" y="0"/>
            <a:chExt cx="6827520" cy="7802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35840" y="2377440"/>
            <a:ext cx="4754880" cy="731520"/>
            <a:chOff x="0" y="0"/>
            <a:chExt cx="633984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BBC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Logical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18720" y="3291840"/>
            <a:ext cx="4389120" cy="4206240"/>
            <a:chOff x="0" y="0"/>
            <a:chExt cx="5852160" cy="5608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5608320"/>
            </a:xfrm>
            <a:custGeom>
              <a:avLst/>
              <a:gdLst/>
              <a:ahLst/>
              <a:cxnLst/>
              <a:rect r="r" b="b" t="t" l="l"/>
              <a:pathLst>
                <a:path h="5608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957" t="0" r="-7295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852160" cy="5665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and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or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not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x = 5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x &gt; 0 </a:t>
              </a:r>
              <a:r>
                <a:rPr lang="en-US" sz="2600" b="true">
                  <a:solidFill>
                    <a:srgbClr val="1E293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and</a:t>
              </a: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x &lt; 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69370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be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accuracy = 0.876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print(f"Accuracy: {accuracy:.2%}")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Accuracy: 0.88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Accuracy: 87.60%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Accuracy: 87%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Accuracy: 0.876%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69370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be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accuracy = 0.876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print(f"Accuracy: {accuracy:.2%}")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Accuracy: 0.88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Accuracy: 87.60%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Accuracy: 87%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Accuracy: 0.876%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3339892"/>
            <a:ext cx="13234219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Which data type would you use to store whether a student passed or failed?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int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str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bool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float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3339892"/>
            <a:ext cx="13234219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Which data type would you use to store whether a student passed or failed?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int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str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bool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float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25453"/>
            <a:ext cx="12176677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"5"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print(x * y)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10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7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55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25453"/>
            <a:ext cx="12176677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"5"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print(x * y)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10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7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55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 Statements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063740"/>
            <a:chOff x="0" y="0"/>
            <a:chExt cx="13411200" cy="9418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418320"/>
                  </a:lnTo>
                  <a:lnTo>
                    <a:pt x="0" y="941832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50795"/>
            <a:ext cx="9326880" cy="6539768"/>
            <a:chOff x="0" y="0"/>
            <a:chExt cx="12435840" cy="8719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719691"/>
            </a:xfrm>
            <a:custGeom>
              <a:avLst/>
              <a:gdLst/>
              <a:ahLst/>
              <a:cxnLst/>
              <a:rect r="r" b="b" t="t" l="l"/>
              <a:pathLst>
                <a:path h="8719691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719691"/>
                  </a:lnTo>
                  <a:lnTo>
                    <a:pt x="0" y="8719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89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786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vote!"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drive!"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"Too young!"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4389120"/>
            <a:chOff x="0" y="0"/>
            <a:chExt cx="7802880" cy="5852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5899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if</a:t>
              </a: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Checks first condition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elif</a:t>
              </a: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Additional conditions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else</a:t>
              </a: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Default case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BBC0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Note: Indentation matters!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 Statements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396687"/>
            <a:chOff x="0" y="0"/>
            <a:chExt cx="13411200" cy="98622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9862248"/>
            </a:xfrm>
            <a:custGeom>
              <a:avLst/>
              <a:gdLst/>
              <a:ahLst/>
              <a:cxnLst/>
              <a:rect r="r" b="b" t="t" l="l"/>
              <a:pathLst>
                <a:path h="986224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862248"/>
                  </a:lnTo>
                  <a:lnTo>
                    <a:pt x="0" y="9862248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446020"/>
            <a:ext cx="9326880" cy="6539768"/>
            <a:chOff x="0" y="0"/>
            <a:chExt cx="12435840" cy="8719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719691"/>
            </a:xfrm>
            <a:custGeom>
              <a:avLst/>
              <a:gdLst/>
              <a:ahLst/>
              <a:cxnLst/>
              <a:rect r="r" b="b" t="t" l="l"/>
              <a:pathLst>
                <a:path h="8719691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719691"/>
                  </a:lnTo>
                  <a:lnTo>
                    <a:pt x="0" y="8719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89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786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vote!"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drive!"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"Too young!"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382284" y="2915287"/>
            <a:ext cx="638884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If-Statements take a condition and only runs a block of code if the condition evaluates to </a:t>
            </a:r>
            <a:r>
              <a:rPr lang="en-US" sz="21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en-US" sz="21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82284" y="4976498"/>
            <a:ext cx="6388845" cy="89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1949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Else-Statements take no condition and runs a block of code if the </a:t>
            </a:r>
            <a:r>
              <a:rPr lang="en-US" sz="1949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prior If-Statement (and Elif-Statements, if there are any) evaluate to False.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82284" y="3764599"/>
            <a:ext cx="7051246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Elif-Statements take a condition and only tests it if the prior </a:t>
            </a:r>
          </a:p>
          <a:p>
            <a:pPr algn="l">
              <a:lnSpc>
                <a:spcPts val="1000"/>
              </a:lnSpc>
            </a:pPr>
            <a:r>
              <a:rPr lang="en-US" sz="20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If-Statement (and all prior Elif-Statements) evaluate to </a:t>
            </a:r>
            <a:r>
              <a:rPr lang="en-US" sz="2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False</a:t>
            </a:r>
            <a:r>
              <a:rPr lang="en-US" sz="20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Loops - For Loop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367049"/>
            <a:chOff x="0" y="0"/>
            <a:chExt cx="13411200" cy="98227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9822731"/>
            </a:xfrm>
            <a:custGeom>
              <a:avLst/>
              <a:gdLst/>
              <a:ahLst/>
              <a:cxnLst/>
              <a:rect r="r" b="b" t="t" l="l"/>
              <a:pathLst>
                <a:path h="9822731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822731"/>
                  </a:lnTo>
                  <a:lnTo>
                    <a:pt x="0" y="9822731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9326880" cy="6481470"/>
            <a:chOff x="0" y="0"/>
            <a:chExt cx="12435840" cy="86419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641960"/>
            </a:xfrm>
            <a:custGeom>
              <a:avLst/>
              <a:gdLst/>
              <a:ahLst/>
              <a:cxnLst/>
              <a:rect r="r" b="b" t="t" l="l"/>
              <a:pathLst>
                <a:path h="86419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641960"/>
                  </a:lnTo>
                  <a:lnTo>
                    <a:pt x="0" y="8641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81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435840" cy="8699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Iterate over a range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i </a:t>
              </a: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 range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):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Iterate over a list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fruits 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[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"apple"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"banana"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]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fruit </a:t>
              </a: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fruits: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fruit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For Loops When: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4389120"/>
            <a:chOff x="0" y="0"/>
            <a:chExt cx="7802880" cy="5852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5899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know the number of iterations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Iterating over sequences (lists, strings, ranges)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Processing each item in a collection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25453"/>
            <a:ext cx="12176677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How m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any times does this loop run?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i in range(2, 8, 2):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print(i)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4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3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2 times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4444" y="2825453"/>
            <a:ext cx="11488322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How m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any times does this loop run?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i in range(2, 8, 2):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print(i)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4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3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2 times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Loops - While Loop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548686"/>
            <a:chOff x="0" y="0"/>
            <a:chExt cx="13411200" cy="10064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10064914"/>
            </a:xfrm>
            <a:custGeom>
              <a:avLst/>
              <a:gdLst/>
              <a:ahLst/>
              <a:cxnLst/>
              <a:rect r="r" b="b" t="t" l="l"/>
              <a:pathLst>
                <a:path h="10064914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064914"/>
                  </a:lnTo>
                  <a:lnTo>
                    <a:pt x="0" y="1006491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9326880" cy="6453891"/>
            <a:chOff x="0" y="0"/>
            <a:chExt cx="12435840" cy="86051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605188"/>
            </a:xfrm>
            <a:custGeom>
              <a:avLst/>
              <a:gdLst/>
              <a:ahLst/>
              <a:cxnLst/>
              <a:rect r="r" b="b" t="t" l="l"/>
              <a:pathLst>
                <a:path h="860518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605188"/>
                  </a:lnTo>
                  <a:lnTo>
                    <a:pt x="0" y="8605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782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671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Count down from 5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count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count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count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count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-=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"Blast off!"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While Loops When: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4389120"/>
            <a:chOff x="0" y="0"/>
            <a:chExt cx="7802880" cy="5852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5899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Number of iterations is unknown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Loop depends on a condition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 to repeat until condition is met</a:t>
              </a:r>
            </a:p>
            <a:p>
              <a:pPr algn="l" marL="675640" indent="-337820" lvl="1">
                <a:lnSpc>
                  <a:spcPts val="3359"/>
                </a:lnSpc>
              </a:pPr>
              <a:r>
                <a:rPr lang="en-US" sz="2799" i="true">
                  <a:solidFill>
                    <a:srgbClr val="EA433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Caution: Avoid infinite loops!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15928"/>
            <a:ext cx="121766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while count &lt;= 4: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print(count) 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count +=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 2 3 4 5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0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Infinite loop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15928"/>
            <a:ext cx="121766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while count &lt;= 4: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print(count) 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count +=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 2 3 4 5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0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Infinite loop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609232"/>
            <a:chOff x="0" y="0"/>
            <a:chExt cx="13411200" cy="10145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10145642"/>
            </a:xfrm>
            <a:custGeom>
              <a:avLst/>
              <a:gdLst/>
              <a:ahLst/>
              <a:cxnLst/>
              <a:rect r="r" b="b" t="t" l="l"/>
              <a:pathLst>
                <a:path h="1014564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145642"/>
                  </a:lnTo>
                  <a:lnTo>
                    <a:pt x="0" y="10145642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9326880" cy="6697980"/>
            <a:chOff x="0" y="0"/>
            <a:chExt cx="12435840" cy="8930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930640"/>
            </a:xfrm>
            <a:custGeom>
              <a:avLst/>
              <a:gdLst/>
              <a:ahLst/>
              <a:cxnLst/>
              <a:rect r="r" b="b" t="t" l="l"/>
              <a:pathLst>
                <a:path h="893064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930640"/>
                  </a:lnTo>
                  <a:lnTo>
                    <a:pt x="0" y="893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208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997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Define a function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 greet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name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f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"Hello, 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{name}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!"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Call the function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message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greet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"Alice"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message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Use Functions?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3291840"/>
            <a:chOff x="0" y="0"/>
            <a:chExt cx="7802880" cy="4389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4436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Reusable code blocks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Better organization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Easier to debug and test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 code more readable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598628"/>
            <a:ext cx="13234219" cy="786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 — What will be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greet(name):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print(f"Hello {name}!")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result = greet("Ali")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print(result)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Hello Ali!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Hello Ali! then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9191" y="2419350"/>
            <a:ext cx="13234219" cy="786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 — What will be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greet(name):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print(f"Hello {name}!")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result = greet("Ali")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print(result)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Hello Ali!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Hello Ali! then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Q2 — What will be the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double(n):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return n *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print(double(double(3)))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9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12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Q2 — What will be the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double(n):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return n *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print(double(double(3)))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9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12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Lists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69973" y="2664777"/>
            <a:ext cx="7863840" cy="5003512"/>
            <a:chOff x="0" y="0"/>
            <a:chExt cx="10485120" cy="66713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485120" cy="1063029"/>
              <a:chOff x="0" y="0"/>
              <a:chExt cx="10485120" cy="106302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85120" cy="1063029"/>
              </a:xfrm>
              <a:custGeom>
                <a:avLst/>
                <a:gdLst/>
                <a:ahLst/>
                <a:cxnLst/>
                <a:rect r="r" b="b" t="t" l="l"/>
                <a:pathLst>
                  <a:path h="1063029" w="10485120">
                    <a:moveTo>
                      <a:pt x="0" y="0"/>
                    </a:moveTo>
                    <a:lnTo>
                      <a:pt x="10485120" y="0"/>
                    </a:lnTo>
                    <a:lnTo>
                      <a:pt x="10485120" y="1063029"/>
                    </a:lnTo>
                    <a:lnTo>
                      <a:pt x="0" y="106302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6312" r="0" b="-138065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85725"/>
                <a:ext cx="10485120" cy="114875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799"/>
                  </a:lnSpc>
                </a:pPr>
                <a:r>
                  <a:rPr lang="en-US" sz="3999" b="true">
                    <a:solidFill>
                      <a:srgbClr val="4285F4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List (Mutable)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3840" y="1306869"/>
              <a:ext cx="9997440" cy="5364480"/>
              <a:chOff x="0" y="0"/>
              <a:chExt cx="9997440" cy="53644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99744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487680" y="1296709"/>
              <a:ext cx="9509760" cy="5120640"/>
              <a:chOff x="0" y="0"/>
              <a:chExt cx="9509760" cy="512064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509760" cy="5120640"/>
              </a:xfrm>
              <a:custGeom>
                <a:avLst/>
                <a:gdLst/>
                <a:ahLst/>
                <a:cxnLst/>
                <a:rect r="r" b="b" t="t" l="l"/>
                <a:pathLst>
                  <a:path h="5120640" w="950976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5120640"/>
                    </a:lnTo>
                    <a:lnTo>
                      <a:pt x="0" y="5120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5796" t="0" r="-15796" b="4761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9509760" cy="51777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6A9955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# Create a list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fruits 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= [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"apple"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"banana"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]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fruits.</a:t>
                </a:r>
                <a:r>
                  <a:rPr lang="en-US" sz="2600">
                    <a:solidFill>
                      <a:srgbClr val="DCDCA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append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"orange"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)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DCDCA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print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fruits[</a:t>
                </a:r>
                <a:r>
                  <a:rPr lang="en-US" sz="2600">
                    <a:solidFill>
                      <a:srgbClr val="B5CEA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])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-828310" y="4639310"/>
            <a:ext cx="9972310" cy="1501969"/>
            <a:chOff x="0" y="0"/>
            <a:chExt cx="13296413" cy="20026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96426" cy="2002663"/>
            </a:xfrm>
            <a:custGeom>
              <a:avLst/>
              <a:gdLst/>
              <a:ahLst/>
              <a:cxnLst/>
              <a:rect r="r" b="b" t="t" l="l"/>
              <a:pathLst>
                <a:path h="2002663" w="13296426">
                  <a:moveTo>
                    <a:pt x="0" y="0"/>
                  </a:moveTo>
                  <a:lnTo>
                    <a:pt x="13296426" y="0"/>
                  </a:lnTo>
                  <a:lnTo>
                    <a:pt x="13296426" y="2002663"/>
                  </a:lnTo>
                  <a:lnTo>
                    <a:pt x="0" y="2002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72" t="-7369" r="0" b="-736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815590"/>
            <a:ext cx="1870161" cy="636905"/>
            <a:chOff x="0" y="0"/>
            <a:chExt cx="2493547" cy="84920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17052"/>
              <a:ext cx="1403421" cy="96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b="true" sz="3999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36559" y="-161925"/>
              <a:ext cx="1056989" cy="96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b="true" sz="3999" spc="1107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[]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3534410"/>
            <a:ext cx="8187301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Ordered, Changeable, Allows Duplicates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is used to store multiple Items in a single variable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Q3: What is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= [10, 20, 30, 40, 50]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print(data[1:4])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[10, 20, 30]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[20, 30, 40]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30, 40, 50]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[10, 20, 30, 40]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Q3: What is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= [10, 20, 30, 40, 50]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print(data[1:4])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[10, 20, 30]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[20, 30, 40]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30, 40, 50]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[10, 20, 30, 40]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Tuples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8229600" cy="5852160"/>
            <a:chOff x="0" y="0"/>
            <a:chExt cx="10972800" cy="780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92640" y="2194560"/>
            <a:ext cx="7680960" cy="5852160"/>
            <a:chOff x="0" y="0"/>
            <a:chExt cx="10241280" cy="7802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12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875520" y="2377440"/>
            <a:ext cx="7315200" cy="731520"/>
            <a:chOff x="0" y="0"/>
            <a:chExt cx="97536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Tuple (Immutable)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0" y="3291840"/>
            <a:ext cx="6949440" cy="4023360"/>
            <a:chOff x="0" y="0"/>
            <a:chExt cx="9265920" cy="536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59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41280" y="3474720"/>
            <a:ext cx="6583680" cy="3657600"/>
            <a:chOff x="0" y="0"/>
            <a:chExt cx="8778240" cy="487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782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77824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Create a tuple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point 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(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x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y 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point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Cannot modify: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point[0] = 15  # Error!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2377440"/>
            <a:ext cx="7315200" cy="731520"/>
            <a:chOff x="0" y="0"/>
            <a:chExt cx="97536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Tuple ( 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80160" y="3408045"/>
            <a:ext cx="770433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Ordered, UNCHANGEABLE, Allows Duplicates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tuple is a collection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 to List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The primary difference is that we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cannot modify a tuple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once it is created.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0" y="6122670"/>
            <a:ext cx="8595360" cy="1287970"/>
            <a:chOff x="0" y="0"/>
            <a:chExt cx="11460480" cy="17172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60505" cy="1717294"/>
            </a:xfrm>
            <a:custGeom>
              <a:avLst/>
              <a:gdLst/>
              <a:ahLst/>
              <a:cxnLst/>
              <a:rect r="r" b="b" t="t" l="l"/>
              <a:pathLst>
                <a:path h="1717294" w="11460505">
                  <a:moveTo>
                    <a:pt x="0" y="0"/>
                  </a:moveTo>
                  <a:lnTo>
                    <a:pt x="11460505" y="0"/>
                  </a:lnTo>
                  <a:lnTo>
                    <a:pt x="11460505" y="1717294"/>
                  </a:lnTo>
                  <a:lnTo>
                    <a:pt x="0" y="1717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54" t="0" r="-1869" b="-9550"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4257113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("Ali", 21, "CS",3.7)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print(student[1])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[1] = 22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22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21 then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4257113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("Ali", 21, "CS",3.7)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print(student[1])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[1] = 22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22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21 then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527200"/>
            <a:chOff x="0" y="0"/>
            <a:chExt cx="21945600" cy="2036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036266"/>
            </a:xfrm>
            <a:custGeom>
              <a:avLst/>
              <a:gdLst/>
              <a:ahLst/>
              <a:cxnLst/>
              <a:rect r="r" b="b" t="t" l="l"/>
              <a:pathLst>
                <a:path h="203626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36266"/>
                  </a:lnTo>
                  <a:lnTo>
                    <a:pt x="0" y="2036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2" r="0" b="-14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1945600" cy="218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Sets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92640" y="2194560"/>
            <a:ext cx="7680960" cy="5852160"/>
            <a:chOff x="0" y="0"/>
            <a:chExt cx="10241280" cy="780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75520" y="2377440"/>
            <a:ext cx="7315200" cy="731520"/>
            <a:chOff x="0" y="0"/>
            <a:chExt cx="97536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Sets (Unique Values)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0" y="3291840"/>
            <a:ext cx="6949440" cy="4023360"/>
            <a:chOff x="0" y="0"/>
            <a:chExt cx="9265920" cy="536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659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41280" y="3474720"/>
            <a:ext cx="6583680" cy="3445690"/>
            <a:chOff x="0" y="0"/>
            <a:chExt cx="8778240" cy="45942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4594253"/>
            </a:xfrm>
            <a:custGeom>
              <a:avLst/>
              <a:gdLst/>
              <a:ahLst/>
              <a:cxnLst/>
              <a:rect r="r" b="b" t="t" l="l"/>
              <a:pathLst>
                <a:path h="4594253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594253"/>
                  </a:lnTo>
                  <a:lnTo>
                    <a:pt x="0" y="4594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-61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778240" cy="4641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Create a set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numbers 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{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numbers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  </a:t>
              </a: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{1, 2, 3}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numbers.</a:t>
              </a:r>
              <a:r>
                <a:rPr lang="en-US" sz="24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add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408045"/>
            <a:ext cx="7922315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Unordered, NO DUPLICATES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set is a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collection of unique data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meaning that elements within a set cannot be duplicated.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Cannot Use Indexes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fetch items.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2402216"/>
            <a:ext cx="7315200" cy="681968"/>
            <a:chOff x="0" y="0"/>
            <a:chExt cx="9753600" cy="9092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909290"/>
            </a:xfrm>
            <a:custGeom>
              <a:avLst/>
              <a:gdLst/>
              <a:ahLst/>
              <a:cxnLst/>
              <a:rect r="r" b="b" t="t" l="l"/>
              <a:pathLst>
                <a:path h="90929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09290"/>
                  </a:lnTo>
                  <a:lnTo>
                    <a:pt x="0" y="9092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75" r="0" b="-1626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753600" cy="975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Sets (Unique Values)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6015038"/>
            <a:ext cx="6585747" cy="2600325"/>
            <a:chOff x="0" y="0"/>
            <a:chExt cx="8780996" cy="3467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80941" cy="3467058"/>
            </a:xfrm>
            <a:custGeom>
              <a:avLst/>
              <a:gdLst/>
              <a:ahLst/>
              <a:cxnLst/>
              <a:rect r="r" b="b" t="t" l="l"/>
              <a:pathLst>
                <a:path h="3467058" w="8780941">
                  <a:moveTo>
                    <a:pt x="0" y="0"/>
                  </a:moveTo>
                  <a:lnTo>
                    <a:pt x="8780941" y="0"/>
                  </a:lnTo>
                  <a:lnTo>
                    <a:pt x="8780941" y="3467058"/>
                  </a:lnTo>
                  <a:lnTo>
                    <a:pt x="0" y="3467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674" r="-2365" b="-16158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have a column of 500 city names with lots of repetition. Which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structure gives you only unique cities instantly?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List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Tuple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Set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Dictionary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have a column of 500 city names with lots of repetition. Which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structure gives you only unique cities instantly?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List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Tuple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Set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Dictionary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527200"/>
            <a:chOff x="0" y="0"/>
            <a:chExt cx="21945600" cy="2036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036266"/>
            </a:xfrm>
            <a:custGeom>
              <a:avLst/>
              <a:gdLst/>
              <a:ahLst/>
              <a:cxnLst/>
              <a:rect r="r" b="b" t="t" l="l"/>
              <a:pathLst>
                <a:path h="203626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36266"/>
                  </a:lnTo>
                  <a:lnTo>
                    <a:pt x="0" y="2036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2" r="0" b="-14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1945600" cy="218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Dictionaries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88734" y="3198495"/>
            <a:ext cx="7498080" cy="4023360"/>
            <a:chOff x="0" y="0"/>
            <a:chExt cx="9997440" cy="53644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997440" cy="5364480"/>
              <a:chOff x="0" y="0"/>
              <a:chExt cx="9997440" cy="53644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9744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43840" y="243840"/>
              <a:ext cx="9509760" cy="4876800"/>
              <a:chOff x="0" y="0"/>
              <a:chExt cx="9509760" cy="4876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509760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950976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5796" t="0" r="-15796" b="0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9509760" cy="49339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student 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= {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0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"name"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"Alice"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0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"age"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en-US" sz="2600">
                    <a:solidFill>
                      <a:srgbClr val="B5CEA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20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}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DCDCA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print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student[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"name"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])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0205854" y="2284095"/>
            <a:ext cx="7863840" cy="731520"/>
            <a:chOff x="0" y="0"/>
            <a:chExt cx="1048512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4851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Dictionaries (Key-Value)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9175" y="2284095"/>
            <a:ext cx="7863840" cy="731520"/>
            <a:chOff x="0" y="0"/>
            <a:chExt cx="1048512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4851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Dictionaries (Key-Value)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408045"/>
            <a:ext cx="7922315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Key-Value Pairs, Like a Labelled Dataset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Dictionary is a key-value pai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(c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ting of a key and a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valu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Keys are always unique.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5760720"/>
            <a:ext cx="7044455" cy="2469242"/>
            <a:chOff x="0" y="0"/>
            <a:chExt cx="9392606" cy="32923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92607" cy="3292348"/>
            </a:xfrm>
            <a:custGeom>
              <a:avLst/>
              <a:gdLst/>
              <a:ahLst/>
              <a:cxnLst/>
              <a:rect r="r" b="b" t="t" l="l"/>
              <a:pathLst>
                <a:path h="3292348" w="9392607">
                  <a:moveTo>
                    <a:pt x="0" y="0"/>
                  </a:moveTo>
                  <a:lnTo>
                    <a:pt x="9392607" y="0"/>
                  </a:lnTo>
                  <a:lnTo>
                    <a:pt x="9392607" y="3292348"/>
                  </a:lnTo>
                  <a:lnTo>
                    <a:pt x="0" y="3292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532" t="-8692" r="-5317" b="-2982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97077" y="2528441"/>
            <a:ext cx="157318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{    "name": "Sara",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20,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21}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print(student["age"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20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21]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57318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{    "name": "Sara",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20,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21}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print(student["age"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20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21]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DAHDkBiTy1A</dc:identifier>
  <dcterms:modified xsi:type="dcterms:W3CDTF">2011-08-01T06:04:30Z</dcterms:modified>
  <cp:revision>1</cp:revision>
  <dc:title>DataScience_Day1</dc:title>
</cp:coreProperties>
</file>