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Calibri (MS) Bold" charset="1" panose="020F0702030404030204"/>
      <p:regular r:id="rId31"/>
    </p:embeddedFont>
    <p:embeddedFont>
      <p:font typeface="Calibri (MS)" charset="1" panose="020F0502020204030204"/>
      <p:regular r:id="rId32"/>
    </p:embeddedFont>
    <p:embeddedFont>
      <p:font typeface="Consolas" charset="1" panose="020B0609020204030204"/>
      <p:regular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notesMasters/notesMaster1.xml" Type="http://schemas.openxmlformats.org/officeDocument/2006/relationships/notesMaster"/><Relationship Id="rId29" Target="theme/theme2.xml" Type="http://schemas.openxmlformats.org/officeDocument/2006/relationships/theme"/><Relationship Id="rId3" Target="viewProps.xml" Type="http://schemas.openxmlformats.org/officeDocument/2006/relationships/viewProps"/><Relationship Id="rId30" Target="notesSlides/notesSlide1.xml" Type="http://schemas.openxmlformats.org/officeDocument/2006/relationships/notesSlide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notesSlides/notesSlide2.xml" Type="http://schemas.openxmlformats.org/officeDocument/2006/relationships/notesSlide"/><Relationship Id="rId34" Target="notesSlides/notesSlide3.xml" Type="http://schemas.openxmlformats.org/officeDocument/2006/relationships/notesSlide"/><Relationship Id="rId35" Target="notesSlides/notesSlide4.xml" Type="http://schemas.openxmlformats.org/officeDocument/2006/relationships/notesSlide"/><Relationship Id="rId36" Target="notesSlides/notesSlide5.xml" Type="http://schemas.openxmlformats.org/officeDocument/2006/relationships/notesSlide"/><Relationship Id="rId37" Target="notesSlides/notesSlide6.xml" Type="http://schemas.openxmlformats.org/officeDocument/2006/relationships/notesSlide"/><Relationship Id="rId38" Target="notesSlides/notesSlide7.xml" Type="http://schemas.openxmlformats.org/officeDocument/2006/relationships/notesSlide"/><Relationship Id="rId39" Target="notesSlides/notesSlide8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9.xml" Type="http://schemas.openxmlformats.org/officeDocument/2006/relationships/notesSlide"/><Relationship Id="rId41" Target="fonts/font41.fntdata" Type="http://schemas.openxmlformats.org/officeDocument/2006/relationships/font"/><Relationship Id="rId42" Target="notesSlides/notesSlide10.xml" Type="http://schemas.openxmlformats.org/officeDocument/2006/relationships/notesSlide"/><Relationship Id="rId43" Target="notesSlides/notesSlide11.xml" Type="http://schemas.openxmlformats.org/officeDocument/2006/relationships/notesSlide"/><Relationship Id="rId44" Target="notesSlides/notesSlide12.xml" Type="http://schemas.openxmlformats.org/officeDocument/2006/relationships/notesSlide"/><Relationship Id="rId45" Target="notesSlides/notesSlide13.xml" Type="http://schemas.openxmlformats.org/officeDocument/2006/relationships/notesSlide"/><Relationship Id="rId46" Target="notesSlides/notesSlide14.xml" Type="http://schemas.openxmlformats.org/officeDocument/2006/relationships/notesSlide"/><Relationship Id="rId47" Target="notesSlides/notesSlide15.xml" Type="http://schemas.openxmlformats.org/officeDocument/2006/relationships/notesSlid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embeddings/oleObject1.bin" Type="http://schemas.openxmlformats.org/officeDocument/2006/relationships/oleObjec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28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3291840"/>
            <a:ext cx="16459200" cy="1828800"/>
            <a:chOff x="0" y="0"/>
            <a:chExt cx="21945600" cy="24384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19075"/>
              <a:ext cx="21945600" cy="26574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960"/>
                </a:lnSpc>
              </a:pPr>
              <a:r>
                <a:rPr lang="en-US" sz="10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 Science Bootcamp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5303520"/>
            <a:ext cx="16459200" cy="1123801"/>
            <a:chOff x="0" y="0"/>
            <a:chExt cx="21945600" cy="149840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98402"/>
            </a:xfrm>
            <a:custGeom>
              <a:avLst/>
              <a:gdLst/>
              <a:ahLst/>
              <a:cxnLst/>
              <a:rect r="r" b="b" t="t" l="l"/>
              <a:pathLst>
                <a:path h="149840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8402"/>
                  </a:lnTo>
                  <a:lnTo>
                    <a:pt x="0" y="149840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6557" r="0" b="-23419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14300"/>
              <a:ext cx="21945600" cy="161270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719"/>
                </a:lnSpc>
              </a:pPr>
              <a:r>
                <a:rPr lang="en-US" sz="55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Day 5: Model Building &amp; Evaluation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400800" y="6949440"/>
            <a:ext cx="5486400" cy="146304"/>
            <a:chOff x="0" y="0"/>
            <a:chExt cx="7315200" cy="1950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315200" cy="195072"/>
            </a:xfrm>
            <a:custGeom>
              <a:avLst/>
              <a:gdLst/>
              <a:ahLst/>
              <a:cxnLst/>
              <a:rect r="r" b="b" t="t" l="l"/>
              <a:pathLst>
                <a:path h="195072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95072"/>
                  </a:lnTo>
                  <a:lnTo>
                    <a:pt x="0" y="195072"/>
                  </a:lnTo>
                  <a:close/>
                </a:path>
              </a:pathLst>
            </a:custGeom>
            <a:solidFill>
              <a:srgbClr val="FBBC04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7863840"/>
            <a:ext cx="16459200" cy="731520"/>
            <a:chOff x="0" y="0"/>
            <a:chExt cx="21945600" cy="9753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66675"/>
              <a:ext cx="21945600" cy="10420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E8F0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Presented by Manahil Mirza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09650" y="8526780"/>
            <a:ext cx="16459200" cy="731520"/>
            <a:chOff x="0" y="0"/>
            <a:chExt cx="21945600" cy="9753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21945600" cy="10420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E8F0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Google Developers Group CUI Wah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73152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1624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Agenda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2011680"/>
            <a:ext cx="146304" cy="6949440"/>
            <a:chOff x="0" y="0"/>
            <a:chExt cx="195072" cy="92659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95072" cy="9265920"/>
            </a:xfrm>
            <a:custGeom>
              <a:avLst/>
              <a:gdLst/>
              <a:ahLst/>
              <a:cxnLst/>
              <a:rect r="r" b="b" t="t" l="l"/>
              <a:pathLst>
                <a:path h="926592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9265920"/>
                  </a:lnTo>
                  <a:lnTo>
                    <a:pt x="0" y="926592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463040" y="2080260"/>
            <a:ext cx="15910560" cy="6583680"/>
            <a:chOff x="0" y="0"/>
            <a:chExt cx="21214080" cy="87782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214080" cy="8778240"/>
            </a:xfrm>
            <a:custGeom>
              <a:avLst/>
              <a:gdLst/>
              <a:ahLst/>
              <a:cxnLst/>
              <a:rect r="r" b="b" t="t" l="l"/>
              <a:pathLst>
                <a:path h="87782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8778240"/>
                  </a:lnTo>
                  <a:lnTo>
                    <a:pt x="0" y="8778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91" t="0" r="-3091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21214080" cy="8873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1085278" indent="-542639" lvl="1">
                <a:lnSpc>
                  <a:spcPts val="5400"/>
                </a:lnSpc>
                <a:buFont typeface="Arial"/>
                <a:buChar char="•"/>
              </a:pPr>
              <a:r>
                <a:rPr lang="en-US" sz="4500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is Machine Learning?</a:t>
              </a:r>
            </a:p>
            <a:p>
              <a:pPr algn="l" marL="1085278" indent="-542639" lvl="1">
                <a:lnSpc>
                  <a:spcPts val="5400"/>
                </a:lnSpc>
                <a:buFont typeface="Arial"/>
                <a:buChar char="•"/>
              </a:pPr>
              <a:r>
                <a:rPr lang="en-US" sz="4500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Supervised vs Unsupervised vs</a:t>
              </a:r>
              <a:r>
                <a:rPr lang="en-US" sz="4500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RL</a:t>
              </a:r>
            </a:p>
            <a:p>
              <a:pPr algn="l" marL="1085278" indent="-542639" lvl="1">
                <a:lnSpc>
                  <a:spcPts val="5400"/>
                </a:lnSpc>
                <a:buFont typeface="Arial"/>
                <a:buChar char="•"/>
              </a:pPr>
              <a:r>
                <a:rPr lang="en-US" sz="4500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Linear Regression </a:t>
              </a:r>
            </a:p>
            <a:p>
              <a:pPr algn="l" marL="1085278" indent="-542639" lvl="1">
                <a:lnSpc>
                  <a:spcPts val="5400"/>
                </a:lnSpc>
                <a:buFont typeface="Arial"/>
                <a:buChar char="•"/>
              </a:pPr>
              <a:r>
                <a:rPr lang="en-US" sz="4500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Evaluation Metrics</a:t>
              </a:r>
            </a:p>
            <a:p>
              <a:pPr algn="l" marL="1085850" indent="-542925" lvl="1">
                <a:lnSpc>
                  <a:spcPts val="5400"/>
                </a:lnSpc>
                <a:buFont typeface="Arial"/>
                <a:buChar char="•"/>
              </a:pPr>
              <a:r>
                <a:rPr lang="en-US" sz="4500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Overfitting/Underfitting + Bias-Variance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687426"/>
            <a:ext cx="19666312" cy="1210196"/>
            <a:chOff x="0" y="0"/>
            <a:chExt cx="26221749" cy="16135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6221748" cy="1613595"/>
            </a:xfrm>
            <a:custGeom>
              <a:avLst/>
              <a:gdLst/>
              <a:ahLst/>
              <a:cxnLst/>
              <a:rect r="r" b="b" t="t" l="l"/>
              <a:pathLst>
                <a:path h="1613595" w="26221748">
                  <a:moveTo>
                    <a:pt x="0" y="0"/>
                  </a:moveTo>
                  <a:lnTo>
                    <a:pt x="26221748" y="0"/>
                  </a:lnTo>
                  <a:lnTo>
                    <a:pt x="26221748" y="1613595"/>
                  </a:lnTo>
                  <a:lnTo>
                    <a:pt x="0" y="16135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9670" r="16307" b="-21033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23825"/>
              <a:ext cx="26221749" cy="17374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Programming VS  Machine Learning</a:t>
              </a:r>
            </a:p>
          </p:txBody>
        </p:sp>
      </p:grpSp>
      <p:graphicFrame>
        <p:nvGraphicFramePr>
          <p:cNvPr name="Object 5" id="5"/>
          <p:cNvGraphicFramePr/>
          <p:nvPr/>
        </p:nvGraphicFramePr>
        <p:xfrm>
          <a:off x="2504305" y="3091973"/>
          <a:ext cx="3771900" cy="3143250"/>
        </p:xfrm>
        <a:graphic>
          <a:graphicData uri="http://schemas.openxmlformats.org/presentationml/2006/ole">
            <p:oleObj imgW="4521200" imgH="38862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736376" y="321915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is Machine Learning?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29868" y="1425778"/>
            <a:ext cx="14150553" cy="4023360"/>
            <a:chOff x="0" y="0"/>
            <a:chExt cx="18867405" cy="53644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867405" cy="5364480"/>
            </a:xfrm>
            <a:custGeom>
              <a:avLst/>
              <a:gdLst/>
              <a:ahLst/>
              <a:cxnLst/>
              <a:rect r="r" b="b" t="t" l="l"/>
              <a:pathLst>
                <a:path h="5364480" w="18867405">
                  <a:moveTo>
                    <a:pt x="0" y="0"/>
                  </a:moveTo>
                  <a:lnTo>
                    <a:pt x="18867405" y="0"/>
                  </a:lnTo>
                  <a:lnTo>
                    <a:pt x="18867405" y="5364480"/>
                  </a:lnTo>
                  <a:lnTo>
                    <a:pt x="0" y="536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278" t="0" r="38318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85725"/>
              <a:ext cx="18867405" cy="545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</a:t>
              </a:r>
              <a:r>
                <a:rPr lang="en-US" sz="3999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subset of artificial intelligence (AI) that enables computer systems to learn patterns from data and improve their performance over time without being explicitly programmed for every specific task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81214" y="6163249"/>
            <a:ext cx="9584762" cy="4023360"/>
            <a:chOff x="0" y="0"/>
            <a:chExt cx="12779682" cy="53644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779682" cy="5364480"/>
            </a:xfrm>
            <a:custGeom>
              <a:avLst/>
              <a:gdLst/>
              <a:ahLst/>
              <a:cxnLst/>
              <a:rect r="r" b="b" t="t" l="l"/>
              <a:pathLst>
                <a:path h="5364480" w="12779682">
                  <a:moveTo>
                    <a:pt x="0" y="0"/>
                  </a:moveTo>
                  <a:lnTo>
                    <a:pt x="12779682" y="0"/>
                  </a:lnTo>
                  <a:lnTo>
                    <a:pt x="12779682" y="5364480"/>
                  </a:lnTo>
                  <a:lnTo>
                    <a:pt x="0" y="536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6650" t="0" r="8935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85725"/>
              <a:ext cx="12779682" cy="545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863599" indent="-431800" lvl="1">
                <a:lnSpc>
                  <a:spcPts val="4799"/>
                </a:lnSpc>
                <a:buFont typeface="Arial"/>
                <a:buChar char="•"/>
              </a:pPr>
              <a:r>
                <a:rPr lang="en-US" sz="3999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Exampl</a:t>
              </a:r>
              <a:r>
                <a:rPr lang="en-US" sz="3999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es — your dataset</a:t>
              </a:r>
            </a:p>
            <a:p>
              <a:pPr algn="l" marL="863599" indent="-431800" lvl="1">
                <a:lnSpc>
                  <a:spcPts val="4799"/>
                </a:lnSpc>
                <a:buFont typeface="Arial"/>
                <a:buChar char="•"/>
              </a:pPr>
              <a:r>
                <a:rPr lang="en-US" sz="3999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Patterns — what the model learns</a:t>
              </a:r>
            </a:p>
            <a:p>
              <a:pPr algn="l" marL="863599" indent="-431800" lvl="1">
                <a:lnSpc>
                  <a:spcPts val="4799"/>
                </a:lnSpc>
                <a:buFont typeface="Arial"/>
                <a:buChar char="•"/>
              </a:pPr>
              <a:r>
                <a:rPr lang="en-US" sz="3999">
                  <a:solidFill>
                    <a:srgbClr val="1E293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Predictions — what it does on new data</a:t>
              </a:r>
            </a:p>
            <a:p>
              <a:pPr algn="l">
                <a:lnSpc>
                  <a:spcPts val="47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8700" y="5143500"/>
            <a:ext cx="5411050" cy="1019749"/>
            <a:chOff x="0" y="0"/>
            <a:chExt cx="7214734" cy="135966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214733" cy="1359666"/>
            </a:xfrm>
            <a:custGeom>
              <a:avLst/>
              <a:gdLst/>
              <a:ahLst/>
              <a:cxnLst/>
              <a:rect r="r" b="b" t="t" l="l"/>
              <a:pathLst>
                <a:path h="1359666" w="7214733">
                  <a:moveTo>
                    <a:pt x="0" y="0"/>
                  </a:moveTo>
                  <a:lnTo>
                    <a:pt x="7214733" y="0"/>
                  </a:lnTo>
                  <a:lnTo>
                    <a:pt x="7214733" y="1359666"/>
                  </a:lnTo>
                  <a:lnTo>
                    <a:pt x="0" y="1359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695" r="-204177" b="-268298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85725"/>
              <a:ext cx="7214734" cy="14453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Keywords: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152775" y="217170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Types</a:t>
              </a: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of Machine Learning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828" y="2552150"/>
            <a:ext cx="6611191" cy="1019749"/>
            <a:chOff x="0" y="0"/>
            <a:chExt cx="8814922" cy="13596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814922" cy="1359666"/>
            </a:xfrm>
            <a:custGeom>
              <a:avLst/>
              <a:gdLst/>
              <a:ahLst/>
              <a:cxnLst/>
              <a:rect r="r" b="b" t="t" l="l"/>
              <a:pathLst>
                <a:path h="1359666" w="8814922">
                  <a:moveTo>
                    <a:pt x="0" y="0"/>
                  </a:moveTo>
                  <a:lnTo>
                    <a:pt x="8814922" y="0"/>
                  </a:lnTo>
                  <a:lnTo>
                    <a:pt x="8814922" y="1359666"/>
                  </a:lnTo>
                  <a:lnTo>
                    <a:pt x="0" y="1359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695" r="-148959" b="-26829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14300"/>
              <a:ext cx="8814922" cy="1473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000"/>
                </a:lnSpc>
              </a:pPr>
              <a:r>
                <a:rPr lang="en-US" sz="5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Supervised</a:t>
              </a:r>
              <a:r>
                <a:rPr lang="en-US" sz="5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Learning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89571" y="3771900"/>
            <a:ext cx="9892804" cy="548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Labelled data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Correct answers given during training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Machine learns input → output relationship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Example: Predicting house prices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Types: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Classification:Predicts a CATEGORY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Regression:Predicts a NUMBER</a:t>
            </a:r>
          </a:p>
          <a:p>
            <a:pPr algn="l">
              <a:lnSpc>
                <a:spcPts val="4799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83725" y="1551228"/>
            <a:ext cx="15975575" cy="8735772"/>
          </a:xfrm>
          <a:custGeom>
            <a:avLst/>
            <a:gdLst/>
            <a:ahLst/>
            <a:cxnLst/>
            <a:rect r="r" b="b" t="t" l="l"/>
            <a:pathLst>
              <a:path h="8735772" w="15975575">
                <a:moveTo>
                  <a:pt x="0" y="0"/>
                </a:moveTo>
                <a:lnTo>
                  <a:pt x="15975575" y="0"/>
                </a:lnTo>
                <a:lnTo>
                  <a:pt x="15975575" y="8735772"/>
                </a:lnTo>
                <a:lnTo>
                  <a:pt x="0" y="87357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873" t="0" r="-3873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152775" y="217170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Types</a:t>
              </a: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of Machine Learning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62594" y="3518715"/>
            <a:ext cx="6611191" cy="1019749"/>
            <a:chOff x="0" y="0"/>
            <a:chExt cx="8814922" cy="13596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814922" cy="1359666"/>
            </a:xfrm>
            <a:custGeom>
              <a:avLst/>
              <a:gdLst/>
              <a:ahLst/>
              <a:cxnLst/>
              <a:rect r="r" b="b" t="t" l="l"/>
              <a:pathLst>
                <a:path h="1359666" w="8814922">
                  <a:moveTo>
                    <a:pt x="0" y="0"/>
                  </a:moveTo>
                  <a:lnTo>
                    <a:pt x="8814922" y="0"/>
                  </a:lnTo>
                  <a:lnTo>
                    <a:pt x="8814922" y="1359666"/>
                  </a:lnTo>
                  <a:lnTo>
                    <a:pt x="0" y="1359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695" r="-148959" b="-26829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14300"/>
              <a:ext cx="8814922" cy="1473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000"/>
                </a:lnSpc>
              </a:pPr>
              <a:r>
                <a:rPr lang="en-US" sz="5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UnSupervised</a:t>
              </a:r>
              <a:r>
                <a:rPr lang="en-US" sz="5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Learning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89571" y="4667915"/>
            <a:ext cx="13112193" cy="308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 l</a:t>
            </a: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abels, no correct answers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Machine finds hidden patterns alone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Machine groups similar things together Called Clustering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Example: Grouping customers by behavior</a:t>
            </a:r>
          </a:p>
          <a:p>
            <a:pPr algn="l">
              <a:lnSpc>
                <a:spcPts val="4799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73807" y="631613"/>
            <a:ext cx="16740385" cy="8841969"/>
          </a:xfrm>
          <a:custGeom>
            <a:avLst/>
            <a:gdLst/>
            <a:ahLst/>
            <a:cxnLst/>
            <a:rect r="r" b="b" t="t" l="l"/>
            <a:pathLst>
              <a:path h="8841969" w="16740385">
                <a:moveTo>
                  <a:pt x="0" y="0"/>
                </a:moveTo>
                <a:lnTo>
                  <a:pt x="16740386" y="0"/>
                </a:lnTo>
                <a:lnTo>
                  <a:pt x="16740386" y="8841969"/>
                </a:lnTo>
                <a:lnTo>
                  <a:pt x="0" y="8841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490" t="0" r="-649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152775" y="217170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Types</a:t>
              </a: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of Machine Learning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62594" y="3518715"/>
            <a:ext cx="6611191" cy="1019749"/>
            <a:chOff x="0" y="0"/>
            <a:chExt cx="8814922" cy="13596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814922" cy="1359666"/>
            </a:xfrm>
            <a:custGeom>
              <a:avLst/>
              <a:gdLst/>
              <a:ahLst/>
              <a:cxnLst/>
              <a:rect r="r" b="b" t="t" l="l"/>
              <a:pathLst>
                <a:path h="1359666" w="8814922">
                  <a:moveTo>
                    <a:pt x="0" y="0"/>
                  </a:moveTo>
                  <a:lnTo>
                    <a:pt x="8814922" y="0"/>
                  </a:lnTo>
                  <a:lnTo>
                    <a:pt x="8814922" y="1359666"/>
                  </a:lnTo>
                  <a:lnTo>
                    <a:pt x="0" y="13596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695" r="-148959" b="-26829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14300"/>
              <a:ext cx="8814922" cy="1473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000"/>
                </a:lnSpc>
              </a:pPr>
              <a:r>
                <a:rPr lang="en-US" sz="5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Reinforcement</a:t>
              </a:r>
              <a:r>
                <a:rPr lang="en-US" sz="5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Learning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89571" y="4667915"/>
            <a:ext cx="9754394" cy="248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 d</a:t>
            </a: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ataset at all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by trial, error, reward &amp; punishment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Example: Self-driving cars, Chess AI</a:t>
            </a:r>
          </a:p>
          <a:p>
            <a:pPr algn="l">
              <a:lnSpc>
                <a:spcPts val="4799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454298" y="7691298"/>
            <a:ext cx="15472272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0"/>
              </a:lnSpc>
              <a:spcBef>
                <a:spcPct val="0"/>
              </a:spcBef>
            </a:pPr>
            <a:r>
              <a:rPr lang="en-US" b="true" sz="3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 → takes Action → Environment → gives Reward/Penalty → Agent improves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2546241"/>
            <a:ext cx="18288000" cy="6712059"/>
          </a:xfrm>
          <a:custGeom>
            <a:avLst/>
            <a:gdLst/>
            <a:ahLst/>
            <a:cxnLst/>
            <a:rect r="r" b="b" t="t" l="l"/>
            <a:pathLst>
              <a:path h="6712059" w="18288000">
                <a:moveTo>
                  <a:pt x="0" y="0"/>
                </a:moveTo>
                <a:lnTo>
                  <a:pt x="18288000" y="0"/>
                </a:lnTo>
                <a:lnTo>
                  <a:pt x="18288000" y="6712059"/>
                </a:lnTo>
                <a:lnTo>
                  <a:pt x="0" y="67120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28" t="-5437" r="-4538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368397" y="488143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Quick Test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116194" y="2921745"/>
            <a:ext cx="13234219" cy="6162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Q: You w</a:t>
            </a: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ant to predict whether a student will pass or fail based on attendance and assignment scores. Which type of ML is this?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A) Supervised — Regression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B) Supervised — Classification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C) Unsupervised 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D) Reinforcement Learning 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368397" y="488143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Quick Test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116194" y="2921745"/>
            <a:ext cx="13234219" cy="6162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Q: You w</a:t>
            </a: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ant to predict whether a student will pass or fail based on attendance and assignment scores. Which type of ML is this?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A) Supervised — Regression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7ED957"/>
                </a:solidFill>
                <a:latin typeface="Consolas"/>
                <a:ea typeface="Consolas"/>
                <a:cs typeface="Consolas"/>
                <a:sym typeface="Consolas"/>
              </a:rPr>
              <a:t>B) Supervised — Classification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C) Unsupervised 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D) Reinforcement Learning 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368397" y="488143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Quick Test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116194" y="2921745"/>
            <a:ext cx="13234219" cy="6162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Q: You h</a:t>
            </a: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ave a dataset of house features — size, location, rooms. Every house has a price. You want to predict price of a new house. Which type?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A) Supervised — Classification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B) Unsupervised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C) Supervised — Regression 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D) Reinforcement Learning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368397" y="488143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Quick Test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116194" y="2921745"/>
            <a:ext cx="13234219" cy="6162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Q: You h</a:t>
            </a: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ave a dataset of house features — size, location, rooms. Every house has a price. You want to predict price of a new house. Which type?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A) Supervised — Classification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B) Unsupervised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7ED957"/>
                </a:solidFill>
                <a:latin typeface="Consolas"/>
                <a:ea typeface="Consolas"/>
                <a:cs typeface="Consolas"/>
                <a:sym typeface="Consolas"/>
              </a:rPr>
              <a:t>C) Supervised — Regression 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D) Reinforcement Learning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368397" y="488143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Quick Test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116194" y="2921745"/>
            <a:ext cx="13234219" cy="548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Q: You h</a:t>
            </a: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ave customer transaction data with no labels. You want to find natural groups of similar customers. Which type?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A) Supervised — Regression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B) Supervised — Classification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C) Unsupervised 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D) Reinforcement Learning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368397" y="488143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Quick Test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116194" y="2921745"/>
            <a:ext cx="13234219" cy="548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Q: You h</a:t>
            </a: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ave customer transaction data with no labels. You want to find natural groups of similar customers. Which type?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A) Supervised — Regression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B) Supervised — Classification </a:t>
            </a:r>
          </a:p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7ED957"/>
                </a:solidFill>
                <a:latin typeface="Consolas"/>
                <a:ea typeface="Consolas"/>
                <a:cs typeface="Consolas"/>
                <a:sym typeface="Consolas"/>
              </a:rPr>
              <a:t>C) Unsupervised </a:t>
            </a:r>
          </a:p>
          <a:p>
            <a:pPr algn="l">
              <a:lnSpc>
                <a:spcPts val="5399"/>
              </a:lnSpc>
              <a:spcBef>
                <a:spcPct val="0"/>
              </a:spcBef>
            </a:pPr>
            <a:r>
              <a:rPr lang="en-US" sz="4499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D) Reinforcement Learning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16421" y="626232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Linear Regression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882272" y="3264412"/>
            <a:ext cx="7863840" cy="4652010"/>
            <a:chOff x="0" y="0"/>
            <a:chExt cx="10485120" cy="6202680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10485120" cy="6202680"/>
              <a:chOff x="0" y="0"/>
              <a:chExt cx="10485120" cy="620268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0485120" cy="6202680"/>
              </a:xfrm>
              <a:custGeom>
                <a:avLst/>
                <a:gdLst/>
                <a:ahLst/>
                <a:cxnLst/>
                <a:rect r="r" b="b" t="t" l="l"/>
                <a:pathLst>
                  <a:path h="6202680" w="10485120">
                    <a:moveTo>
                      <a:pt x="0" y="0"/>
                    </a:moveTo>
                    <a:lnTo>
                      <a:pt x="10485120" y="0"/>
                    </a:lnTo>
                    <a:lnTo>
                      <a:pt x="10485120" y="6202680"/>
                    </a:lnTo>
                    <a:lnTo>
                      <a:pt x="0" y="6202680"/>
                    </a:lnTo>
                    <a:close/>
                  </a:path>
                </a:pathLst>
              </a:custGeom>
              <a:solidFill>
                <a:srgbClr val="4285F4"/>
              </a:solidFill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581462" y="462915"/>
              <a:ext cx="9598107" cy="488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rs W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rk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Salary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30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40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55000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24328" y="2657475"/>
            <a:ext cx="7806489" cy="6086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word Lin</a:t>
            </a: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ear means a straight line.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The word Regression means predicting a number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 Linear Regression = finding the best straight line through data points that can predict new values.</a:t>
            </a:r>
          </a:p>
          <a:p>
            <a:pPr algn="l">
              <a:lnSpc>
                <a:spcPts val="4799"/>
              </a:lnSpc>
            </a:p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152775" y="217170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Is Linear Regression?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882272" y="3264412"/>
            <a:ext cx="7863840" cy="4652010"/>
            <a:chOff x="0" y="0"/>
            <a:chExt cx="10485120" cy="6202680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10485120" cy="6202680"/>
              <a:chOff x="0" y="0"/>
              <a:chExt cx="10485120" cy="620268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0485120" cy="6202680"/>
              </a:xfrm>
              <a:custGeom>
                <a:avLst/>
                <a:gdLst/>
                <a:ahLst/>
                <a:cxnLst/>
                <a:rect r="r" b="b" t="t" l="l"/>
                <a:pathLst>
                  <a:path h="6202680" w="10485120">
                    <a:moveTo>
                      <a:pt x="0" y="0"/>
                    </a:moveTo>
                    <a:lnTo>
                      <a:pt x="10485120" y="0"/>
                    </a:lnTo>
                    <a:lnTo>
                      <a:pt x="10485120" y="6202680"/>
                    </a:lnTo>
                    <a:lnTo>
                      <a:pt x="0" y="6202680"/>
                    </a:lnTo>
                    <a:close/>
                  </a:path>
                </a:pathLst>
              </a:custGeom>
              <a:solidFill>
                <a:srgbClr val="4285F4"/>
              </a:solidFill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581462" y="462915"/>
              <a:ext cx="9598107" cy="488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rs W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rk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Salary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30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40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45000</a:t>
              </a:r>
            </a:p>
            <a:p>
              <a:pPr algn="just">
                <a:lnSpc>
                  <a:spcPts val="4799"/>
                </a:lnSpc>
                <a:spcBef>
                  <a:spcPct val="0"/>
                </a:spcBef>
              </a:pP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50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</a:t>
              </a:r>
              <a:r>
                <a:rPr lang="en-US" sz="399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55000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24328" y="2657475"/>
            <a:ext cx="7806489" cy="6086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Linear regression is a foundational supervised machin</a:t>
            </a: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 learning algorithm and statistical technique used to model the relationship between a continuous dependent variable (target) and one or more independent variables (predictors) by fitting a straight line, known as the line of best fit, through the data points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47860" y="226665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Evaluation Matrics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581870" y="1681014"/>
            <a:ext cx="15677430" cy="2562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4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MAE — M</a:t>
            </a:r>
            <a:r>
              <a:rPr lang="en-US" b="true" sz="44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ean Absolute Error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Average of all prediction errors ignoring positive and negative signs. Tells you — on average how far off are your predictions. Lower is better.</a:t>
            </a:r>
          </a:p>
          <a:p>
            <a:pPr algn="l">
              <a:lnSpc>
                <a:spcPts val="479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581870" y="4157514"/>
            <a:ext cx="15677430" cy="316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4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RMSE — R</a:t>
            </a:r>
            <a:r>
              <a:rPr lang="en-US" b="true" sz="44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oot Mean Squared Error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Same as MAE but squares every error before averaging — making large errors much more impactful. Tells you — how far off are predictions with big mistakes penalized more. Lower is better.</a:t>
            </a:r>
          </a:p>
          <a:p>
            <a:pPr algn="l">
              <a:lnSpc>
                <a:spcPts val="479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581870" y="7069494"/>
            <a:ext cx="15677430" cy="316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4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R² — R Squared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</a:t>
            </a: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easures what percentage of the pattern in data your model understood. Score between 0 and 1. Higher is better. R²=0.97 means model understood 97% of the pattern.</a:t>
            </a:r>
          </a:p>
          <a:p>
            <a:pPr algn="l">
              <a:lnSpc>
                <a:spcPts val="4799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92654" y="786465"/>
            <a:ext cx="16459200" cy="1604070"/>
            <a:chOff x="0" y="0"/>
            <a:chExt cx="2194560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OverFitting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87879" y="4662339"/>
            <a:ext cx="16459200" cy="1604070"/>
            <a:chOff x="0" y="0"/>
            <a:chExt cx="21945600" cy="21387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UnderFitting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581870" y="6580734"/>
            <a:ext cx="1567743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 is too simple to learn the pattern. Performs badly on both training data and new data.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81870" y="2957364"/>
            <a:ext cx="1567743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 memorized training data instead of learning the pattern. Performs perfectly on training data but fails on new data.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774523" y="1028700"/>
            <a:ext cx="2134313" cy="1604070"/>
            <a:chOff x="0" y="0"/>
            <a:chExt cx="2845750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4575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845750">
                  <a:moveTo>
                    <a:pt x="0" y="0"/>
                  </a:moveTo>
                  <a:lnTo>
                    <a:pt x="2845750" y="0"/>
                  </a:lnTo>
                  <a:lnTo>
                    <a:pt x="284575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-671171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84575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Bias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581870" y="2689522"/>
            <a:ext cx="15677430" cy="248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Err</a:t>
            </a: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or from wrong assumptions. Model consistently misses in the same direction. 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High Bias = Underfitting.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gap between a model's predictions and the true values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157000" y="4980855"/>
            <a:ext cx="16459200" cy="1604070"/>
            <a:chOff x="0" y="0"/>
            <a:chExt cx="21945600" cy="21387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138759"/>
            </a:xfrm>
            <a:custGeom>
              <a:avLst/>
              <a:gdLst/>
              <a:ahLst/>
              <a:cxnLst/>
              <a:rect r="r" b="b" t="t" l="l"/>
              <a:pathLst>
                <a:path h="213875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0" b="-13413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61925"/>
              <a:ext cx="21945600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Variance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581870" y="6523584"/>
            <a:ext cx="15677430" cy="248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</a:t>
            </a: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 much model changes when trained on different data.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High Variance = model too sensitive = Overfitting.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how much a model’s prediction target function changes if trained on different datA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58271" y="790177"/>
            <a:ext cx="19311359" cy="1604070"/>
            <a:chOff x="0" y="0"/>
            <a:chExt cx="25748478" cy="21387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748478" cy="2138759"/>
            </a:xfrm>
            <a:custGeom>
              <a:avLst/>
              <a:gdLst/>
              <a:ahLst/>
              <a:cxnLst/>
              <a:rect r="r" b="b" t="t" l="l"/>
              <a:pathLst>
                <a:path h="2138759" w="25748478">
                  <a:moveTo>
                    <a:pt x="0" y="0"/>
                  </a:moveTo>
                  <a:lnTo>
                    <a:pt x="25748478" y="0"/>
                  </a:lnTo>
                  <a:lnTo>
                    <a:pt x="25748478" y="2138759"/>
                  </a:lnTo>
                  <a:lnTo>
                    <a:pt x="0" y="213875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731" r="14769" b="-13413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25748478" cy="23006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1E29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Bias &amp; Variance TradeOff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70290" y="3151173"/>
            <a:ext cx="15677430" cy="461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Maki</a:t>
            </a:r>
            <a:r>
              <a:rPr lang="en-US" sz="4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ng model simpler increases Bias but decreases Variance. </a:t>
            </a:r>
          </a:p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Making model complex decreases Bias but increases Variance. </a:t>
            </a:r>
          </a:p>
          <a:p>
            <a:pPr algn="l">
              <a:lnSpc>
                <a:spcPts val="5999"/>
              </a:lnSpc>
            </a:pPr>
            <a:r>
              <a:rPr lang="en-US" sz="4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They always pull in opposite directions. </a:t>
            </a:r>
          </a:p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Goal </a:t>
            </a:r>
            <a:r>
              <a:rPr lang="en-US" sz="49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 to find the sweet spot — Low Bias + Low Variance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DAHD0s7Dvdk</dc:identifier>
  <dcterms:modified xsi:type="dcterms:W3CDTF">2011-08-01T06:04:30Z</dcterms:modified>
  <cp:revision>1</cp:revision>
  <dc:title>GDG_DataScience_Day5.pptx</dc:title>
</cp:coreProperties>
</file>