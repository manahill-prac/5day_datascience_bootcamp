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Calibri (MS) Bold" charset="1" panose="020F0702030404030204"/>
      <p:regular r:id="rId36"/>
    </p:embeddedFont>
    <p:embeddedFont>
      <p:font typeface="Calibri (MS)" charset="1" panose="020F050202020403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notesSlides/notesSlide3.xml" Type="http://schemas.openxmlformats.org/officeDocument/2006/relationships/notesSlide"/><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60" Target="notesSlides/notesSlide24.xml" Type="http://schemas.openxmlformats.org/officeDocument/2006/relationships/notesSlide"/><Relationship Id="rId61" Target="notesSlides/notesSlide25.xml" Type="http://schemas.openxmlformats.org/officeDocument/2006/relationships/notesSlide"/><Relationship Id="rId62"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285F4"/>
        </a:solidFill>
      </p:bgPr>
    </p:bg>
    <p:spTree>
      <p:nvGrpSpPr>
        <p:cNvPr id="1" name=""/>
        <p:cNvGrpSpPr/>
        <p:nvPr/>
      </p:nvGrpSpPr>
      <p:grpSpPr>
        <a:xfrm>
          <a:off x="0" y="0"/>
          <a:ext cx="0" cy="0"/>
          <a:chOff x="0" y="0"/>
          <a:chExt cx="0" cy="0"/>
        </a:xfrm>
      </p:grpSpPr>
      <p:grpSp>
        <p:nvGrpSpPr>
          <p:cNvPr name="Group 2" id="2"/>
          <p:cNvGrpSpPr/>
          <p:nvPr/>
        </p:nvGrpSpPr>
        <p:grpSpPr>
          <a:xfrm rot="0">
            <a:off x="914400" y="3291840"/>
            <a:ext cx="16459200" cy="1828800"/>
            <a:chOff x="0" y="0"/>
            <a:chExt cx="21945600" cy="2438400"/>
          </a:xfrm>
        </p:grpSpPr>
        <p:sp>
          <p:nvSpPr>
            <p:cNvPr name="Freeform 3" id="3"/>
            <p:cNvSpPr/>
            <p:nvPr/>
          </p:nvSpPr>
          <p:spPr>
            <a:xfrm flipH="false" flipV="false" rot="0">
              <a:off x="0" y="0"/>
              <a:ext cx="21945600" cy="2438400"/>
            </a:xfrm>
            <a:custGeom>
              <a:avLst/>
              <a:gdLst/>
              <a:ahLst/>
              <a:cxnLst/>
              <a:rect r="r" b="b" t="t" l="l"/>
              <a:pathLst>
                <a:path h="2438400" w="21945600">
                  <a:moveTo>
                    <a:pt x="0" y="0"/>
                  </a:moveTo>
                  <a:lnTo>
                    <a:pt x="21945600" y="0"/>
                  </a:lnTo>
                  <a:lnTo>
                    <a:pt x="21945600" y="2438400"/>
                  </a:lnTo>
                  <a:lnTo>
                    <a:pt x="0" y="2438400"/>
                  </a:lnTo>
                  <a:close/>
                </a:path>
              </a:pathLst>
            </a:custGeom>
            <a:blipFill>
              <a:blip r:embed="rId3">
                <a:alphaModFix amt="0"/>
              </a:blip>
              <a:stretch>
                <a:fillRect l="0" t="-125365" r="0" b="-125365"/>
              </a:stretch>
            </a:blipFill>
          </p:spPr>
        </p:sp>
        <p:sp>
          <p:nvSpPr>
            <p:cNvPr name="TextBox 4" id="4"/>
            <p:cNvSpPr txBox="true"/>
            <p:nvPr/>
          </p:nvSpPr>
          <p:spPr>
            <a:xfrm>
              <a:off x="0" y="-219075"/>
              <a:ext cx="21945600" cy="2657475"/>
            </a:xfrm>
            <a:prstGeom prst="rect">
              <a:avLst/>
            </a:prstGeom>
          </p:spPr>
          <p:txBody>
            <a:bodyPr anchor="ctr" rtlCol="false" tIns="0" lIns="0" bIns="0" rIns="0"/>
            <a:lstStyle/>
            <a:p>
              <a:pPr algn="ctr">
                <a:lnSpc>
                  <a:spcPts val="12960"/>
                </a:lnSpc>
              </a:pPr>
              <a:r>
                <a:rPr lang="en-US" sz="10800" b="true">
                  <a:solidFill>
                    <a:srgbClr val="FFFFFF"/>
                  </a:solidFill>
                  <a:latin typeface="Calibri (MS) Bold"/>
                  <a:ea typeface="Calibri (MS) Bold"/>
                  <a:cs typeface="Calibri (MS) Bold"/>
                  <a:sym typeface="Calibri (MS) Bold"/>
                </a:rPr>
                <a:t>Data Science Bootcamp</a:t>
              </a:r>
            </a:p>
          </p:txBody>
        </p:sp>
      </p:grpSp>
      <p:grpSp>
        <p:nvGrpSpPr>
          <p:cNvPr name="Group 5" id="5"/>
          <p:cNvGrpSpPr/>
          <p:nvPr/>
        </p:nvGrpSpPr>
        <p:grpSpPr>
          <a:xfrm rot="0">
            <a:off x="914400" y="5303520"/>
            <a:ext cx="16459200" cy="1123801"/>
            <a:chOff x="0" y="0"/>
            <a:chExt cx="21945600" cy="1498402"/>
          </a:xfrm>
        </p:grpSpPr>
        <p:sp>
          <p:nvSpPr>
            <p:cNvPr name="Freeform 6" id="6"/>
            <p:cNvSpPr/>
            <p:nvPr/>
          </p:nvSpPr>
          <p:spPr>
            <a:xfrm flipH="false" flipV="false" rot="0">
              <a:off x="0" y="0"/>
              <a:ext cx="21945600" cy="1498402"/>
            </a:xfrm>
            <a:custGeom>
              <a:avLst/>
              <a:gdLst/>
              <a:ahLst/>
              <a:cxnLst/>
              <a:rect r="r" b="b" t="t" l="l"/>
              <a:pathLst>
                <a:path h="1498402" w="21945600">
                  <a:moveTo>
                    <a:pt x="0" y="0"/>
                  </a:moveTo>
                  <a:lnTo>
                    <a:pt x="21945600" y="0"/>
                  </a:lnTo>
                  <a:lnTo>
                    <a:pt x="21945600" y="1498402"/>
                  </a:lnTo>
                  <a:lnTo>
                    <a:pt x="0" y="1498402"/>
                  </a:lnTo>
                  <a:close/>
                </a:path>
              </a:pathLst>
            </a:custGeom>
            <a:blipFill>
              <a:blip r:embed="rId3">
                <a:alphaModFix amt="0"/>
              </a:blip>
              <a:stretch>
                <a:fillRect l="0" t="-236557" r="0" b="-234198"/>
              </a:stretch>
            </a:blipFill>
          </p:spPr>
        </p:sp>
        <p:sp>
          <p:nvSpPr>
            <p:cNvPr name="TextBox 7" id="7"/>
            <p:cNvSpPr txBox="true"/>
            <p:nvPr/>
          </p:nvSpPr>
          <p:spPr>
            <a:xfrm>
              <a:off x="0" y="-114300"/>
              <a:ext cx="21945600" cy="1612702"/>
            </a:xfrm>
            <a:prstGeom prst="rect">
              <a:avLst/>
            </a:prstGeom>
          </p:spPr>
          <p:txBody>
            <a:bodyPr anchor="ctr" rtlCol="false" tIns="0" lIns="0" bIns="0" rIns="0"/>
            <a:lstStyle/>
            <a:p>
              <a:pPr algn="ctr">
                <a:lnSpc>
                  <a:spcPts val="6719"/>
                </a:lnSpc>
              </a:pPr>
              <a:r>
                <a:rPr lang="en-US" sz="5599">
                  <a:solidFill>
                    <a:srgbClr val="FFFFFF"/>
                  </a:solidFill>
                  <a:latin typeface="Calibri (MS)"/>
                  <a:ea typeface="Calibri (MS)"/>
                  <a:cs typeface="Calibri (MS)"/>
                  <a:sym typeface="Calibri (MS)"/>
                </a:rPr>
                <a:t>Day 4: Feature Engineering</a:t>
              </a:r>
            </a:p>
          </p:txBody>
        </p:sp>
      </p:grpSp>
      <p:grpSp>
        <p:nvGrpSpPr>
          <p:cNvPr name="Group 8" id="8"/>
          <p:cNvGrpSpPr/>
          <p:nvPr/>
        </p:nvGrpSpPr>
        <p:grpSpPr>
          <a:xfrm rot="0">
            <a:off x="6400800" y="6949440"/>
            <a:ext cx="5486400" cy="146304"/>
            <a:chOff x="0" y="0"/>
            <a:chExt cx="7315200" cy="195072"/>
          </a:xfrm>
        </p:grpSpPr>
        <p:sp>
          <p:nvSpPr>
            <p:cNvPr name="Freeform 9" id="9"/>
            <p:cNvSpPr/>
            <p:nvPr/>
          </p:nvSpPr>
          <p:spPr>
            <a:xfrm flipH="false" flipV="false" rot="0">
              <a:off x="0" y="0"/>
              <a:ext cx="7315200" cy="195072"/>
            </a:xfrm>
            <a:custGeom>
              <a:avLst/>
              <a:gdLst/>
              <a:ahLst/>
              <a:cxnLst/>
              <a:rect r="r" b="b" t="t" l="l"/>
              <a:pathLst>
                <a:path h="195072" w="7315200">
                  <a:moveTo>
                    <a:pt x="0" y="0"/>
                  </a:moveTo>
                  <a:lnTo>
                    <a:pt x="7315200" y="0"/>
                  </a:lnTo>
                  <a:lnTo>
                    <a:pt x="7315200" y="195072"/>
                  </a:lnTo>
                  <a:lnTo>
                    <a:pt x="0" y="195072"/>
                  </a:lnTo>
                  <a:close/>
                </a:path>
              </a:pathLst>
            </a:custGeom>
            <a:solidFill>
              <a:srgbClr val="FBBC04"/>
            </a:solidFill>
          </p:spPr>
        </p:sp>
      </p:grpSp>
      <p:grpSp>
        <p:nvGrpSpPr>
          <p:cNvPr name="Group 10" id="10"/>
          <p:cNvGrpSpPr/>
          <p:nvPr/>
        </p:nvGrpSpPr>
        <p:grpSpPr>
          <a:xfrm rot="0">
            <a:off x="914400" y="7863840"/>
            <a:ext cx="16459200" cy="731520"/>
            <a:chOff x="0" y="0"/>
            <a:chExt cx="21945600" cy="975360"/>
          </a:xfrm>
        </p:grpSpPr>
        <p:sp>
          <p:nvSpPr>
            <p:cNvPr name="Freeform 11" id="11"/>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12" id="12"/>
            <p:cNvSpPr txBox="true"/>
            <p:nvPr/>
          </p:nvSpPr>
          <p:spPr>
            <a:xfrm>
              <a:off x="0" y="-66675"/>
              <a:ext cx="21945600" cy="1042035"/>
            </a:xfrm>
            <a:prstGeom prst="rect">
              <a:avLst/>
            </a:prstGeom>
          </p:spPr>
          <p:txBody>
            <a:bodyPr anchor="ctr" rtlCol="false" tIns="0" lIns="0" bIns="0" rIns="0"/>
            <a:lstStyle/>
            <a:p>
              <a:pPr algn="ctr">
                <a:lnSpc>
                  <a:spcPts val="4320"/>
                </a:lnSpc>
              </a:pPr>
              <a:r>
                <a:rPr lang="en-US" sz="3600">
                  <a:solidFill>
                    <a:srgbClr val="E8F0FE"/>
                  </a:solidFill>
                  <a:latin typeface="Calibri (MS)"/>
                  <a:ea typeface="Calibri (MS)"/>
                  <a:cs typeface="Calibri (MS)"/>
                  <a:sym typeface="Calibri (MS)"/>
                </a:rPr>
                <a:t>Presented By Manahil Mirza</a:t>
              </a:r>
            </a:p>
          </p:txBody>
        </p:sp>
      </p:grpSp>
      <p:grpSp>
        <p:nvGrpSpPr>
          <p:cNvPr name="Group 13" id="13"/>
          <p:cNvGrpSpPr/>
          <p:nvPr/>
        </p:nvGrpSpPr>
        <p:grpSpPr>
          <a:xfrm rot="0">
            <a:off x="1028700" y="8526780"/>
            <a:ext cx="16459200" cy="731520"/>
            <a:chOff x="0" y="0"/>
            <a:chExt cx="21945600" cy="975360"/>
          </a:xfrm>
        </p:grpSpPr>
        <p:sp>
          <p:nvSpPr>
            <p:cNvPr name="Freeform 14" id="14"/>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15" id="15"/>
            <p:cNvSpPr txBox="true"/>
            <p:nvPr/>
          </p:nvSpPr>
          <p:spPr>
            <a:xfrm>
              <a:off x="0" y="-66675"/>
              <a:ext cx="21945600" cy="1042035"/>
            </a:xfrm>
            <a:prstGeom prst="rect">
              <a:avLst/>
            </a:prstGeom>
          </p:spPr>
          <p:txBody>
            <a:bodyPr anchor="ctr" rtlCol="false" tIns="0" lIns="0" bIns="0" rIns="0"/>
            <a:lstStyle/>
            <a:p>
              <a:pPr algn="ctr">
                <a:lnSpc>
                  <a:spcPts val="4320"/>
                </a:lnSpc>
              </a:pPr>
              <a:r>
                <a:rPr lang="en-US" sz="3600">
                  <a:solidFill>
                    <a:srgbClr val="E8F0FE"/>
                  </a:solidFill>
                  <a:latin typeface="Calibri (MS)"/>
                  <a:ea typeface="Calibri (MS)"/>
                  <a:cs typeface="Calibri (MS)"/>
                  <a:sym typeface="Calibri (MS)"/>
                </a:rPr>
                <a:t>Google Developers Group CUI Wah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914400" y="73152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161925"/>
              <a:ext cx="21945600" cy="1624965"/>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Agenda</a:t>
              </a:r>
            </a:p>
          </p:txBody>
        </p:sp>
      </p:grpSp>
      <p:grpSp>
        <p:nvGrpSpPr>
          <p:cNvPr name="Group 5" id="5"/>
          <p:cNvGrpSpPr/>
          <p:nvPr/>
        </p:nvGrpSpPr>
        <p:grpSpPr>
          <a:xfrm rot="0">
            <a:off x="914400" y="2011680"/>
            <a:ext cx="146304" cy="6949440"/>
            <a:chOff x="0" y="0"/>
            <a:chExt cx="195072" cy="9265920"/>
          </a:xfrm>
        </p:grpSpPr>
        <p:sp>
          <p:nvSpPr>
            <p:cNvPr name="Freeform 6" id="6"/>
            <p:cNvSpPr/>
            <p:nvPr/>
          </p:nvSpPr>
          <p:spPr>
            <a:xfrm flipH="false" flipV="false" rot="0">
              <a:off x="0" y="0"/>
              <a:ext cx="195072" cy="9265920"/>
            </a:xfrm>
            <a:custGeom>
              <a:avLst/>
              <a:gdLst/>
              <a:ahLst/>
              <a:cxnLst/>
              <a:rect r="r" b="b" t="t" l="l"/>
              <a:pathLst>
                <a:path h="9265920" w="195072">
                  <a:moveTo>
                    <a:pt x="0" y="0"/>
                  </a:moveTo>
                  <a:lnTo>
                    <a:pt x="195072" y="0"/>
                  </a:lnTo>
                  <a:lnTo>
                    <a:pt x="195072" y="9265920"/>
                  </a:lnTo>
                  <a:lnTo>
                    <a:pt x="0" y="9265920"/>
                  </a:lnTo>
                  <a:close/>
                </a:path>
              </a:pathLst>
            </a:custGeom>
            <a:solidFill>
              <a:srgbClr val="4285F4"/>
            </a:solidFill>
          </p:spPr>
        </p:sp>
      </p:grpSp>
      <p:grpSp>
        <p:nvGrpSpPr>
          <p:cNvPr name="Group 7" id="7"/>
          <p:cNvGrpSpPr/>
          <p:nvPr/>
        </p:nvGrpSpPr>
        <p:grpSpPr>
          <a:xfrm rot="0">
            <a:off x="1463040" y="2194560"/>
            <a:ext cx="15910560" cy="6583680"/>
            <a:chOff x="0" y="0"/>
            <a:chExt cx="21214080" cy="8778240"/>
          </a:xfrm>
        </p:grpSpPr>
        <p:sp>
          <p:nvSpPr>
            <p:cNvPr name="Freeform 8" id="8"/>
            <p:cNvSpPr/>
            <p:nvPr/>
          </p:nvSpPr>
          <p:spPr>
            <a:xfrm flipH="false" flipV="false" rot="0">
              <a:off x="0" y="0"/>
              <a:ext cx="21214080" cy="8778240"/>
            </a:xfrm>
            <a:custGeom>
              <a:avLst/>
              <a:gdLst/>
              <a:ahLst/>
              <a:cxnLst/>
              <a:rect r="r" b="b" t="t" l="l"/>
              <a:pathLst>
                <a:path h="8778240" w="21214080">
                  <a:moveTo>
                    <a:pt x="0" y="0"/>
                  </a:moveTo>
                  <a:lnTo>
                    <a:pt x="21214080" y="0"/>
                  </a:lnTo>
                  <a:lnTo>
                    <a:pt x="21214080" y="8778240"/>
                  </a:lnTo>
                  <a:lnTo>
                    <a:pt x="0" y="8778240"/>
                  </a:lnTo>
                  <a:close/>
                </a:path>
              </a:pathLst>
            </a:custGeom>
            <a:blipFill>
              <a:blip r:embed="rId3">
                <a:alphaModFix amt="0"/>
              </a:blip>
              <a:stretch>
                <a:fillRect l="-3091" t="0" r="-3091" b="0"/>
              </a:stretch>
            </a:blipFill>
          </p:spPr>
        </p:sp>
        <p:sp>
          <p:nvSpPr>
            <p:cNvPr name="TextBox 9" id="9"/>
            <p:cNvSpPr txBox="true"/>
            <p:nvPr/>
          </p:nvSpPr>
          <p:spPr>
            <a:xfrm>
              <a:off x="0" y="-85725"/>
              <a:ext cx="21214080" cy="8863965"/>
            </a:xfrm>
            <a:prstGeom prst="rect">
              <a:avLst/>
            </a:prstGeom>
          </p:spPr>
          <p:txBody>
            <a:bodyPr anchor="ctr" rtlCol="false" tIns="0" lIns="0" bIns="0" rIns="0"/>
            <a:lstStyle/>
            <a:p>
              <a:pPr algn="l" marL="964691" indent="-482346" lvl="1">
                <a:lnSpc>
                  <a:spcPts val="4799"/>
                </a:lnSpc>
                <a:buFont typeface="Arial"/>
                <a:buChar char="•"/>
              </a:pPr>
              <a:r>
                <a:rPr lang="en-US" sz="3999">
                  <a:solidFill>
                    <a:srgbClr val="1E293B"/>
                  </a:solidFill>
                  <a:latin typeface="Calibri (MS)"/>
                  <a:ea typeface="Calibri (MS)"/>
                  <a:cs typeface="Calibri (MS)"/>
                  <a:sym typeface="Calibri (MS)"/>
                </a:rPr>
                <a:t>What is Feature Engineering?</a:t>
              </a:r>
            </a:p>
            <a:p>
              <a:pPr algn="l" marL="965200" indent="-482600" lvl="1">
                <a:lnSpc>
                  <a:spcPts val="4800"/>
                </a:lnSpc>
                <a:buFont typeface="Arial"/>
                <a:buChar char="•"/>
              </a:pPr>
              <a:r>
                <a:rPr lang="en-US" sz="4000">
                  <a:solidFill>
                    <a:srgbClr val="1E293B"/>
                  </a:solidFill>
                  <a:latin typeface="Calibri (MS)"/>
                  <a:ea typeface="Calibri (MS)"/>
                  <a:cs typeface="Calibri (MS)"/>
                  <a:sym typeface="Calibri (MS)"/>
                </a:rPr>
                <a:t>Encoding Categorical Features</a:t>
              </a:r>
            </a:p>
            <a:p>
              <a:pPr algn="l" marL="964691" indent="-482346" lvl="1">
                <a:lnSpc>
                  <a:spcPts val="4799"/>
                </a:lnSpc>
                <a:buFont typeface="Arial"/>
                <a:buChar char="•"/>
              </a:pPr>
              <a:r>
                <a:rPr lang="en-US" sz="3999">
                  <a:solidFill>
                    <a:srgbClr val="1E293B"/>
                  </a:solidFill>
                  <a:latin typeface="Calibri (MS)"/>
                  <a:ea typeface="Calibri (MS)"/>
                  <a:cs typeface="Calibri (MS)"/>
                  <a:sym typeface="Calibri (MS)"/>
                </a:rPr>
                <a:t>What is Feature Scaling?</a:t>
              </a:r>
            </a:p>
            <a:p>
              <a:pPr algn="l" marL="964691" indent="-482346" lvl="1">
                <a:lnSpc>
                  <a:spcPts val="4799"/>
                </a:lnSpc>
                <a:buFont typeface="Arial"/>
                <a:buChar char="•"/>
              </a:pPr>
              <a:r>
                <a:rPr lang="en-US" sz="3999">
                  <a:solidFill>
                    <a:srgbClr val="1E293B"/>
                  </a:solidFill>
                  <a:latin typeface="Calibri (MS)"/>
                  <a:ea typeface="Calibri (MS)"/>
                  <a:cs typeface="Calibri (MS)"/>
                  <a:sym typeface="Calibri (MS)"/>
                </a:rPr>
                <a:t>Wh</a:t>
              </a:r>
              <a:r>
                <a:rPr lang="en-US" sz="3999">
                  <a:solidFill>
                    <a:srgbClr val="1E293B"/>
                  </a:solidFill>
                  <a:latin typeface="Calibri (MS)"/>
                  <a:ea typeface="Calibri (MS)"/>
                  <a:cs typeface="Calibri (MS)"/>
                  <a:sym typeface="Calibri (MS)"/>
                </a:rPr>
                <a:t>at is Feature Extraction?</a:t>
              </a:r>
            </a:p>
            <a:p>
              <a:pPr algn="l" marL="965200" indent="-482600" lvl="1">
                <a:lnSpc>
                  <a:spcPts val="4800"/>
                </a:lnSpc>
                <a:buFont typeface="Arial"/>
                <a:buChar char="•"/>
              </a:pPr>
              <a:r>
                <a:rPr lang="en-US" sz="4000">
                  <a:solidFill>
                    <a:srgbClr val="1E293B"/>
                  </a:solidFill>
                  <a:latin typeface="Calibri (MS)"/>
                  <a:ea typeface="Calibri (MS)"/>
                  <a:cs typeface="Calibri (MS)"/>
                  <a:sym typeface="Calibri (MS)"/>
                </a:rPr>
                <a:t>Ha</a:t>
              </a:r>
              <a:r>
                <a:rPr lang="en-US" sz="4000">
                  <a:solidFill>
                    <a:srgbClr val="1E293B"/>
                  </a:solidFill>
                  <a:latin typeface="Calibri (MS)"/>
                  <a:ea typeface="Calibri (MS)"/>
                  <a:cs typeface="Calibri (MS)"/>
                  <a:sym typeface="Calibri (MS)"/>
                </a:rPr>
                <a:t>ndling Imbalanced Data</a:t>
              </a:r>
            </a:p>
            <a:p>
              <a:pPr algn="l" marL="965200" indent="-482600" lvl="1">
                <a:lnSpc>
                  <a:spcPts val="4800"/>
                </a:lnSpc>
                <a:buFont typeface="Arial"/>
                <a:buChar char="•"/>
              </a:pPr>
              <a:r>
                <a:rPr lang="en-US" sz="4000">
                  <a:solidFill>
                    <a:srgbClr val="1E293B"/>
                  </a:solidFill>
                  <a:latin typeface="Calibri (MS)"/>
                  <a:ea typeface="Calibri (MS)"/>
                  <a:cs typeface="Calibri (MS)"/>
                  <a:sym typeface="Calibri (MS)"/>
                </a:rPr>
                <a:t>Train/Test Split </a:t>
              </a:r>
            </a:p>
            <a:p>
              <a:pPr algn="l" marL="965200" indent="-482600" lvl="1">
                <a:lnSpc>
                  <a:spcPts val="4800"/>
                </a:lnSpc>
                <a:buFont typeface="Arial"/>
                <a:buChar char="•"/>
              </a:pPr>
              <a:r>
                <a:rPr lang="en-US" sz="4000">
                  <a:solidFill>
                    <a:srgbClr val="1E293B"/>
                  </a:solidFill>
                  <a:latin typeface="Calibri (MS)"/>
                  <a:ea typeface="Calibri (MS)"/>
                  <a:cs typeface="Calibri (MS)"/>
                  <a:sym typeface="Calibri (MS)"/>
                </a:rPr>
                <a:t>Sklearn Pipeline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028700" y="30286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Need Of Feature Engineering?</a:t>
              </a:r>
            </a:p>
          </p:txBody>
        </p:sp>
      </p:grpSp>
      <p:grpSp>
        <p:nvGrpSpPr>
          <p:cNvPr name="Group 5" id="5"/>
          <p:cNvGrpSpPr/>
          <p:nvPr/>
        </p:nvGrpSpPr>
        <p:grpSpPr>
          <a:xfrm rot="0">
            <a:off x="1562046" y="4256293"/>
            <a:ext cx="7132320" cy="4397722"/>
            <a:chOff x="0" y="0"/>
            <a:chExt cx="9509760" cy="5863630"/>
          </a:xfrm>
        </p:grpSpPr>
        <p:sp>
          <p:nvSpPr>
            <p:cNvPr name="Freeform 6" id="6"/>
            <p:cNvSpPr/>
            <p:nvPr/>
          </p:nvSpPr>
          <p:spPr>
            <a:xfrm flipH="false" flipV="false" rot="0">
              <a:off x="0" y="0"/>
              <a:ext cx="9509760" cy="5863629"/>
            </a:xfrm>
            <a:custGeom>
              <a:avLst/>
              <a:gdLst/>
              <a:ahLst/>
              <a:cxnLst/>
              <a:rect r="r" b="b" t="t" l="l"/>
              <a:pathLst>
                <a:path h="5863629" w="9509760">
                  <a:moveTo>
                    <a:pt x="0" y="0"/>
                  </a:moveTo>
                  <a:lnTo>
                    <a:pt x="9509760" y="0"/>
                  </a:lnTo>
                  <a:lnTo>
                    <a:pt x="9509760" y="5863629"/>
                  </a:lnTo>
                  <a:lnTo>
                    <a:pt x="0" y="5863629"/>
                  </a:lnTo>
                  <a:close/>
                </a:path>
              </a:pathLst>
            </a:custGeom>
            <a:blipFill>
              <a:blip r:embed="rId3">
                <a:alphaModFix amt="0"/>
              </a:blip>
              <a:stretch>
                <a:fillRect l="-22376" t="0" r="-22376" b="8512"/>
              </a:stretch>
            </a:blipFill>
          </p:spPr>
        </p:sp>
        <p:sp>
          <p:nvSpPr>
            <p:cNvPr name="TextBox 7" id="7"/>
            <p:cNvSpPr txBox="true"/>
            <p:nvPr/>
          </p:nvSpPr>
          <p:spPr>
            <a:xfrm>
              <a:off x="0" y="-85725"/>
              <a:ext cx="9509760" cy="59493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U</a:t>
              </a:r>
              <a:r>
                <a:rPr lang="en-US" sz="3999">
                  <a:solidFill>
                    <a:srgbClr val="1E293B"/>
                  </a:solidFill>
                  <a:latin typeface="Calibri (MS)"/>
                  <a:ea typeface="Calibri (MS)"/>
                  <a:cs typeface="Calibri (MS)"/>
                  <a:sym typeface="Calibri (MS)"/>
                </a:rPr>
                <a:t>ses advanced models:</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Random Forest</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XGBoost</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Deep Neural Network</a:t>
              </a:r>
            </a:p>
            <a:p>
              <a:pPr algn="l">
                <a:lnSpc>
                  <a:spcPts val="4799"/>
                </a:lnSpc>
              </a:pPr>
              <a:r>
                <a:rPr lang="en-US" sz="3999">
                  <a:solidFill>
                    <a:srgbClr val="1E293B"/>
                  </a:solidFill>
                  <a:latin typeface="Calibri (MS)"/>
                  <a:ea typeface="Calibri (MS)"/>
                  <a:cs typeface="Calibri (MS)"/>
                  <a:sym typeface="Calibri (MS)"/>
                </a:rPr>
                <a:t>But uses raw data without feature engineering.</a:t>
              </a:r>
            </a:p>
            <a:p>
              <a:pPr algn="l">
                <a:lnSpc>
                  <a:spcPts val="4799"/>
                </a:lnSpc>
              </a:pPr>
            </a:p>
          </p:txBody>
        </p:sp>
      </p:grpSp>
      <p:grpSp>
        <p:nvGrpSpPr>
          <p:cNvPr name="Group 8" id="8"/>
          <p:cNvGrpSpPr/>
          <p:nvPr/>
        </p:nvGrpSpPr>
        <p:grpSpPr>
          <a:xfrm rot="0">
            <a:off x="10639783" y="4256293"/>
            <a:ext cx="6426224" cy="4397722"/>
            <a:chOff x="0" y="0"/>
            <a:chExt cx="8568298" cy="5863630"/>
          </a:xfrm>
        </p:grpSpPr>
        <p:sp>
          <p:nvSpPr>
            <p:cNvPr name="Freeform 9" id="9"/>
            <p:cNvSpPr/>
            <p:nvPr/>
          </p:nvSpPr>
          <p:spPr>
            <a:xfrm flipH="false" flipV="false" rot="0">
              <a:off x="0" y="0"/>
              <a:ext cx="8568298" cy="5863629"/>
            </a:xfrm>
            <a:custGeom>
              <a:avLst/>
              <a:gdLst/>
              <a:ahLst/>
              <a:cxnLst/>
              <a:rect r="r" b="b" t="t" l="l"/>
              <a:pathLst>
                <a:path h="5863629" w="8568298">
                  <a:moveTo>
                    <a:pt x="0" y="0"/>
                  </a:moveTo>
                  <a:lnTo>
                    <a:pt x="8568298" y="0"/>
                  </a:lnTo>
                  <a:lnTo>
                    <a:pt x="8568298" y="5863629"/>
                  </a:lnTo>
                  <a:lnTo>
                    <a:pt x="0" y="5863629"/>
                  </a:lnTo>
                  <a:close/>
                </a:path>
              </a:pathLst>
            </a:custGeom>
            <a:blipFill>
              <a:blip r:embed="rId3">
                <a:alphaModFix amt="0"/>
              </a:blip>
              <a:stretch>
                <a:fillRect l="-24835" t="0" r="-35822" b="8512"/>
              </a:stretch>
            </a:blipFill>
          </p:spPr>
        </p:sp>
        <p:sp>
          <p:nvSpPr>
            <p:cNvPr name="TextBox 10" id="10"/>
            <p:cNvSpPr txBox="true"/>
            <p:nvPr/>
          </p:nvSpPr>
          <p:spPr>
            <a:xfrm>
              <a:off x="0" y="-85725"/>
              <a:ext cx="8568298" cy="59493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Uses simple model</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 Linear Regression</a:t>
              </a:r>
            </a:p>
            <a:p>
              <a:pPr algn="l">
                <a:lnSpc>
                  <a:spcPts val="4799"/>
                </a:lnSpc>
              </a:pPr>
              <a:r>
                <a:rPr lang="en-US" sz="3999">
                  <a:solidFill>
                    <a:srgbClr val="1E293B"/>
                  </a:solidFill>
                  <a:latin typeface="Calibri (MS)"/>
                  <a:ea typeface="Calibri (MS)"/>
                  <a:cs typeface="Calibri (MS)"/>
                  <a:sym typeface="Calibri (MS)"/>
                </a:rPr>
                <a:t> but performs:</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 Encoding</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 Scaling</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 Feature extraction</a:t>
              </a:r>
            </a:p>
            <a:p>
              <a:pPr algn="l">
                <a:lnSpc>
                  <a:spcPts val="4799"/>
                </a:lnSpc>
              </a:pPr>
            </a:p>
          </p:txBody>
        </p:sp>
      </p:grpSp>
      <p:grpSp>
        <p:nvGrpSpPr>
          <p:cNvPr name="Group 11" id="11"/>
          <p:cNvGrpSpPr/>
          <p:nvPr/>
        </p:nvGrpSpPr>
        <p:grpSpPr>
          <a:xfrm rot="0">
            <a:off x="1562046" y="2835782"/>
            <a:ext cx="5411050" cy="1019749"/>
            <a:chOff x="0" y="0"/>
            <a:chExt cx="7214734" cy="1359665"/>
          </a:xfrm>
        </p:grpSpPr>
        <p:sp>
          <p:nvSpPr>
            <p:cNvPr name="Freeform 12" id="12"/>
            <p:cNvSpPr/>
            <p:nvPr/>
          </p:nvSpPr>
          <p:spPr>
            <a:xfrm flipH="false" flipV="false" rot="0">
              <a:off x="0" y="0"/>
              <a:ext cx="7214733" cy="1359666"/>
            </a:xfrm>
            <a:custGeom>
              <a:avLst/>
              <a:gdLst/>
              <a:ahLst/>
              <a:cxnLst/>
              <a:rect r="r" b="b" t="t" l="l"/>
              <a:pathLst>
                <a:path h="1359666" w="7214733">
                  <a:moveTo>
                    <a:pt x="0" y="0"/>
                  </a:moveTo>
                  <a:lnTo>
                    <a:pt x="7214733" y="0"/>
                  </a:lnTo>
                  <a:lnTo>
                    <a:pt x="7214733" y="1359666"/>
                  </a:lnTo>
                  <a:lnTo>
                    <a:pt x="0" y="1359666"/>
                  </a:lnTo>
                  <a:close/>
                </a:path>
              </a:pathLst>
            </a:custGeom>
            <a:blipFill>
              <a:blip r:embed="rId3">
                <a:alphaModFix amt="0"/>
              </a:blip>
              <a:stretch>
                <a:fillRect l="0" t="-260695" r="-204177" b="-268298"/>
              </a:stretch>
            </a:blipFill>
          </p:spPr>
        </p:sp>
        <p:sp>
          <p:nvSpPr>
            <p:cNvPr name="TextBox 13" id="13"/>
            <p:cNvSpPr txBox="true"/>
            <p:nvPr/>
          </p:nvSpPr>
          <p:spPr>
            <a:xfrm>
              <a:off x="0" y="-114300"/>
              <a:ext cx="7214734"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Data Scientist A</a:t>
              </a:r>
            </a:p>
          </p:txBody>
        </p:sp>
      </p:grpSp>
      <p:grpSp>
        <p:nvGrpSpPr>
          <p:cNvPr name="Group 14" id="14"/>
          <p:cNvGrpSpPr/>
          <p:nvPr/>
        </p:nvGrpSpPr>
        <p:grpSpPr>
          <a:xfrm rot="0">
            <a:off x="10630258" y="2835782"/>
            <a:ext cx="5411050" cy="1019749"/>
            <a:chOff x="0" y="0"/>
            <a:chExt cx="7214734" cy="1359665"/>
          </a:xfrm>
        </p:grpSpPr>
        <p:sp>
          <p:nvSpPr>
            <p:cNvPr name="Freeform 15" id="15"/>
            <p:cNvSpPr/>
            <p:nvPr/>
          </p:nvSpPr>
          <p:spPr>
            <a:xfrm flipH="false" flipV="false" rot="0">
              <a:off x="0" y="0"/>
              <a:ext cx="7214733" cy="1359666"/>
            </a:xfrm>
            <a:custGeom>
              <a:avLst/>
              <a:gdLst/>
              <a:ahLst/>
              <a:cxnLst/>
              <a:rect r="r" b="b" t="t" l="l"/>
              <a:pathLst>
                <a:path h="1359666" w="7214733">
                  <a:moveTo>
                    <a:pt x="0" y="0"/>
                  </a:moveTo>
                  <a:lnTo>
                    <a:pt x="7214733" y="0"/>
                  </a:lnTo>
                  <a:lnTo>
                    <a:pt x="7214733" y="1359666"/>
                  </a:lnTo>
                  <a:lnTo>
                    <a:pt x="0" y="1359666"/>
                  </a:lnTo>
                  <a:close/>
                </a:path>
              </a:pathLst>
            </a:custGeom>
            <a:blipFill>
              <a:blip r:embed="rId3">
                <a:alphaModFix amt="0"/>
              </a:blip>
              <a:stretch>
                <a:fillRect l="0" t="-260695" r="-204177" b="-268298"/>
              </a:stretch>
            </a:blipFill>
          </p:spPr>
        </p:sp>
        <p:sp>
          <p:nvSpPr>
            <p:cNvPr name="TextBox 16" id="16"/>
            <p:cNvSpPr txBox="true"/>
            <p:nvPr/>
          </p:nvSpPr>
          <p:spPr>
            <a:xfrm>
              <a:off x="0" y="-114300"/>
              <a:ext cx="7214734"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D</a:t>
              </a:r>
              <a:r>
                <a:rPr lang="en-US" sz="5000" b="true">
                  <a:solidFill>
                    <a:srgbClr val="1E293B"/>
                  </a:solidFill>
                  <a:latin typeface="Calibri (MS) Bold"/>
                  <a:ea typeface="Calibri (MS) Bold"/>
                  <a:cs typeface="Calibri (MS) Bold"/>
                  <a:sym typeface="Calibri (MS) Bold"/>
                </a:rPr>
                <a:t>ata Scientist B</a:t>
              </a:r>
            </a:p>
          </p:txBody>
        </p:sp>
      </p:grpSp>
      <p:grpSp>
        <p:nvGrpSpPr>
          <p:cNvPr name="Group 17" id="17"/>
          <p:cNvGrpSpPr/>
          <p:nvPr/>
        </p:nvGrpSpPr>
        <p:grpSpPr>
          <a:xfrm rot="0">
            <a:off x="4610471" y="8668106"/>
            <a:ext cx="7132320" cy="1418869"/>
            <a:chOff x="0" y="0"/>
            <a:chExt cx="9509760" cy="1891825"/>
          </a:xfrm>
        </p:grpSpPr>
        <p:sp>
          <p:nvSpPr>
            <p:cNvPr name="Freeform 18" id="18"/>
            <p:cNvSpPr/>
            <p:nvPr/>
          </p:nvSpPr>
          <p:spPr>
            <a:xfrm flipH="false" flipV="false" rot="0">
              <a:off x="0" y="0"/>
              <a:ext cx="9509760" cy="1891825"/>
            </a:xfrm>
            <a:custGeom>
              <a:avLst/>
              <a:gdLst/>
              <a:ahLst/>
              <a:cxnLst/>
              <a:rect r="r" b="b" t="t" l="l"/>
              <a:pathLst>
                <a:path h="1891825" w="9509760">
                  <a:moveTo>
                    <a:pt x="0" y="0"/>
                  </a:moveTo>
                  <a:lnTo>
                    <a:pt x="9509760" y="0"/>
                  </a:lnTo>
                  <a:lnTo>
                    <a:pt x="9509760" y="1891825"/>
                  </a:lnTo>
                  <a:lnTo>
                    <a:pt x="0" y="1891825"/>
                  </a:lnTo>
                  <a:close/>
                </a:path>
              </a:pathLst>
            </a:custGeom>
            <a:blipFill>
              <a:blip r:embed="rId3">
                <a:alphaModFix amt="0"/>
              </a:blip>
              <a:stretch>
                <a:fillRect l="-22376" t="0" r="-22376" b="-183561"/>
              </a:stretch>
            </a:blipFill>
          </p:spPr>
        </p:sp>
        <p:sp>
          <p:nvSpPr>
            <p:cNvPr name="TextBox 19" id="19"/>
            <p:cNvSpPr txBox="true"/>
            <p:nvPr/>
          </p:nvSpPr>
          <p:spPr>
            <a:xfrm>
              <a:off x="0" y="-85725"/>
              <a:ext cx="9509760" cy="1977550"/>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Who’s gonna get better accuracy?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742950" y="1028700"/>
            <a:ext cx="17824257" cy="7389343"/>
          </a:xfrm>
          <a:custGeom>
            <a:avLst/>
            <a:gdLst/>
            <a:ahLst/>
            <a:cxnLst/>
            <a:rect r="r" b="b" t="t" l="l"/>
            <a:pathLst>
              <a:path h="7389343" w="17824257">
                <a:moveTo>
                  <a:pt x="0" y="0"/>
                </a:moveTo>
                <a:lnTo>
                  <a:pt x="17824257" y="0"/>
                </a:lnTo>
                <a:lnTo>
                  <a:pt x="17824257" y="7389343"/>
                </a:lnTo>
                <a:lnTo>
                  <a:pt x="0" y="7389343"/>
                </a:lnTo>
                <a:lnTo>
                  <a:pt x="0" y="0"/>
                </a:lnTo>
                <a:close/>
              </a:path>
            </a:pathLst>
          </a:custGeom>
          <a:blipFill>
            <a:blip r:embed="rId2"/>
            <a:stretch>
              <a:fillRect l="0" t="-748" r="-1494" b="-748"/>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2736376" y="32191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Feature Engineering?</a:t>
              </a:r>
            </a:p>
          </p:txBody>
        </p:sp>
      </p:grpSp>
      <p:grpSp>
        <p:nvGrpSpPr>
          <p:cNvPr name="Group 5" id="5"/>
          <p:cNvGrpSpPr/>
          <p:nvPr/>
        </p:nvGrpSpPr>
        <p:grpSpPr>
          <a:xfrm rot="0">
            <a:off x="914400" y="2630865"/>
            <a:ext cx="7132320" cy="4397722"/>
            <a:chOff x="0" y="0"/>
            <a:chExt cx="9509760" cy="5863630"/>
          </a:xfrm>
        </p:grpSpPr>
        <p:sp>
          <p:nvSpPr>
            <p:cNvPr name="Freeform 6" id="6"/>
            <p:cNvSpPr/>
            <p:nvPr/>
          </p:nvSpPr>
          <p:spPr>
            <a:xfrm flipH="false" flipV="false" rot="0">
              <a:off x="0" y="0"/>
              <a:ext cx="9509760" cy="5863629"/>
            </a:xfrm>
            <a:custGeom>
              <a:avLst/>
              <a:gdLst/>
              <a:ahLst/>
              <a:cxnLst/>
              <a:rect r="r" b="b" t="t" l="l"/>
              <a:pathLst>
                <a:path h="5863629" w="9509760">
                  <a:moveTo>
                    <a:pt x="0" y="0"/>
                  </a:moveTo>
                  <a:lnTo>
                    <a:pt x="9509760" y="0"/>
                  </a:lnTo>
                  <a:lnTo>
                    <a:pt x="9509760" y="5863629"/>
                  </a:lnTo>
                  <a:lnTo>
                    <a:pt x="0" y="5863629"/>
                  </a:lnTo>
                  <a:close/>
                </a:path>
              </a:pathLst>
            </a:custGeom>
            <a:blipFill>
              <a:blip r:embed="rId3">
                <a:alphaModFix amt="0"/>
              </a:blip>
              <a:stretch>
                <a:fillRect l="-22376" t="0" r="-22376" b="8512"/>
              </a:stretch>
            </a:blipFill>
          </p:spPr>
        </p:sp>
        <p:sp>
          <p:nvSpPr>
            <p:cNvPr name="TextBox 7" id="7"/>
            <p:cNvSpPr txBox="true"/>
            <p:nvPr/>
          </p:nvSpPr>
          <p:spPr>
            <a:xfrm>
              <a:off x="0" y="-85725"/>
              <a:ext cx="9509760" cy="59493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Feature eng</a:t>
              </a:r>
              <a:r>
                <a:rPr lang="en-US" sz="3999">
                  <a:solidFill>
                    <a:srgbClr val="1E293B"/>
                  </a:solidFill>
                  <a:latin typeface="Calibri (MS)"/>
                  <a:ea typeface="Calibri (MS)"/>
                  <a:cs typeface="Calibri (MS)"/>
                  <a:sym typeface="Calibri (MS)"/>
                </a:rPr>
                <a:t>ineering is the process of using domain knowledge to select, transform, and create new variables (features) from raw data to enhance the performance, accuracy, and interpretability of machine learning models. </a:t>
              </a:r>
            </a:p>
          </p:txBody>
        </p:sp>
      </p:grpSp>
      <p:grpSp>
        <p:nvGrpSpPr>
          <p:cNvPr name="Group 8" id="8"/>
          <p:cNvGrpSpPr/>
          <p:nvPr/>
        </p:nvGrpSpPr>
        <p:grpSpPr>
          <a:xfrm rot="0">
            <a:off x="9881444" y="2630865"/>
            <a:ext cx="7863840" cy="5852160"/>
            <a:chOff x="0" y="0"/>
            <a:chExt cx="10485120" cy="7802880"/>
          </a:xfrm>
        </p:grpSpPr>
        <p:grpSp>
          <p:nvGrpSpPr>
            <p:cNvPr name="Group 9" id="9"/>
            <p:cNvGrpSpPr/>
            <p:nvPr/>
          </p:nvGrpSpPr>
          <p:grpSpPr>
            <a:xfrm rot="0">
              <a:off x="0" y="0"/>
              <a:ext cx="10485120" cy="7802880"/>
              <a:chOff x="0" y="0"/>
              <a:chExt cx="10485120" cy="7802880"/>
            </a:xfrm>
          </p:grpSpPr>
          <p:sp>
            <p:nvSpPr>
              <p:cNvPr name="Freeform 10" id="10"/>
              <p:cNvSpPr/>
              <p:nvPr/>
            </p:nvSpPr>
            <p:spPr>
              <a:xfrm flipH="false" flipV="false" rot="0">
                <a:off x="0" y="0"/>
                <a:ext cx="10485120" cy="7802880"/>
              </a:xfrm>
              <a:custGeom>
                <a:avLst/>
                <a:gdLst/>
                <a:ahLst/>
                <a:cxnLst/>
                <a:rect r="r" b="b" t="t" l="l"/>
                <a:pathLst>
                  <a:path h="7802880" w="10485120">
                    <a:moveTo>
                      <a:pt x="0" y="0"/>
                    </a:moveTo>
                    <a:lnTo>
                      <a:pt x="10485120" y="0"/>
                    </a:lnTo>
                    <a:lnTo>
                      <a:pt x="10485120" y="7802880"/>
                    </a:lnTo>
                    <a:lnTo>
                      <a:pt x="0" y="7802880"/>
                    </a:lnTo>
                    <a:close/>
                  </a:path>
                </a:pathLst>
              </a:custGeom>
              <a:solidFill>
                <a:srgbClr val="4285F4"/>
              </a:solidFill>
            </p:spPr>
          </p:sp>
        </p:grpSp>
        <p:sp>
          <p:nvSpPr>
            <p:cNvPr name="TextBox 11" id="11"/>
            <p:cNvSpPr txBox="true"/>
            <p:nvPr/>
          </p:nvSpPr>
          <p:spPr>
            <a:xfrm rot="0">
              <a:off x="1033035" y="462915"/>
              <a:ext cx="7831603" cy="6486525"/>
            </a:xfrm>
            <a:prstGeom prst="rect">
              <a:avLst/>
            </a:prstGeom>
          </p:spPr>
          <p:txBody>
            <a:bodyPr anchor="t" rtlCol="false" tIns="0" lIns="0" bIns="0" rIns="0">
              <a:spAutoFit/>
            </a:bodyPr>
            <a:lstStyle/>
            <a:p>
              <a:pPr algn="just">
                <a:lnSpc>
                  <a:spcPts val="4799"/>
                </a:lnSpc>
                <a:spcBef>
                  <a:spcPct val="0"/>
                </a:spcBef>
              </a:pPr>
              <a:r>
                <a:rPr lang="en-US" b="true" sz="3999">
                  <a:solidFill>
                    <a:srgbClr val="000000"/>
                  </a:solidFill>
                  <a:latin typeface="Calibri (MS) Bold"/>
                  <a:ea typeface="Calibri (MS) Bold"/>
                  <a:cs typeface="Calibri (MS) Bold"/>
                  <a:sym typeface="Calibri (MS) Bold"/>
                </a:rPr>
                <a:t>Raw data:</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Date: 2026-03-14</a:t>
              </a:r>
            </a:p>
            <a:p>
              <a:pPr algn="just">
                <a:lnSpc>
                  <a:spcPts val="4799"/>
                </a:lnSpc>
                <a:spcBef>
                  <a:spcPct val="0"/>
                </a:spcBef>
              </a:pP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Engineered features:</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Day = Saturday</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Month = March</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Weekend = True</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Quarter = Q1</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282892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Feature Engineering?</a:t>
              </a:r>
            </a:p>
          </p:txBody>
        </p:sp>
      </p:grpSp>
      <p:grpSp>
        <p:nvGrpSpPr>
          <p:cNvPr name="Group 5" id="5"/>
          <p:cNvGrpSpPr/>
          <p:nvPr/>
        </p:nvGrpSpPr>
        <p:grpSpPr>
          <a:xfrm rot="0">
            <a:off x="9919309" y="2784448"/>
            <a:ext cx="7863840" cy="5252085"/>
            <a:chOff x="0" y="0"/>
            <a:chExt cx="10485120" cy="7002780"/>
          </a:xfrm>
        </p:grpSpPr>
        <p:grpSp>
          <p:nvGrpSpPr>
            <p:cNvPr name="Group 6" id="6"/>
            <p:cNvGrpSpPr/>
            <p:nvPr/>
          </p:nvGrpSpPr>
          <p:grpSpPr>
            <a:xfrm rot="0">
              <a:off x="0" y="0"/>
              <a:ext cx="10485120" cy="7002780"/>
              <a:chOff x="0" y="0"/>
              <a:chExt cx="10485120" cy="7002780"/>
            </a:xfrm>
          </p:grpSpPr>
          <p:sp>
            <p:nvSpPr>
              <p:cNvPr name="Freeform 7" id="7"/>
              <p:cNvSpPr/>
              <p:nvPr/>
            </p:nvSpPr>
            <p:spPr>
              <a:xfrm flipH="false" flipV="false" rot="0">
                <a:off x="0" y="0"/>
                <a:ext cx="10485120" cy="7002780"/>
              </a:xfrm>
              <a:custGeom>
                <a:avLst/>
                <a:gdLst/>
                <a:ahLst/>
                <a:cxnLst/>
                <a:rect r="r" b="b" t="t" l="l"/>
                <a:pathLst>
                  <a:path h="7002780" w="10485120">
                    <a:moveTo>
                      <a:pt x="0" y="0"/>
                    </a:moveTo>
                    <a:lnTo>
                      <a:pt x="10485120" y="0"/>
                    </a:lnTo>
                    <a:lnTo>
                      <a:pt x="10485120" y="7002780"/>
                    </a:lnTo>
                    <a:lnTo>
                      <a:pt x="0" y="7002780"/>
                    </a:lnTo>
                    <a:close/>
                  </a:path>
                </a:pathLst>
              </a:custGeom>
              <a:solidFill>
                <a:srgbClr val="4285F4"/>
              </a:solidFill>
            </p:spPr>
          </p:sp>
        </p:grpSp>
        <p:sp>
          <p:nvSpPr>
            <p:cNvPr name="TextBox 8" id="8"/>
            <p:cNvSpPr txBox="true"/>
            <p:nvPr/>
          </p:nvSpPr>
          <p:spPr>
            <a:xfrm rot="0">
              <a:off x="1033035" y="462915"/>
              <a:ext cx="9146534" cy="5686425"/>
            </a:xfrm>
            <a:prstGeom prst="rect">
              <a:avLst/>
            </a:prstGeom>
          </p:spPr>
          <p:txBody>
            <a:bodyPr anchor="t" rtlCol="false" tIns="0" lIns="0" bIns="0" rIns="0">
              <a:spAutoFit/>
            </a:bodyPr>
            <a:lstStyle/>
            <a:p>
              <a:pPr algn="just">
                <a:lnSpc>
                  <a:spcPts val="4799"/>
                </a:lnSpc>
                <a:spcBef>
                  <a:spcPct val="0"/>
                </a:spcBef>
              </a:pP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Education Level          Ordinal</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City                                Nominal</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Salary                            Continous</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IsStudent                      Boolean</a:t>
              </a:r>
            </a:p>
            <a:p>
              <a:pPr algn="just">
                <a:lnSpc>
                  <a:spcPts val="4799"/>
                </a:lnSpc>
                <a:spcBef>
                  <a:spcPct val="0"/>
                </a:spcBef>
              </a:pPr>
              <a:r>
                <a:rPr lang="en-US" b="true" sz="3999">
                  <a:solidFill>
                    <a:srgbClr val="000000"/>
                  </a:solidFill>
                  <a:latin typeface="Calibri (MS) Bold"/>
                  <a:ea typeface="Calibri (MS) Bold"/>
                  <a:cs typeface="Calibri (MS) Bold"/>
                  <a:sym typeface="Calibri (MS) Bold"/>
                </a:rPr>
                <a:t>JoinDate                        Date</a:t>
              </a:r>
            </a:p>
            <a:p>
              <a:pPr algn="just">
                <a:lnSpc>
                  <a:spcPts val="4799"/>
                </a:lnSpc>
                <a:spcBef>
                  <a:spcPct val="0"/>
                </a:spcBef>
              </a:pPr>
            </a:p>
          </p:txBody>
        </p:sp>
      </p:grpSp>
      <p:grpSp>
        <p:nvGrpSpPr>
          <p:cNvPr name="Group 9" id="9"/>
          <p:cNvGrpSpPr/>
          <p:nvPr/>
        </p:nvGrpSpPr>
        <p:grpSpPr>
          <a:xfrm rot="0">
            <a:off x="608478" y="2125436"/>
            <a:ext cx="8735547" cy="3317209"/>
            <a:chOff x="0" y="0"/>
            <a:chExt cx="11647396" cy="4422945"/>
          </a:xfrm>
        </p:grpSpPr>
        <p:grpSp>
          <p:nvGrpSpPr>
            <p:cNvPr name="Group 10" id="10"/>
            <p:cNvGrpSpPr/>
            <p:nvPr/>
          </p:nvGrpSpPr>
          <p:grpSpPr>
            <a:xfrm rot="0">
              <a:off x="0" y="0"/>
              <a:ext cx="7214734" cy="1359665"/>
              <a:chOff x="0" y="0"/>
              <a:chExt cx="7214734" cy="1359665"/>
            </a:xfrm>
          </p:grpSpPr>
          <p:sp>
            <p:nvSpPr>
              <p:cNvPr name="Freeform 11" id="11"/>
              <p:cNvSpPr/>
              <p:nvPr/>
            </p:nvSpPr>
            <p:spPr>
              <a:xfrm flipH="false" flipV="false" rot="0">
                <a:off x="0" y="0"/>
                <a:ext cx="7214733" cy="1359666"/>
              </a:xfrm>
              <a:custGeom>
                <a:avLst/>
                <a:gdLst/>
                <a:ahLst/>
                <a:cxnLst/>
                <a:rect r="r" b="b" t="t" l="l"/>
                <a:pathLst>
                  <a:path h="1359666" w="7214733">
                    <a:moveTo>
                      <a:pt x="0" y="0"/>
                    </a:moveTo>
                    <a:lnTo>
                      <a:pt x="7214733" y="0"/>
                    </a:lnTo>
                    <a:lnTo>
                      <a:pt x="7214733" y="1359666"/>
                    </a:lnTo>
                    <a:lnTo>
                      <a:pt x="0" y="1359666"/>
                    </a:lnTo>
                    <a:close/>
                  </a:path>
                </a:pathLst>
              </a:custGeom>
              <a:blipFill>
                <a:blip r:embed="rId3">
                  <a:alphaModFix amt="0"/>
                </a:blip>
                <a:stretch>
                  <a:fillRect l="0" t="-260695" r="-204177" b="-268298"/>
                </a:stretch>
              </a:blipFill>
            </p:spPr>
          </p:sp>
          <p:sp>
            <p:nvSpPr>
              <p:cNvPr name="TextBox 12" id="12"/>
              <p:cNvSpPr txBox="true"/>
              <p:nvPr/>
            </p:nvSpPr>
            <p:spPr>
              <a:xfrm>
                <a:off x="0" y="-114300"/>
                <a:ext cx="7214734"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What is Feature?</a:t>
                </a:r>
              </a:p>
            </p:txBody>
          </p:sp>
        </p:grpSp>
        <p:grpSp>
          <p:nvGrpSpPr>
            <p:cNvPr name="Group 13" id="13"/>
            <p:cNvGrpSpPr/>
            <p:nvPr/>
          </p:nvGrpSpPr>
          <p:grpSpPr>
            <a:xfrm rot="0">
              <a:off x="0" y="959615"/>
              <a:ext cx="11647396" cy="3463330"/>
              <a:chOff x="0" y="0"/>
              <a:chExt cx="11647396" cy="3463330"/>
            </a:xfrm>
          </p:grpSpPr>
          <p:sp>
            <p:nvSpPr>
              <p:cNvPr name="Freeform 14" id="14"/>
              <p:cNvSpPr/>
              <p:nvPr/>
            </p:nvSpPr>
            <p:spPr>
              <a:xfrm flipH="false" flipV="false" rot="0">
                <a:off x="0" y="0"/>
                <a:ext cx="11647396" cy="3463329"/>
              </a:xfrm>
              <a:custGeom>
                <a:avLst/>
                <a:gdLst/>
                <a:ahLst/>
                <a:cxnLst/>
                <a:rect r="r" b="b" t="t" l="l"/>
                <a:pathLst>
                  <a:path h="3463329" w="11647396">
                    <a:moveTo>
                      <a:pt x="0" y="0"/>
                    </a:moveTo>
                    <a:lnTo>
                      <a:pt x="11647396" y="0"/>
                    </a:lnTo>
                    <a:lnTo>
                      <a:pt x="11647396" y="3463329"/>
                    </a:lnTo>
                    <a:lnTo>
                      <a:pt x="0" y="3463329"/>
                    </a:lnTo>
                    <a:close/>
                  </a:path>
                </a:pathLst>
              </a:custGeom>
              <a:blipFill>
                <a:blip r:embed="rId3">
                  <a:alphaModFix amt="0"/>
                </a:blip>
                <a:stretch>
                  <a:fillRect l="-18269" t="0" r="83" b="-54893"/>
                </a:stretch>
              </a:blipFill>
            </p:spPr>
          </p:sp>
          <p:sp>
            <p:nvSpPr>
              <p:cNvPr name="TextBox 15" id="15"/>
              <p:cNvSpPr txBox="true"/>
              <p:nvPr/>
            </p:nvSpPr>
            <p:spPr>
              <a:xfrm>
                <a:off x="0" y="-85725"/>
                <a:ext cx="11647396" cy="35490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a measurable, individual property or characteristic of the data used as input for a model to make predictions. , typically represented as a column in a dataset</a:t>
                </a:r>
              </a:p>
            </p:txBody>
          </p:sp>
        </p:grpSp>
      </p:grpSp>
      <p:grpSp>
        <p:nvGrpSpPr>
          <p:cNvPr name="Group 16" id="16"/>
          <p:cNvGrpSpPr/>
          <p:nvPr/>
        </p:nvGrpSpPr>
        <p:grpSpPr>
          <a:xfrm rot="0">
            <a:off x="104775" y="5442645"/>
            <a:ext cx="8735547" cy="5333887"/>
            <a:chOff x="0" y="0"/>
            <a:chExt cx="11647396" cy="7111850"/>
          </a:xfrm>
        </p:grpSpPr>
        <p:grpSp>
          <p:nvGrpSpPr>
            <p:cNvPr name="Group 17" id="17"/>
            <p:cNvGrpSpPr/>
            <p:nvPr/>
          </p:nvGrpSpPr>
          <p:grpSpPr>
            <a:xfrm rot="0">
              <a:off x="608104" y="0"/>
              <a:ext cx="9230536" cy="1359665"/>
              <a:chOff x="0" y="0"/>
              <a:chExt cx="9230536" cy="1359665"/>
            </a:xfrm>
          </p:grpSpPr>
          <p:sp>
            <p:nvSpPr>
              <p:cNvPr name="Freeform 18" id="18"/>
              <p:cNvSpPr/>
              <p:nvPr/>
            </p:nvSpPr>
            <p:spPr>
              <a:xfrm flipH="false" flipV="false" rot="0">
                <a:off x="0" y="0"/>
                <a:ext cx="9230537" cy="1359666"/>
              </a:xfrm>
              <a:custGeom>
                <a:avLst/>
                <a:gdLst/>
                <a:ahLst/>
                <a:cxnLst/>
                <a:rect r="r" b="b" t="t" l="l"/>
                <a:pathLst>
                  <a:path h="1359666" w="9230537">
                    <a:moveTo>
                      <a:pt x="0" y="0"/>
                    </a:moveTo>
                    <a:lnTo>
                      <a:pt x="9230537" y="0"/>
                    </a:lnTo>
                    <a:lnTo>
                      <a:pt x="9230537" y="1359666"/>
                    </a:lnTo>
                    <a:lnTo>
                      <a:pt x="0" y="1359666"/>
                    </a:lnTo>
                    <a:close/>
                  </a:path>
                </a:pathLst>
              </a:custGeom>
              <a:blipFill>
                <a:blip r:embed="rId3">
                  <a:alphaModFix amt="0"/>
                </a:blip>
                <a:stretch>
                  <a:fillRect l="0" t="-260695" r="-137749" b="-268298"/>
                </a:stretch>
              </a:blipFill>
            </p:spPr>
          </p:sp>
          <p:sp>
            <p:nvSpPr>
              <p:cNvPr name="TextBox 19" id="19"/>
              <p:cNvSpPr txBox="true"/>
              <p:nvPr/>
            </p:nvSpPr>
            <p:spPr>
              <a:xfrm>
                <a:off x="0" y="-114300"/>
                <a:ext cx="9230536"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Types</a:t>
                </a:r>
                <a:r>
                  <a:rPr lang="en-US" sz="5000" b="true">
                    <a:solidFill>
                      <a:srgbClr val="1E293B"/>
                    </a:solidFill>
                    <a:latin typeface="Calibri (MS) Bold"/>
                    <a:ea typeface="Calibri (MS) Bold"/>
                    <a:cs typeface="Calibri (MS) Bold"/>
                    <a:sym typeface="Calibri (MS) Bold"/>
                  </a:rPr>
                  <a:t> of Features in Data</a:t>
                </a:r>
              </a:p>
            </p:txBody>
          </p:sp>
        </p:grpSp>
        <p:grpSp>
          <p:nvGrpSpPr>
            <p:cNvPr name="Group 20" id="20"/>
            <p:cNvGrpSpPr/>
            <p:nvPr/>
          </p:nvGrpSpPr>
          <p:grpSpPr>
            <a:xfrm rot="0">
              <a:off x="0" y="1248220"/>
              <a:ext cx="11647396" cy="5863630"/>
              <a:chOff x="0" y="0"/>
              <a:chExt cx="11647396" cy="5863630"/>
            </a:xfrm>
          </p:grpSpPr>
          <p:sp>
            <p:nvSpPr>
              <p:cNvPr name="Freeform 21" id="21"/>
              <p:cNvSpPr/>
              <p:nvPr/>
            </p:nvSpPr>
            <p:spPr>
              <a:xfrm flipH="false" flipV="false" rot="0">
                <a:off x="0" y="0"/>
                <a:ext cx="11647396" cy="5863629"/>
              </a:xfrm>
              <a:custGeom>
                <a:avLst/>
                <a:gdLst/>
                <a:ahLst/>
                <a:cxnLst/>
                <a:rect r="r" b="b" t="t" l="l"/>
                <a:pathLst>
                  <a:path h="5863629" w="11647396">
                    <a:moveTo>
                      <a:pt x="0" y="0"/>
                    </a:moveTo>
                    <a:lnTo>
                      <a:pt x="11647396" y="0"/>
                    </a:lnTo>
                    <a:lnTo>
                      <a:pt x="11647396" y="5863629"/>
                    </a:lnTo>
                    <a:lnTo>
                      <a:pt x="0" y="5863629"/>
                    </a:lnTo>
                    <a:close/>
                  </a:path>
                </a:pathLst>
              </a:custGeom>
              <a:blipFill>
                <a:blip r:embed="rId3">
                  <a:alphaModFix amt="0"/>
                </a:blip>
                <a:stretch>
                  <a:fillRect l="-18269" t="0" r="83" b="8512"/>
                </a:stretch>
              </a:blipFill>
            </p:spPr>
          </p:sp>
          <p:sp>
            <p:nvSpPr>
              <p:cNvPr name="TextBox 22" id="22"/>
              <p:cNvSpPr txBox="true"/>
              <p:nvPr/>
            </p:nvSpPr>
            <p:spPr>
              <a:xfrm>
                <a:off x="0" y="-85725"/>
                <a:ext cx="11647396" cy="5949355"/>
              </a:xfrm>
              <a:prstGeom prst="rect">
                <a:avLst/>
              </a:prstGeom>
            </p:spPr>
            <p:txBody>
              <a:bodyPr anchor="ctr" rtlCol="false" tIns="0" lIns="0" bIns="0" rIns="0"/>
              <a:lstStyle/>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Numerical</a:t>
                </a:r>
              </a:p>
              <a:p>
                <a:pPr algn="l">
                  <a:lnSpc>
                    <a:spcPts val="4799"/>
                  </a:lnSpc>
                </a:pPr>
                <a:r>
                  <a:rPr lang="en-US" sz="3999">
                    <a:solidFill>
                      <a:srgbClr val="1E293B"/>
                    </a:solidFill>
                    <a:latin typeface="Calibri (MS)"/>
                    <a:ea typeface="Calibri (MS)"/>
                    <a:cs typeface="Calibri (MS)"/>
                    <a:sym typeface="Calibri (MS)"/>
                  </a:rPr>
                  <a:t>          Continous</a:t>
                </a:r>
              </a:p>
              <a:p>
                <a:pPr algn="l">
                  <a:lnSpc>
                    <a:spcPts val="4799"/>
                  </a:lnSpc>
                </a:pPr>
                <a:r>
                  <a:rPr lang="en-US" sz="3999">
                    <a:solidFill>
                      <a:srgbClr val="1E293B"/>
                    </a:solidFill>
                    <a:latin typeface="Calibri (MS)"/>
                    <a:ea typeface="Calibri (MS)"/>
                    <a:cs typeface="Calibri (MS)"/>
                    <a:sym typeface="Calibri (MS)"/>
                  </a:rPr>
                  <a:t>          Discrete</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Categorical</a:t>
                </a:r>
              </a:p>
              <a:p>
                <a:pPr algn="l">
                  <a:lnSpc>
                    <a:spcPts val="4799"/>
                  </a:lnSpc>
                </a:pPr>
                <a:r>
                  <a:rPr lang="en-US" sz="3999">
                    <a:solidFill>
                      <a:srgbClr val="1E293B"/>
                    </a:solidFill>
                    <a:latin typeface="Calibri (MS)"/>
                    <a:ea typeface="Calibri (MS)"/>
                    <a:cs typeface="Calibri (MS)"/>
                    <a:sym typeface="Calibri (MS)"/>
                  </a:rPr>
                  <a:t>          Nominal</a:t>
                </a:r>
              </a:p>
              <a:p>
                <a:pPr algn="l">
                  <a:lnSpc>
                    <a:spcPts val="4799"/>
                  </a:lnSpc>
                </a:pPr>
                <a:r>
                  <a:rPr lang="en-US" sz="3999">
                    <a:solidFill>
                      <a:srgbClr val="1E293B"/>
                    </a:solidFill>
                    <a:latin typeface="Calibri (MS)"/>
                    <a:ea typeface="Calibri (MS)"/>
                    <a:cs typeface="Calibri (MS)"/>
                    <a:sym typeface="Calibri (MS)"/>
                  </a:rPr>
                  <a:t>          Ordinal</a:t>
                </a:r>
              </a:p>
              <a:p>
                <a:pPr algn="l">
                  <a:lnSpc>
                    <a:spcPts val="4799"/>
                  </a:lnSpc>
                </a:pP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074706" y="14287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Missing Value?</a:t>
              </a:r>
            </a:p>
          </p:txBody>
        </p:sp>
      </p:grpSp>
      <p:grpSp>
        <p:nvGrpSpPr>
          <p:cNvPr name="Group 5" id="5"/>
          <p:cNvGrpSpPr/>
          <p:nvPr/>
        </p:nvGrpSpPr>
        <p:grpSpPr>
          <a:xfrm rot="0">
            <a:off x="1386532" y="1990293"/>
            <a:ext cx="14928648" cy="1510725"/>
            <a:chOff x="0" y="0"/>
            <a:chExt cx="19904864" cy="2014299"/>
          </a:xfrm>
        </p:grpSpPr>
        <p:sp>
          <p:nvSpPr>
            <p:cNvPr name="Freeform 6" id="6"/>
            <p:cNvSpPr/>
            <p:nvPr/>
          </p:nvSpPr>
          <p:spPr>
            <a:xfrm flipH="false" flipV="false" rot="0">
              <a:off x="0" y="0"/>
              <a:ext cx="19904864" cy="2014299"/>
            </a:xfrm>
            <a:custGeom>
              <a:avLst/>
              <a:gdLst/>
              <a:ahLst/>
              <a:cxnLst/>
              <a:rect r="r" b="b" t="t" l="l"/>
              <a:pathLst>
                <a:path h="2014299" w="19904864">
                  <a:moveTo>
                    <a:pt x="0" y="0"/>
                  </a:moveTo>
                  <a:lnTo>
                    <a:pt x="19904864" y="0"/>
                  </a:lnTo>
                  <a:lnTo>
                    <a:pt x="19904864" y="2014299"/>
                  </a:lnTo>
                  <a:lnTo>
                    <a:pt x="0" y="2014299"/>
                  </a:lnTo>
                  <a:close/>
                </a:path>
              </a:pathLst>
            </a:custGeom>
            <a:blipFill>
              <a:blip r:embed="rId3">
                <a:alphaModFix amt="0"/>
              </a:blip>
              <a:stretch>
                <a:fillRect l="-10690" t="0" r="41533" b="-166319"/>
              </a:stretch>
            </a:blipFill>
          </p:spPr>
        </p:sp>
        <p:sp>
          <p:nvSpPr>
            <p:cNvPr name="TextBox 7" id="7"/>
            <p:cNvSpPr txBox="true"/>
            <p:nvPr/>
          </p:nvSpPr>
          <p:spPr>
            <a:xfrm>
              <a:off x="0" y="-85725"/>
              <a:ext cx="19904864" cy="2100024"/>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absence of data for a specific variable in an observation,  caused by human error, sensor failures, or skipped surveys</a:t>
              </a:r>
            </a:p>
          </p:txBody>
        </p:sp>
      </p:grpSp>
      <p:grpSp>
        <p:nvGrpSpPr>
          <p:cNvPr name="Group 8" id="8"/>
          <p:cNvGrpSpPr/>
          <p:nvPr/>
        </p:nvGrpSpPr>
        <p:grpSpPr>
          <a:xfrm rot="0">
            <a:off x="9421952" y="3951093"/>
            <a:ext cx="7132320" cy="5361161"/>
            <a:chOff x="0" y="0"/>
            <a:chExt cx="9509760" cy="7148215"/>
          </a:xfrm>
        </p:grpSpPr>
        <p:grpSp>
          <p:nvGrpSpPr>
            <p:cNvPr name="Group 9" id="9"/>
            <p:cNvGrpSpPr/>
            <p:nvPr/>
          </p:nvGrpSpPr>
          <p:grpSpPr>
            <a:xfrm rot="0">
              <a:off x="0" y="0"/>
              <a:ext cx="9230536" cy="1359665"/>
              <a:chOff x="0" y="0"/>
              <a:chExt cx="9230536" cy="1359665"/>
            </a:xfrm>
          </p:grpSpPr>
          <p:sp>
            <p:nvSpPr>
              <p:cNvPr name="Freeform 10" id="10"/>
              <p:cNvSpPr/>
              <p:nvPr/>
            </p:nvSpPr>
            <p:spPr>
              <a:xfrm flipH="false" flipV="false" rot="0">
                <a:off x="0" y="0"/>
                <a:ext cx="9230537" cy="1359666"/>
              </a:xfrm>
              <a:custGeom>
                <a:avLst/>
                <a:gdLst/>
                <a:ahLst/>
                <a:cxnLst/>
                <a:rect r="r" b="b" t="t" l="l"/>
                <a:pathLst>
                  <a:path h="1359666" w="9230537">
                    <a:moveTo>
                      <a:pt x="0" y="0"/>
                    </a:moveTo>
                    <a:lnTo>
                      <a:pt x="9230537" y="0"/>
                    </a:lnTo>
                    <a:lnTo>
                      <a:pt x="9230537" y="1359666"/>
                    </a:lnTo>
                    <a:lnTo>
                      <a:pt x="0" y="1359666"/>
                    </a:lnTo>
                    <a:close/>
                  </a:path>
                </a:pathLst>
              </a:custGeom>
              <a:blipFill>
                <a:blip r:embed="rId3">
                  <a:alphaModFix amt="0"/>
                </a:blip>
                <a:stretch>
                  <a:fillRect l="0" t="-260695" r="-137749" b="-268298"/>
                </a:stretch>
              </a:blipFill>
            </p:spPr>
          </p:sp>
          <p:sp>
            <p:nvSpPr>
              <p:cNvPr name="TextBox 11" id="11"/>
              <p:cNvSpPr txBox="true"/>
              <p:nvPr/>
            </p:nvSpPr>
            <p:spPr>
              <a:xfrm>
                <a:off x="0" y="-114300"/>
                <a:ext cx="9230536"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Handle Missing Values</a:t>
                </a:r>
              </a:p>
            </p:txBody>
          </p:sp>
        </p:grpSp>
        <p:grpSp>
          <p:nvGrpSpPr>
            <p:cNvPr name="Group 12" id="12"/>
            <p:cNvGrpSpPr/>
            <p:nvPr/>
          </p:nvGrpSpPr>
          <p:grpSpPr>
            <a:xfrm rot="0">
              <a:off x="0" y="1284585"/>
              <a:ext cx="9509760" cy="5863630"/>
              <a:chOff x="0" y="0"/>
              <a:chExt cx="9509760" cy="5863630"/>
            </a:xfrm>
          </p:grpSpPr>
          <p:sp>
            <p:nvSpPr>
              <p:cNvPr name="Freeform 13" id="13"/>
              <p:cNvSpPr/>
              <p:nvPr/>
            </p:nvSpPr>
            <p:spPr>
              <a:xfrm flipH="false" flipV="false" rot="0">
                <a:off x="0" y="0"/>
                <a:ext cx="9509760" cy="5863629"/>
              </a:xfrm>
              <a:custGeom>
                <a:avLst/>
                <a:gdLst/>
                <a:ahLst/>
                <a:cxnLst/>
                <a:rect r="r" b="b" t="t" l="l"/>
                <a:pathLst>
                  <a:path h="5863629" w="9509760">
                    <a:moveTo>
                      <a:pt x="0" y="0"/>
                    </a:moveTo>
                    <a:lnTo>
                      <a:pt x="9509760" y="0"/>
                    </a:lnTo>
                    <a:lnTo>
                      <a:pt x="9509760" y="5863629"/>
                    </a:lnTo>
                    <a:lnTo>
                      <a:pt x="0" y="5863629"/>
                    </a:lnTo>
                    <a:close/>
                  </a:path>
                </a:pathLst>
              </a:custGeom>
              <a:blipFill>
                <a:blip r:embed="rId3">
                  <a:alphaModFix amt="0"/>
                </a:blip>
                <a:stretch>
                  <a:fillRect l="-22376" t="0" r="-22376" b="8512"/>
                </a:stretch>
              </a:blipFill>
            </p:spPr>
          </p:sp>
          <p:sp>
            <p:nvSpPr>
              <p:cNvPr name="TextBox 14" id="14"/>
              <p:cNvSpPr txBox="true"/>
              <p:nvPr/>
            </p:nvSpPr>
            <p:spPr>
              <a:xfrm>
                <a:off x="0" y="-85725"/>
                <a:ext cx="9509760" cy="5949355"/>
              </a:xfrm>
              <a:prstGeom prst="rect">
                <a:avLst/>
              </a:prstGeom>
            </p:spPr>
            <p:txBody>
              <a:bodyPr anchor="ctr" rtlCol="false" tIns="0" lIns="0" bIns="0" rIns="0"/>
              <a:lstStyle/>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Drop Rows</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Drop Columns</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Mean Imputation</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Median Imputation</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Mode Imputation</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Forward Fill</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ML-Based Imputation</a:t>
                </a:r>
              </a:p>
            </p:txBody>
          </p:sp>
        </p:grpSp>
      </p:grpSp>
      <p:grpSp>
        <p:nvGrpSpPr>
          <p:cNvPr name="Group 15" id="15"/>
          <p:cNvGrpSpPr/>
          <p:nvPr/>
        </p:nvGrpSpPr>
        <p:grpSpPr>
          <a:xfrm rot="0">
            <a:off x="809691" y="3951093"/>
            <a:ext cx="6922902" cy="1019749"/>
            <a:chOff x="0" y="0"/>
            <a:chExt cx="9230536" cy="1359665"/>
          </a:xfrm>
        </p:grpSpPr>
        <p:sp>
          <p:nvSpPr>
            <p:cNvPr name="Freeform 16" id="16"/>
            <p:cNvSpPr/>
            <p:nvPr/>
          </p:nvSpPr>
          <p:spPr>
            <a:xfrm flipH="false" flipV="false" rot="0">
              <a:off x="0" y="0"/>
              <a:ext cx="9230537" cy="1359666"/>
            </a:xfrm>
            <a:custGeom>
              <a:avLst/>
              <a:gdLst/>
              <a:ahLst/>
              <a:cxnLst/>
              <a:rect r="r" b="b" t="t" l="l"/>
              <a:pathLst>
                <a:path h="1359666" w="9230537">
                  <a:moveTo>
                    <a:pt x="0" y="0"/>
                  </a:moveTo>
                  <a:lnTo>
                    <a:pt x="9230537" y="0"/>
                  </a:lnTo>
                  <a:lnTo>
                    <a:pt x="9230537" y="1359666"/>
                  </a:lnTo>
                  <a:lnTo>
                    <a:pt x="0" y="1359666"/>
                  </a:lnTo>
                  <a:close/>
                </a:path>
              </a:pathLst>
            </a:custGeom>
            <a:blipFill>
              <a:blip r:embed="rId3">
                <a:alphaModFix amt="0"/>
              </a:blip>
              <a:stretch>
                <a:fillRect l="0" t="-260695" r="-137749" b="-268298"/>
              </a:stretch>
            </a:blipFill>
          </p:spPr>
        </p:sp>
        <p:sp>
          <p:nvSpPr>
            <p:cNvPr name="TextBox 17" id="17"/>
            <p:cNvSpPr txBox="true"/>
            <p:nvPr/>
          </p:nvSpPr>
          <p:spPr>
            <a:xfrm>
              <a:off x="0" y="-114300"/>
              <a:ext cx="9230536"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Types Of Missing Values</a:t>
              </a:r>
            </a:p>
          </p:txBody>
        </p:sp>
      </p:grpSp>
      <p:grpSp>
        <p:nvGrpSpPr>
          <p:cNvPr name="Group 18" id="18"/>
          <p:cNvGrpSpPr/>
          <p:nvPr/>
        </p:nvGrpSpPr>
        <p:grpSpPr>
          <a:xfrm rot="0">
            <a:off x="1386532" y="5143500"/>
            <a:ext cx="7132320" cy="1997422"/>
            <a:chOff x="0" y="0"/>
            <a:chExt cx="9509760" cy="2663230"/>
          </a:xfrm>
        </p:grpSpPr>
        <p:sp>
          <p:nvSpPr>
            <p:cNvPr name="Freeform 19" id="19"/>
            <p:cNvSpPr/>
            <p:nvPr/>
          </p:nvSpPr>
          <p:spPr>
            <a:xfrm flipH="false" flipV="false" rot="0">
              <a:off x="0" y="0"/>
              <a:ext cx="9509760" cy="2663229"/>
            </a:xfrm>
            <a:custGeom>
              <a:avLst/>
              <a:gdLst/>
              <a:ahLst/>
              <a:cxnLst/>
              <a:rect r="r" b="b" t="t" l="l"/>
              <a:pathLst>
                <a:path h="2663229" w="9509760">
                  <a:moveTo>
                    <a:pt x="0" y="0"/>
                  </a:moveTo>
                  <a:lnTo>
                    <a:pt x="9509760" y="0"/>
                  </a:lnTo>
                  <a:lnTo>
                    <a:pt x="9509760" y="2663229"/>
                  </a:lnTo>
                  <a:lnTo>
                    <a:pt x="0" y="2663229"/>
                  </a:lnTo>
                  <a:close/>
                </a:path>
              </a:pathLst>
            </a:custGeom>
            <a:blipFill>
              <a:blip r:embed="rId3">
                <a:alphaModFix amt="0"/>
              </a:blip>
              <a:stretch>
                <a:fillRect l="-22376" t="0" r="-22376" b="-101427"/>
              </a:stretch>
            </a:blipFill>
          </p:spPr>
        </p:sp>
        <p:sp>
          <p:nvSpPr>
            <p:cNvPr name="TextBox 20" id="20"/>
            <p:cNvSpPr txBox="true"/>
            <p:nvPr/>
          </p:nvSpPr>
          <p:spPr>
            <a:xfrm>
              <a:off x="0" y="-85725"/>
              <a:ext cx="9509760" cy="2748955"/>
            </a:xfrm>
            <a:prstGeom prst="rect">
              <a:avLst/>
            </a:prstGeom>
          </p:spPr>
          <p:txBody>
            <a:bodyPr anchor="ctr" rtlCol="false" tIns="0" lIns="0" bIns="0" rIns="0"/>
            <a:lstStyle/>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MCAR</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MAR</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MNAR</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074706" y="14287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Encod</a:t>
              </a:r>
              <a:r>
                <a:rPr lang="en-US" sz="8000" b="true">
                  <a:solidFill>
                    <a:srgbClr val="1E293B"/>
                  </a:solidFill>
                  <a:latin typeface="Calibri (MS) Bold"/>
                  <a:ea typeface="Calibri (MS) Bold"/>
                  <a:cs typeface="Calibri (MS) Bold"/>
                  <a:sym typeface="Calibri (MS) Bold"/>
                </a:rPr>
                <a:t>ing Categorical Features</a:t>
              </a:r>
            </a:p>
          </p:txBody>
        </p:sp>
      </p:grpSp>
      <p:grpSp>
        <p:nvGrpSpPr>
          <p:cNvPr name="Group 5" id="5"/>
          <p:cNvGrpSpPr/>
          <p:nvPr/>
        </p:nvGrpSpPr>
        <p:grpSpPr>
          <a:xfrm rot="0">
            <a:off x="1386532" y="1953671"/>
            <a:ext cx="15872768" cy="1997422"/>
            <a:chOff x="0" y="0"/>
            <a:chExt cx="21163690" cy="2663230"/>
          </a:xfrm>
        </p:grpSpPr>
        <p:sp>
          <p:nvSpPr>
            <p:cNvPr name="Freeform 6" id="6"/>
            <p:cNvSpPr/>
            <p:nvPr/>
          </p:nvSpPr>
          <p:spPr>
            <a:xfrm flipH="false" flipV="false" rot="0">
              <a:off x="0" y="0"/>
              <a:ext cx="21163690" cy="2663229"/>
            </a:xfrm>
            <a:custGeom>
              <a:avLst/>
              <a:gdLst/>
              <a:ahLst/>
              <a:cxnLst/>
              <a:rect r="r" b="b" t="t" l="l"/>
              <a:pathLst>
                <a:path h="2663229" w="21163690">
                  <a:moveTo>
                    <a:pt x="0" y="0"/>
                  </a:moveTo>
                  <a:lnTo>
                    <a:pt x="21163690" y="0"/>
                  </a:lnTo>
                  <a:lnTo>
                    <a:pt x="21163690" y="2663229"/>
                  </a:lnTo>
                  <a:lnTo>
                    <a:pt x="0" y="2663229"/>
                  </a:lnTo>
                  <a:close/>
                </a:path>
              </a:pathLst>
            </a:custGeom>
            <a:blipFill>
              <a:blip r:embed="rId3">
                <a:alphaModFix amt="0"/>
              </a:blip>
              <a:stretch>
                <a:fillRect l="-10054" t="0" r="45011" b="-101427"/>
              </a:stretch>
            </a:blipFill>
          </p:spPr>
        </p:sp>
        <p:sp>
          <p:nvSpPr>
            <p:cNvPr name="TextBox 7" id="7"/>
            <p:cNvSpPr txBox="true"/>
            <p:nvPr/>
          </p:nvSpPr>
          <p:spPr>
            <a:xfrm>
              <a:off x="0" y="-85725"/>
              <a:ext cx="21163690" cy="27489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Encoding in Machine Learning converts categorical, textual, or non-numerical data into numerical formats (vectors/integers) that algorithms can process</a:t>
              </a:r>
            </a:p>
          </p:txBody>
        </p:sp>
      </p:grpSp>
      <p:grpSp>
        <p:nvGrpSpPr>
          <p:cNvPr name="Group 8" id="8"/>
          <p:cNvGrpSpPr/>
          <p:nvPr/>
        </p:nvGrpSpPr>
        <p:grpSpPr>
          <a:xfrm rot="0">
            <a:off x="1595950" y="4123751"/>
            <a:ext cx="6922902" cy="1019749"/>
            <a:chOff x="0" y="0"/>
            <a:chExt cx="9230536" cy="1359665"/>
          </a:xfrm>
        </p:grpSpPr>
        <p:sp>
          <p:nvSpPr>
            <p:cNvPr name="Freeform 9" id="9"/>
            <p:cNvSpPr/>
            <p:nvPr/>
          </p:nvSpPr>
          <p:spPr>
            <a:xfrm flipH="false" flipV="false" rot="0">
              <a:off x="0" y="0"/>
              <a:ext cx="9230537" cy="1359666"/>
            </a:xfrm>
            <a:custGeom>
              <a:avLst/>
              <a:gdLst/>
              <a:ahLst/>
              <a:cxnLst/>
              <a:rect r="r" b="b" t="t" l="l"/>
              <a:pathLst>
                <a:path h="1359666" w="9230537">
                  <a:moveTo>
                    <a:pt x="0" y="0"/>
                  </a:moveTo>
                  <a:lnTo>
                    <a:pt x="9230537" y="0"/>
                  </a:lnTo>
                  <a:lnTo>
                    <a:pt x="9230537" y="1359666"/>
                  </a:lnTo>
                  <a:lnTo>
                    <a:pt x="0" y="1359666"/>
                  </a:lnTo>
                  <a:close/>
                </a:path>
              </a:pathLst>
            </a:custGeom>
            <a:blipFill>
              <a:blip r:embed="rId3">
                <a:alphaModFix amt="0"/>
              </a:blip>
              <a:stretch>
                <a:fillRect l="0" t="-260695" r="-137749" b="-268298"/>
              </a:stretch>
            </a:blipFill>
          </p:spPr>
        </p:sp>
        <p:sp>
          <p:nvSpPr>
            <p:cNvPr name="TextBox 10" id="10"/>
            <p:cNvSpPr txBox="true"/>
            <p:nvPr/>
          </p:nvSpPr>
          <p:spPr>
            <a:xfrm>
              <a:off x="0" y="-114300"/>
              <a:ext cx="9230536"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Key Encoding Techniques </a:t>
              </a:r>
            </a:p>
          </p:txBody>
        </p:sp>
      </p:grpSp>
      <p:grpSp>
        <p:nvGrpSpPr>
          <p:cNvPr name="Group 11" id="11"/>
          <p:cNvGrpSpPr/>
          <p:nvPr/>
        </p:nvGrpSpPr>
        <p:grpSpPr>
          <a:xfrm rot="0">
            <a:off x="2190596" y="5353050"/>
            <a:ext cx="7132320" cy="2597497"/>
            <a:chOff x="0" y="0"/>
            <a:chExt cx="9509760" cy="3463330"/>
          </a:xfrm>
        </p:grpSpPr>
        <p:sp>
          <p:nvSpPr>
            <p:cNvPr name="Freeform 12" id="12"/>
            <p:cNvSpPr/>
            <p:nvPr/>
          </p:nvSpPr>
          <p:spPr>
            <a:xfrm flipH="false" flipV="false" rot="0">
              <a:off x="0" y="0"/>
              <a:ext cx="9509760" cy="3463329"/>
            </a:xfrm>
            <a:custGeom>
              <a:avLst/>
              <a:gdLst/>
              <a:ahLst/>
              <a:cxnLst/>
              <a:rect r="r" b="b" t="t" l="l"/>
              <a:pathLst>
                <a:path h="3463329" w="9509760">
                  <a:moveTo>
                    <a:pt x="0" y="0"/>
                  </a:moveTo>
                  <a:lnTo>
                    <a:pt x="9509760" y="0"/>
                  </a:lnTo>
                  <a:lnTo>
                    <a:pt x="9509760" y="3463329"/>
                  </a:lnTo>
                  <a:lnTo>
                    <a:pt x="0" y="3463329"/>
                  </a:lnTo>
                  <a:close/>
                </a:path>
              </a:pathLst>
            </a:custGeom>
            <a:blipFill>
              <a:blip r:embed="rId3">
                <a:alphaModFix amt="0"/>
              </a:blip>
              <a:stretch>
                <a:fillRect l="-22376" t="0" r="-22376" b="-54893"/>
              </a:stretch>
            </a:blipFill>
          </p:spPr>
        </p:sp>
        <p:sp>
          <p:nvSpPr>
            <p:cNvPr name="TextBox 13" id="13"/>
            <p:cNvSpPr txBox="true"/>
            <p:nvPr/>
          </p:nvSpPr>
          <p:spPr>
            <a:xfrm>
              <a:off x="0" y="-85725"/>
              <a:ext cx="9509760" cy="3549055"/>
            </a:xfrm>
            <a:prstGeom prst="rect">
              <a:avLst/>
            </a:prstGeom>
          </p:spPr>
          <p:txBody>
            <a:bodyPr anchor="ctr" rtlCol="false" tIns="0" lIns="0" bIns="0" rIns="0"/>
            <a:lstStyle/>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Label Encoding</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One-Hot Encoding</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Ordinal Encoding</a:t>
              </a:r>
            </a:p>
            <a:p>
              <a:pPr algn="l">
                <a:lnSpc>
                  <a:spcPts val="479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Key</a:t>
              </a:r>
              <a:r>
                <a:rPr lang="en-US" sz="8000" b="true">
                  <a:solidFill>
                    <a:srgbClr val="1E293B"/>
                  </a:solidFill>
                  <a:latin typeface="Calibri (MS) Bold"/>
                  <a:ea typeface="Calibri (MS) Bold"/>
                  <a:cs typeface="Calibri (MS) Bold"/>
                  <a:sym typeface="Calibri (MS) Bold"/>
                </a:rPr>
                <a:t> Encoding Techniques </a:t>
              </a:r>
            </a:p>
          </p:txBody>
        </p:sp>
      </p:grpSp>
      <p:grpSp>
        <p:nvGrpSpPr>
          <p:cNvPr name="Group 5" id="5"/>
          <p:cNvGrpSpPr/>
          <p:nvPr/>
        </p:nvGrpSpPr>
        <p:grpSpPr>
          <a:xfrm rot="0">
            <a:off x="782067" y="2476591"/>
            <a:ext cx="8973893" cy="1200670"/>
            <a:chOff x="0" y="0"/>
            <a:chExt cx="11965190" cy="1600893"/>
          </a:xfrm>
        </p:grpSpPr>
        <p:sp>
          <p:nvSpPr>
            <p:cNvPr name="Freeform 6" id="6"/>
            <p:cNvSpPr/>
            <p:nvPr/>
          </p:nvSpPr>
          <p:spPr>
            <a:xfrm flipH="false" flipV="false" rot="0">
              <a:off x="0" y="0"/>
              <a:ext cx="11965191" cy="1600893"/>
            </a:xfrm>
            <a:custGeom>
              <a:avLst/>
              <a:gdLst/>
              <a:ahLst/>
              <a:cxnLst/>
              <a:rect r="r" b="b" t="t" l="l"/>
              <a:pathLst>
                <a:path h="1600893" w="11965191">
                  <a:moveTo>
                    <a:pt x="0" y="0"/>
                  </a:moveTo>
                  <a:lnTo>
                    <a:pt x="11965191" y="0"/>
                  </a:lnTo>
                  <a:lnTo>
                    <a:pt x="11965191" y="1600893"/>
                  </a:lnTo>
                  <a:lnTo>
                    <a:pt x="0" y="1600893"/>
                  </a:lnTo>
                  <a:close/>
                </a:path>
              </a:pathLst>
            </a:custGeom>
            <a:blipFill>
              <a:blip r:embed="rId3">
                <a:alphaModFix amt="0"/>
              </a:blip>
              <a:stretch>
                <a:fillRect l="0" t="-221413" r="-83412" b="-212802"/>
              </a:stretch>
            </a:blipFill>
          </p:spPr>
        </p:sp>
        <p:sp>
          <p:nvSpPr>
            <p:cNvPr name="TextBox 7" id="7"/>
            <p:cNvSpPr txBox="true"/>
            <p:nvPr/>
          </p:nvSpPr>
          <p:spPr>
            <a:xfrm>
              <a:off x="0" y="-133350"/>
              <a:ext cx="11965190" cy="1734243"/>
            </a:xfrm>
            <a:prstGeom prst="rect">
              <a:avLst/>
            </a:prstGeom>
          </p:spPr>
          <p:txBody>
            <a:bodyPr anchor="ctr" rtlCol="false" tIns="0" lIns="0" bIns="0" rIns="0"/>
            <a:lstStyle/>
            <a:p>
              <a:pPr algn="l">
                <a:lnSpc>
                  <a:spcPts val="7199"/>
                </a:lnSpc>
              </a:pPr>
              <a:r>
                <a:rPr lang="en-US" sz="5999" b="true">
                  <a:solidFill>
                    <a:srgbClr val="1E293B"/>
                  </a:solidFill>
                  <a:latin typeface="Calibri (MS) Bold"/>
                  <a:ea typeface="Calibri (MS) Bold"/>
                  <a:cs typeface="Calibri (MS) Bold"/>
                  <a:sym typeface="Calibri (MS) Bold"/>
                </a:rPr>
                <a:t>Label Encoding</a:t>
              </a:r>
            </a:p>
          </p:txBody>
        </p:sp>
      </p:grpSp>
      <p:grpSp>
        <p:nvGrpSpPr>
          <p:cNvPr name="Group 8" id="8"/>
          <p:cNvGrpSpPr/>
          <p:nvPr/>
        </p:nvGrpSpPr>
        <p:grpSpPr>
          <a:xfrm rot="0">
            <a:off x="782067" y="3677261"/>
            <a:ext cx="8973893" cy="5513820"/>
            <a:chOff x="0" y="0"/>
            <a:chExt cx="11965190" cy="7351760"/>
          </a:xfrm>
        </p:grpSpPr>
        <p:sp>
          <p:nvSpPr>
            <p:cNvPr name="Freeform 9" id="9"/>
            <p:cNvSpPr/>
            <p:nvPr/>
          </p:nvSpPr>
          <p:spPr>
            <a:xfrm flipH="false" flipV="false" rot="0">
              <a:off x="0" y="0"/>
              <a:ext cx="11965191" cy="7351761"/>
            </a:xfrm>
            <a:custGeom>
              <a:avLst/>
              <a:gdLst/>
              <a:ahLst/>
              <a:cxnLst/>
              <a:rect r="r" b="b" t="t" l="l"/>
              <a:pathLst>
                <a:path h="7351761" w="11965191">
                  <a:moveTo>
                    <a:pt x="0" y="0"/>
                  </a:moveTo>
                  <a:lnTo>
                    <a:pt x="11965191" y="0"/>
                  </a:lnTo>
                  <a:lnTo>
                    <a:pt x="11965191" y="7351761"/>
                  </a:lnTo>
                  <a:lnTo>
                    <a:pt x="0" y="7351761"/>
                  </a:lnTo>
                  <a:close/>
                </a:path>
              </a:pathLst>
            </a:custGeom>
            <a:blipFill>
              <a:blip r:embed="rId3">
                <a:alphaModFix amt="0"/>
              </a:blip>
              <a:stretch>
                <a:fillRect l="-17784" t="0" r="2737" b="27031"/>
              </a:stretch>
            </a:blipFill>
          </p:spPr>
        </p:sp>
        <p:sp>
          <p:nvSpPr>
            <p:cNvPr name="TextBox 10" id="10"/>
            <p:cNvSpPr txBox="true"/>
            <p:nvPr/>
          </p:nvSpPr>
          <p:spPr>
            <a:xfrm>
              <a:off x="0" y="-104775"/>
              <a:ext cx="11965190" cy="7456535"/>
            </a:xfrm>
            <a:prstGeom prst="rect">
              <a:avLst/>
            </a:prstGeom>
          </p:spPr>
          <p:txBody>
            <a:bodyPr anchor="ctr" rtlCol="false" tIns="0" lIns="0" bIns="0" rIns="0"/>
            <a:lstStyle/>
            <a:p>
              <a:pPr algn="l" marL="1079494" indent="-539747" lvl="1">
                <a:lnSpc>
                  <a:spcPts val="5999"/>
                </a:lnSpc>
                <a:buFont typeface="Arial"/>
                <a:buChar char="•"/>
              </a:pPr>
              <a:r>
                <a:rPr lang="en-US" sz="4999">
                  <a:solidFill>
                    <a:srgbClr val="1E293B"/>
                  </a:solidFill>
                  <a:latin typeface="Calibri (MS)"/>
                  <a:ea typeface="Calibri (MS)"/>
                  <a:cs typeface="Calibri (MS)"/>
                  <a:sym typeface="Calibri (MS)"/>
                </a:rPr>
                <a:t>Label Encoding replaces each unique category with a whole number.</a:t>
              </a:r>
            </a:p>
            <a:p>
              <a:pPr algn="l" marL="1079494" indent="-539747" lvl="1">
                <a:lnSpc>
                  <a:spcPts val="5999"/>
                </a:lnSpc>
                <a:buFont typeface="Arial"/>
                <a:buChar char="•"/>
              </a:pPr>
              <a:r>
                <a:rPr lang="en-US" sz="4999">
                  <a:solidFill>
                    <a:srgbClr val="1E293B"/>
                  </a:solidFill>
                  <a:latin typeface="Calibri (MS)"/>
                  <a:ea typeface="Calibri (MS)"/>
                  <a:cs typeface="Calibri (MS)"/>
                  <a:sym typeface="Calibri (MS)"/>
                </a:rPr>
                <a:t>Label Encoding assigns a number to each category alphabetically.</a:t>
              </a:r>
            </a:p>
            <a:p>
              <a:pPr algn="l">
                <a:lnSpc>
                  <a:spcPts val="5999"/>
                </a:lnSpc>
              </a:pPr>
            </a:p>
          </p:txBody>
        </p:sp>
      </p:grpSp>
      <p:grpSp>
        <p:nvGrpSpPr>
          <p:cNvPr name="Group 11" id="11"/>
          <p:cNvGrpSpPr/>
          <p:nvPr/>
        </p:nvGrpSpPr>
        <p:grpSpPr>
          <a:xfrm rot="0">
            <a:off x="10519410" y="3677261"/>
            <a:ext cx="10437665" cy="7839995"/>
            <a:chOff x="0" y="0"/>
            <a:chExt cx="13916886" cy="10453327"/>
          </a:xfrm>
        </p:grpSpPr>
        <p:grpSp>
          <p:nvGrpSpPr>
            <p:cNvPr name="Group 12" id="12"/>
            <p:cNvGrpSpPr/>
            <p:nvPr/>
          </p:nvGrpSpPr>
          <p:grpSpPr>
            <a:xfrm rot="0">
              <a:off x="0" y="0"/>
              <a:ext cx="12260684" cy="10453327"/>
              <a:chOff x="0" y="0"/>
              <a:chExt cx="12260684" cy="10453327"/>
            </a:xfrm>
          </p:grpSpPr>
          <p:sp>
            <p:nvSpPr>
              <p:cNvPr name="Freeform 13" id="13"/>
              <p:cNvSpPr/>
              <p:nvPr/>
            </p:nvSpPr>
            <p:spPr>
              <a:xfrm flipH="false" flipV="false" rot="0">
                <a:off x="0" y="0"/>
                <a:ext cx="12260684" cy="10453328"/>
              </a:xfrm>
              <a:custGeom>
                <a:avLst/>
                <a:gdLst/>
                <a:ahLst/>
                <a:cxnLst/>
                <a:rect r="r" b="b" t="t" l="l"/>
                <a:pathLst>
                  <a:path h="10453328" w="12260684">
                    <a:moveTo>
                      <a:pt x="0" y="0"/>
                    </a:moveTo>
                    <a:lnTo>
                      <a:pt x="12260684" y="0"/>
                    </a:lnTo>
                    <a:lnTo>
                      <a:pt x="12260684" y="10453328"/>
                    </a:lnTo>
                    <a:lnTo>
                      <a:pt x="0" y="10453328"/>
                    </a:lnTo>
                    <a:close/>
                  </a:path>
                </a:pathLst>
              </a:custGeom>
              <a:solidFill>
                <a:srgbClr val="4285F4"/>
              </a:solidFill>
            </p:spPr>
          </p:sp>
        </p:grpSp>
        <p:sp>
          <p:nvSpPr>
            <p:cNvPr name="TextBox 14" id="14"/>
            <p:cNvSpPr txBox="true"/>
            <p:nvPr/>
          </p:nvSpPr>
          <p:spPr>
            <a:xfrm rot="0">
              <a:off x="372721" y="195994"/>
              <a:ext cx="13544166" cy="88868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from sklearn.preprocessing</a:t>
              </a:r>
            </a:p>
            <a:p>
              <a:pPr algn="just">
                <a:lnSpc>
                  <a:spcPts val="4799"/>
                </a:lnSpc>
              </a:pPr>
              <a:r>
                <a:rPr lang="en-US" sz="3999">
                  <a:solidFill>
                    <a:srgbClr val="000000"/>
                  </a:solidFill>
                  <a:latin typeface="Calibri (MS)"/>
                  <a:ea typeface="Calibri (MS)"/>
                  <a:cs typeface="Calibri (MS)"/>
                  <a:sym typeface="Calibri (MS)"/>
                </a:rPr>
                <a:t> import LabelEncoder</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le = LabelEncoder()</a:t>
              </a:r>
            </a:p>
            <a:p>
              <a:pPr algn="just">
                <a:lnSpc>
                  <a:spcPts val="4799"/>
                </a:lnSpc>
                <a:spcBef>
                  <a:spcPct val="0"/>
                </a:spcBef>
              </a:pPr>
              <a:r>
                <a:rPr lang="en-US" sz="3999">
                  <a:solidFill>
                    <a:srgbClr val="000000"/>
                  </a:solidFill>
                  <a:latin typeface="Calibri (MS)"/>
                  <a:ea typeface="Calibri (MS)"/>
                  <a:cs typeface="Calibri (MS)"/>
                  <a:sym typeface="Calibri (MS)"/>
                </a:rPr>
                <a:t>df['Educ</a:t>
              </a:r>
              <a:r>
                <a:rPr lang="en-US" sz="3999">
                  <a:solidFill>
                    <a:srgbClr val="000000"/>
                  </a:solidFill>
                  <a:latin typeface="Calibri (MS)"/>
                  <a:ea typeface="Calibri (MS)"/>
                  <a:cs typeface="Calibri (MS)"/>
                  <a:sym typeface="Calibri (MS)"/>
                </a:rPr>
                <a:t>ation_Encoded'] = </a:t>
              </a:r>
            </a:p>
            <a:p>
              <a:pPr algn="just">
                <a:lnSpc>
                  <a:spcPts val="4799"/>
                </a:lnSpc>
                <a:spcBef>
                  <a:spcPct val="0"/>
                </a:spcBef>
              </a:pPr>
              <a:r>
                <a:rPr lang="en-US" sz="3999">
                  <a:solidFill>
                    <a:srgbClr val="000000"/>
                  </a:solidFill>
                  <a:latin typeface="Calibri (MS)"/>
                  <a:ea typeface="Calibri (MS)"/>
                  <a:cs typeface="Calibri (MS)"/>
                  <a:sym typeface="Calibri (MS)"/>
                </a:rPr>
                <a:t>le.fit_transform</a:t>
              </a:r>
            </a:p>
            <a:p>
              <a:pPr algn="just">
                <a:lnSpc>
                  <a:spcPts val="4799"/>
                </a:lnSpc>
                <a:spcBef>
                  <a:spcPct val="0"/>
                </a:spcBef>
              </a:pPr>
              <a:r>
                <a:rPr lang="en-US" sz="3999">
                  <a:solidFill>
                    <a:srgbClr val="000000"/>
                  </a:solidFill>
                  <a:latin typeface="Calibri (MS)"/>
                  <a:ea typeface="Calibri (MS)"/>
                  <a:cs typeface="Calibri (MS)"/>
                  <a:sym typeface="Calibri (MS)"/>
                </a:rPr>
                <a:t>(df['Education'])</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a:t>
              </a:r>
            </a:p>
            <a:p>
              <a:pPr algn="just">
                <a:lnSpc>
                  <a:spcPts val="4799"/>
                </a:lnSpc>
                <a:spcBef>
                  <a:spcPct val="0"/>
                </a:spcBef>
              </a:pPr>
            </a:p>
            <a:p>
              <a:pPr algn="just">
                <a:lnSpc>
                  <a:spcPts val="4799"/>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Key</a:t>
              </a:r>
              <a:r>
                <a:rPr lang="en-US" sz="8000" b="true">
                  <a:solidFill>
                    <a:srgbClr val="1E293B"/>
                  </a:solidFill>
                  <a:latin typeface="Calibri (MS) Bold"/>
                  <a:ea typeface="Calibri (MS) Bold"/>
                  <a:cs typeface="Calibri (MS) Bold"/>
                  <a:sym typeface="Calibri (MS) Bold"/>
                </a:rPr>
                <a:t> Encoding Techniques </a:t>
              </a:r>
            </a:p>
          </p:txBody>
        </p:sp>
      </p:grpSp>
      <p:grpSp>
        <p:nvGrpSpPr>
          <p:cNvPr name="Group 5" id="5"/>
          <p:cNvGrpSpPr/>
          <p:nvPr/>
        </p:nvGrpSpPr>
        <p:grpSpPr>
          <a:xfrm rot="0">
            <a:off x="622176" y="2352821"/>
            <a:ext cx="8973893" cy="1200670"/>
            <a:chOff x="0" y="0"/>
            <a:chExt cx="11965190" cy="1600893"/>
          </a:xfrm>
        </p:grpSpPr>
        <p:sp>
          <p:nvSpPr>
            <p:cNvPr name="Freeform 6" id="6"/>
            <p:cNvSpPr/>
            <p:nvPr/>
          </p:nvSpPr>
          <p:spPr>
            <a:xfrm flipH="false" flipV="false" rot="0">
              <a:off x="0" y="0"/>
              <a:ext cx="11965191" cy="1600893"/>
            </a:xfrm>
            <a:custGeom>
              <a:avLst/>
              <a:gdLst/>
              <a:ahLst/>
              <a:cxnLst/>
              <a:rect r="r" b="b" t="t" l="l"/>
              <a:pathLst>
                <a:path h="1600893" w="11965191">
                  <a:moveTo>
                    <a:pt x="0" y="0"/>
                  </a:moveTo>
                  <a:lnTo>
                    <a:pt x="11965191" y="0"/>
                  </a:lnTo>
                  <a:lnTo>
                    <a:pt x="11965191" y="1600893"/>
                  </a:lnTo>
                  <a:lnTo>
                    <a:pt x="0" y="1600893"/>
                  </a:lnTo>
                  <a:close/>
                </a:path>
              </a:pathLst>
            </a:custGeom>
            <a:blipFill>
              <a:blip r:embed="rId3">
                <a:alphaModFix amt="0"/>
              </a:blip>
              <a:stretch>
                <a:fillRect l="0" t="-221413" r="-83412" b="-212802"/>
              </a:stretch>
            </a:blipFill>
          </p:spPr>
        </p:sp>
        <p:sp>
          <p:nvSpPr>
            <p:cNvPr name="TextBox 7" id="7"/>
            <p:cNvSpPr txBox="true"/>
            <p:nvPr/>
          </p:nvSpPr>
          <p:spPr>
            <a:xfrm>
              <a:off x="0" y="-133350"/>
              <a:ext cx="11965190" cy="1734243"/>
            </a:xfrm>
            <a:prstGeom prst="rect">
              <a:avLst/>
            </a:prstGeom>
          </p:spPr>
          <p:txBody>
            <a:bodyPr anchor="ctr" rtlCol="false" tIns="0" lIns="0" bIns="0" rIns="0"/>
            <a:lstStyle/>
            <a:p>
              <a:pPr algn="l">
                <a:lnSpc>
                  <a:spcPts val="7199"/>
                </a:lnSpc>
              </a:pPr>
              <a:r>
                <a:rPr lang="en-US" sz="5999" b="true">
                  <a:solidFill>
                    <a:srgbClr val="1E293B"/>
                  </a:solidFill>
                  <a:latin typeface="Calibri (MS) Bold"/>
                  <a:ea typeface="Calibri (MS) Bold"/>
                  <a:cs typeface="Calibri (MS) Bold"/>
                  <a:sym typeface="Calibri (MS) Bold"/>
                </a:rPr>
                <a:t>Ordinal Encoding</a:t>
              </a:r>
            </a:p>
          </p:txBody>
        </p:sp>
      </p:grpSp>
      <p:grpSp>
        <p:nvGrpSpPr>
          <p:cNvPr name="Group 8" id="8"/>
          <p:cNvGrpSpPr/>
          <p:nvPr/>
        </p:nvGrpSpPr>
        <p:grpSpPr>
          <a:xfrm rot="0">
            <a:off x="170107" y="3677261"/>
            <a:ext cx="8973893" cy="6266295"/>
            <a:chOff x="0" y="0"/>
            <a:chExt cx="11965190" cy="8355060"/>
          </a:xfrm>
        </p:grpSpPr>
        <p:sp>
          <p:nvSpPr>
            <p:cNvPr name="Freeform 9" id="9"/>
            <p:cNvSpPr/>
            <p:nvPr/>
          </p:nvSpPr>
          <p:spPr>
            <a:xfrm flipH="false" flipV="false" rot="0">
              <a:off x="0" y="0"/>
              <a:ext cx="11965191" cy="8355061"/>
            </a:xfrm>
            <a:custGeom>
              <a:avLst/>
              <a:gdLst/>
              <a:ahLst/>
              <a:cxnLst/>
              <a:rect r="r" b="b" t="t" l="l"/>
              <a:pathLst>
                <a:path h="8355061" w="11965191">
                  <a:moveTo>
                    <a:pt x="0" y="0"/>
                  </a:moveTo>
                  <a:lnTo>
                    <a:pt x="11965191" y="0"/>
                  </a:lnTo>
                  <a:lnTo>
                    <a:pt x="11965191" y="8355061"/>
                  </a:lnTo>
                  <a:lnTo>
                    <a:pt x="0" y="8355061"/>
                  </a:lnTo>
                  <a:close/>
                </a:path>
              </a:pathLst>
            </a:custGeom>
            <a:blipFill>
              <a:blip r:embed="rId3">
                <a:alphaModFix amt="0"/>
              </a:blip>
              <a:stretch>
                <a:fillRect l="-17784" t="0" r="2737" b="35793"/>
              </a:stretch>
            </a:blipFill>
          </p:spPr>
        </p:sp>
        <p:sp>
          <p:nvSpPr>
            <p:cNvPr name="TextBox 10" id="10"/>
            <p:cNvSpPr txBox="true"/>
            <p:nvPr/>
          </p:nvSpPr>
          <p:spPr>
            <a:xfrm>
              <a:off x="0" y="-104775"/>
              <a:ext cx="11965190" cy="8459835"/>
            </a:xfrm>
            <a:prstGeom prst="rect">
              <a:avLst/>
            </a:prstGeom>
          </p:spPr>
          <p:txBody>
            <a:bodyPr anchor="ctr" rtlCol="false" tIns="0" lIns="0" bIns="0" rIns="0"/>
            <a:lstStyle/>
            <a:p>
              <a:pPr algn="l" marL="1079494" indent="-539747" lvl="1">
                <a:lnSpc>
                  <a:spcPts val="5999"/>
                </a:lnSpc>
                <a:buFont typeface="Arial"/>
                <a:buChar char="•"/>
              </a:pPr>
              <a:r>
                <a:rPr lang="en-US" sz="4999">
                  <a:solidFill>
                    <a:srgbClr val="1E293B"/>
                  </a:solidFill>
                  <a:latin typeface="Calibri (MS)"/>
                  <a:ea typeface="Calibri (MS)"/>
                  <a:cs typeface="Calibri (MS)"/>
                  <a:sym typeface="Calibri (MS)"/>
                </a:rPr>
                <a:t>Ordinal Encoding is similar to Label Encoding but specifically designed for ordered categories.</a:t>
              </a:r>
            </a:p>
            <a:p>
              <a:pPr algn="l" marL="1079494" indent="-539747" lvl="1">
                <a:lnSpc>
                  <a:spcPts val="5999"/>
                </a:lnSpc>
                <a:buFont typeface="Arial"/>
                <a:buChar char="•"/>
              </a:pPr>
              <a:r>
                <a:rPr lang="en-US" sz="4999">
                  <a:solidFill>
                    <a:srgbClr val="1E293B"/>
                  </a:solidFill>
                  <a:latin typeface="Calibri (MS)"/>
                  <a:ea typeface="Calibri (MS)"/>
                  <a:cs typeface="Calibri (MS)"/>
                  <a:sym typeface="Calibri (MS)"/>
                </a:rPr>
                <a:t>Ordinal Encoding let us decide the order.</a:t>
              </a:r>
            </a:p>
            <a:p>
              <a:pPr algn="l">
                <a:lnSpc>
                  <a:spcPts val="5999"/>
                </a:lnSpc>
              </a:pPr>
            </a:p>
            <a:p>
              <a:pPr algn="l">
                <a:lnSpc>
                  <a:spcPts val="5999"/>
                </a:lnSpc>
              </a:pPr>
            </a:p>
          </p:txBody>
        </p:sp>
      </p:grpSp>
      <p:grpSp>
        <p:nvGrpSpPr>
          <p:cNvPr name="Group 11" id="11"/>
          <p:cNvGrpSpPr/>
          <p:nvPr/>
        </p:nvGrpSpPr>
        <p:grpSpPr>
          <a:xfrm rot="0">
            <a:off x="9596068" y="3553490"/>
            <a:ext cx="9032208" cy="6812114"/>
            <a:chOff x="0" y="0"/>
            <a:chExt cx="12042944" cy="9082819"/>
          </a:xfrm>
        </p:grpSpPr>
        <p:grpSp>
          <p:nvGrpSpPr>
            <p:cNvPr name="Group 12" id="12"/>
            <p:cNvGrpSpPr/>
            <p:nvPr/>
          </p:nvGrpSpPr>
          <p:grpSpPr>
            <a:xfrm rot="0">
              <a:off x="0" y="0"/>
              <a:ext cx="12042944" cy="8282719"/>
              <a:chOff x="0" y="0"/>
              <a:chExt cx="12042944" cy="8282719"/>
            </a:xfrm>
          </p:grpSpPr>
          <p:sp>
            <p:nvSpPr>
              <p:cNvPr name="Freeform 13" id="13"/>
              <p:cNvSpPr/>
              <p:nvPr/>
            </p:nvSpPr>
            <p:spPr>
              <a:xfrm flipH="false" flipV="false" rot="0">
                <a:off x="0" y="0"/>
                <a:ext cx="12042944" cy="8282719"/>
              </a:xfrm>
              <a:custGeom>
                <a:avLst/>
                <a:gdLst/>
                <a:ahLst/>
                <a:cxnLst/>
                <a:rect r="r" b="b" t="t" l="l"/>
                <a:pathLst>
                  <a:path h="8282719" w="12042944">
                    <a:moveTo>
                      <a:pt x="0" y="0"/>
                    </a:moveTo>
                    <a:lnTo>
                      <a:pt x="12042944" y="0"/>
                    </a:lnTo>
                    <a:lnTo>
                      <a:pt x="12042944" y="8282719"/>
                    </a:lnTo>
                    <a:lnTo>
                      <a:pt x="0" y="8282719"/>
                    </a:lnTo>
                    <a:close/>
                  </a:path>
                </a:pathLst>
              </a:custGeom>
              <a:solidFill>
                <a:srgbClr val="4285F4"/>
              </a:solidFill>
            </p:spPr>
          </p:sp>
        </p:grpSp>
        <p:sp>
          <p:nvSpPr>
            <p:cNvPr name="TextBox 14" id="14"/>
            <p:cNvSpPr txBox="true"/>
            <p:nvPr/>
          </p:nvSpPr>
          <p:spPr>
            <a:xfrm rot="0">
              <a:off x="366101" y="195994"/>
              <a:ext cx="11038856" cy="88868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from sklearn.preprocessing import OrdinalEncoder</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encoder = OrdinalEncoder(categories=[['Matric', 'Bachelors', 'Masters', 'PhD']])</a:t>
              </a:r>
            </a:p>
            <a:p>
              <a:pPr algn="just">
                <a:lnSpc>
                  <a:spcPts val="4799"/>
                </a:lnSpc>
                <a:spcBef>
                  <a:spcPct val="0"/>
                </a:spcBef>
              </a:pPr>
              <a:r>
                <a:rPr lang="en-US" sz="3999">
                  <a:solidFill>
                    <a:srgbClr val="000000"/>
                  </a:solidFill>
                  <a:latin typeface="Calibri (MS)"/>
                  <a:ea typeface="Calibri (MS)"/>
                  <a:cs typeface="Calibri (MS)"/>
                  <a:sym typeface="Calibri (MS)"/>
                </a:rPr>
                <a:t>df['Educ</a:t>
              </a:r>
              <a:r>
                <a:rPr lang="en-US" sz="3999">
                  <a:solidFill>
                    <a:srgbClr val="000000"/>
                  </a:solidFill>
                  <a:latin typeface="Calibri (MS)"/>
                  <a:ea typeface="Calibri (MS)"/>
                  <a:cs typeface="Calibri (MS)"/>
                  <a:sym typeface="Calibri (MS)"/>
                </a:rPr>
                <a:t>ation_Encoded'] = encoder.fit_transform(df[['Education']])</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a:t>
              </a:r>
            </a:p>
            <a:p>
              <a:pPr algn="just">
                <a:lnSpc>
                  <a:spcPts val="4799"/>
                </a:lnSpc>
                <a:spcBef>
                  <a:spcPct val="0"/>
                </a:spcBef>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Key</a:t>
              </a:r>
              <a:r>
                <a:rPr lang="en-US" sz="8000" b="true">
                  <a:solidFill>
                    <a:srgbClr val="1E293B"/>
                  </a:solidFill>
                  <a:latin typeface="Calibri (MS) Bold"/>
                  <a:ea typeface="Calibri (MS) Bold"/>
                  <a:cs typeface="Calibri (MS) Bold"/>
                  <a:sym typeface="Calibri (MS) Bold"/>
                </a:rPr>
                <a:t> Encoding Techniques </a:t>
              </a:r>
            </a:p>
          </p:txBody>
        </p:sp>
      </p:grpSp>
      <p:grpSp>
        <p:nvGrpSpPr>
          <p:cNvPr name="Group 5" id="5"/>
          <p:cNvGrpSpPr/>
          <p:nvPr/>
        </p:nvGrpSpPr>
        <p:grpSpPr>
          <a:xfrm rot="0">
            <a:off x="439595" y="2321675"/>
            <a:ext cx="8973893" cy="1200670"/>
            <a:chOff x="0" y="0"/>
            <a:chExt cx="11965190" cy="1600893"/>
          </a:xfrm>
        </p:grpSpPr>
        <p:sp>
          <p:nvSpPr>
            <p:cNvPr name="Freeform 6" id="6"/>
            <p:cNvSpPr/>
            <p:nvPr/>
          </p:nvSpPr>
          <p:spPr>
            <a:xfrm flipH="false" flipV="false" rot="0">
              <a:off x="0" y="0"/>
              <a:ext cx="11965191" cy="1600893"/>
            </a:xfrm>
            <a:custGeom>
              <a:avLst/>
              <a:gdLst/>
              <a:ahLst/>
              <a:cxnLst/>
              <a:rect r="r" b="b" t="t" l="l"/>
              <a:pathLst>
                <a:path h="1600893" w="11965191">
                  <a:moveTo>
                    <a:pt x="0" y="0"/>
                  </a:moveTo>
                  <a:lnTo>
                    <a:pt x="11965191" y="0"/>
                  </a:lnTo>
                  <a:lnTo>
                    <a:pt x="11965191" y="1600893"/>
                  </a:lnTo>
                  <a:lnTo>
                    <a:pt x="0" y="1600893"/>
                  </a:lnTo>
                  <a:close/>
                </a:path>
              </a:pathLst>
            </a:custGeom>
            <a:blipFill>
              <a:blip r:embed="rId3">
                <a:alphaModFix amt="0"/>
              </a:blip>
              <a:stretch>
                <a:fillRect l="0" t="-221413" r="-83412" b="-212802"/>
              </a:stretch>
            </a:blipFill>
          </p:spPr>
        </p:sp>
        <p:sp>
          <p:nvSpPr>
            <p:cNvPr name="TextBox 7" id="7"/>
            <p:cNvSpPr txBox="true"/>
            <p:nvPr/>
          </p:nvSpPr>
          <p:spPr>
            <a:xfrm>
              <a:off x="0" y="-133350"/>
              <a:ext cx="11965190" cy="1734243"/>
            </a:xfrm>
            <a:prstGeom prst="rect">
              <a:avLst/>
            </a:prstGeom>
          </p:spPr>
          <p:txBody>
            <a:bodyPr anchor="ctr" rtlCol="false" tIns="0" lIns="0" bIns="0" rIns="0"/>
            <a:lstStyle/>
            <a:p>
              <a:pPr algn="l">
                <a:lnSpc>
                  <a:spcPts val="7199"/>
                </a:lnSpc>
              </a:pPr>
              <a:r>
                <a:rPr lang="en-US" sz="5999" b="true">
                  <a:solidFill>
                    <a:srgbClr val="1E293B"/>
                  </a:solidFill>
                  <a:latin typeface="Calibri (MS) Bold"/>
                  <a:ea typeface="Calibri (MS) Bold"/>
                  <a:cs typeface="Calibri (MS) Bold"/>
                  <a:sym typeface="Calibri (MS) Bold"/>
                </a:rPr>
                <a:t>One Hot Encoding</a:t>
              </a:r>
            </a:p>
          </p:txBody>
        </p:sp>
      </p:grpSp>
      <p:grpSp>
        <p:nvGrpSpPr>
          <p:cNvPr name="Group 8" id="8"/>
          <p:cNvGrpSpPr/>
          <p:nvPr/>
        </p:nvGrpSpPr>
        <p:grpSpPr>
          <a:xfrm rot="0">
            <a:off x="439595" y="3522345"/>
            <a:ext cx="8973893" cy="5597872"/>
            <a:chOff x="0" y="0"/>
            <a:chExt cx="11965190" cy="7463830"/>
          </a:xfrm>
        </p:grpSpPr>
        <p:sp>
          <p:nvSpPr>
            <p:cNvPr name="Freeform 9" id="9"/>
            <p:cNvSpPr/>
            <p:nvPr/>
          </p:nvSpPr>
          <p:spPr>
            <a:xfrm flipH="false" flipV="false" rot="0">
              <a:off x="0" y="0"/>
              <a:ext cx="11965191" cy="7463830"/>
            </a:xfrm>
            <a:custGeom>
              <a:avLst/>
              <a:gdLst/>
              <a:ahLst/>
              <a:cxnLst/>
              <a:rect r="r" b="b" t="t" l="l"/>
              <a:pathLst>
                <a:path h="7463830" w="11965191">
                  <a:moveTo>
                    <a:pt x="0" y="0"/>
                  </a:moveTo>
                  <a:lnTo>
                    <a:pt x="11965191" y="0"/>
                  </a:lnTo>
                  <a:lnTo>
                    <a:pt x="11965191" y="7463830"/>
                  </a:lnTo>
                  <a:lnTo>
                    <a:pt x="0" y="7463830"/>
                  </a:lnTo>
                  <a:close/>
                </a:path>
              </a:pathLst>
            </a:custGeom>
            <a:blipFill>
              <a:blip r:embed="rId3">
                <a:alphaModFix amt="0"/>
              </a:blip>
              <a:stretch>
                <a:fillRect l="-17784" t="0" r="2737" b="28126"/>
              </a:stretch>
            </a:blipFill>
          </p:spPr>
        </p:sp>
        <p:sp>
          <p:nvSpPr>
            <p:cNvPr name="TextBox 10" id="10"/>
            <p:cNvSpPr txBox="true"/>
            <p:nvPr/>
          </p:nvSpPr>
          <p:spPr>
            <a:xfrm>
              <a:off x="0" y="-85725"/>
              <a:ext cx="11965190" cy="7549555"/>
            </a:xfrm>
            <a:prstGeom prst="rect">
              <a:avLst/>
            </a:prstGeom>
          </p:spPr>
          <p:txBody>
            <a:bodyPr anchor="ctr" rtlCol="false" tIns="0" lIns="0" bIns="0" rIns="0"/>
            <a:lstStyle/>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Creates binary columns for each category; ideal when no ordering exists among categories (nominal data)</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One column per category </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it can create many columns, leading to high dimensionality</a:t>
              </a:r>
            </a:p>
            <a:p>
              <a:pPr algn="l" marL="863599" indent="-431800" lvl="1">
                <a:lnSpc>
                  <a:spcPts val="4799"/>
                </a:lnSpc>
                <a:buFont typeface="Arial"/>
                <a:buChar char="•"/>
              </a:pPr>
              <a:r>
                <a:rPr lang="en-US" sz="3999">
                  <a:solidFill>
                    <a:srgbClr val="1E293B"/>
                  </a:solidFill>
                  <a:latin typeface="Calibri (MS)"/>
                  <a:ea typeface="Calibri (MS)"/>
                  <a:cs typeface="Calibri (MS)"/>
                  <a:sym typeface="Calibri (MS)"/>
                </a:rPr>
                <a:t>Always use drop_first=True</a:t>
              </a:r>
            </a:p>
            <a:p>
              <a:pPr algn="l">
                <a:lnSpc>
                  <a:spcPts val="4799"/>
                </a:lnSpc>
              </a:pPr>
            </a:p>
            <a:p>
              <a:pPr algn="l">
                <a:lnSpc>
                  <a:spcPts val="4799"/>
                </a:lnSpc>
              </a:pPr>
            </a:p>
          </p:txBody>
        </p:sp>
      </p:grpSp>
      <p:grpSp>
        <p:nvGrpSpPr>
          <p:cNvPr name="Group 11" id="11"/>
          <p:cNvGrpSpPr/>
          <p:nvPr/>
        </p:nvGrpSpPr>
        <p:grpSpPr>
          <a:xfrm rot="0">
            <a:off x="9955985" y="3276159"/>
            <a:ext cx="8006517" cy="6359632"/>
            <a:chOff x="0" y="0"/>
            <a:chExt cx="10675356" cy="8479509"/>
          </a:xfrm>
        </p:grpSpPr>
        <p:grpSp>
          <p:nvGrpSpPr>
            <p:cNvPr name="Group 12" id="12"/>
            <p:cNvGrpSpPr/>
            <p:nvPr/>
          </p:nvGrpSpPr>
          <p:grpSpPr>
            <a:xfrm rot="0">
              <a:off x="0" y="0"/>
              <a:ext cx="10675356" cy="8479509"/>
              <a:chOff x="0" y="0"/>
              <a:chExt cx="10675356" cy="8479509"/>
            </a:xfrm>
          </p:grpSpPr>
          <p:sp>
            <p:nvSpPr>
              <p:cNvPr name="Freeform 13" id="13"/>
              <p:cNvSpPr/>
              <p:nvPr/>
            </p:nvSpPr>
            <p:spPr>
              <a:xfrm flipH="false" flipV="false" rot="0">
                <a:off x="0" y="0"/>
                <a:ext cx="10675355" cy="8479510"/>
              </a:xfrm>
              <a:custGeom>
                <a:avLst/>
                <a:gdLst/>
                <a:ahLst/>
                <a:cxnLst/>
                <a:rect r="r" b="b" t="t" l="l"/>
                <a:pathLst>
                  <a:path h="8479510" w="10675355">
                    <a:moveTo>
                      <a:pt x="0" y="0"/>
                    </a:moveTo>
                    <a:lnTo>
                      <a:pt x="10675355" y="0"/>
                    </a:lnTo>
                    <a:lnTo>
                      <a:pt x="10675355" y="8479510"/>
                    </a:lnTo>
                    <a:lnTo>
                      <a:pt x="0" y="8479510"/>
                    </a:lnTo>
                    <a:close/>
                  </a:path>
                </a:pathLst>
              </a:custGeom>
              <a:solidFill>
                <a:srgbClr val="4285F4"/>
              </a:solidFill>
            </p:spPr>
          </p:sp>
        </p:grpSp>
        <p:sp>
          <p:nvSpPr>
            <p:cNvPr name="TextBox 14" id="14"/>
            <p:cNvSpPr txBox="true"/>
            <p:nvPr/>
          </p:nvSpPr>
          <p:spPr>
            <a:xfrm rot="0">
              <a:off x="644161" y="622572"/>
              <a:ext cx="10031195" cy="56864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df_encoded = pd.get_dummies(df, columns=['City', 'Gender'], drop_first=True)</a:t>
              </a:r>
            </a:p>
            <a:p>
              <a:pPr algn="just">
                <a:lnSpc>
                  <a:spcPts val="4799"/>
                </a:lnSpc>
              </a:pPr>
            </a:p>
            <a:p>
              <a:pPr algn="just">
                <a:lnSpc>
                  <a:spcPts val="4799"/>
                </a:lnSpc>
                <a:spcBef>
                  <a:spcPct val="0"/>
                </a:spcBef>
              </a:pPr>
              <a:r>
                <a:rPr lang="en-US" sz="3999">
                  <a:solidFill>
                    <a:srgbClr val="000000"/>
                  </a:solidFill>
                  <a:latin typeface="Calibri (MS)"/>
                  <a:ea typeface="Calibri (MS)"/>
                  <a:cs typeface="Calibri (MS)"/>
                  <a:sym typeface="Calibri (MS)"/>
                </a:rPr>
                <a:t>pr</a:t>
              </a:r>
              <a:r>
                <a:rPr lang="en-US" sz="3999">
                  <a:solidFill>
                    <a:srgbClr val="000000"/>
                  </a:solidFill>
                  <a:latin typeface="Calibri (MS)"/>
                  <a:ea typeface="Calibri (MS)"/>
                  <a:cs typeface="Calibri (MS)"/>
                  <a:sym typeface="Calibri (MS)"/>
                </a:rPr>
                <a:t>int("\nAfter One-Hot Encoding:")</a:t>
              </a:r>
            </a:p>
            <a:p>
              <a:pPr algn="just">
                <a:lnSpc>
                  <a:spcPts val="4799"/>
                </a:lnSpc>
                <a:spcBef>
                  <a:spcPct val="0"/>
                </a:spcBef>
              </a:pPr>
              <a:r>
                <a:rPr lang="en-US" sz="3999">
                  <a:solidFill>
                    <a:srgbClr val="000000"/>
                  </a:solidFill>
                  <a:latin typeface="Calibri (MS)"/>
                  <a:ea typeface="Calibri (MS)"/>
                  <a:cs typeface="Calibri (MS)"/>
                  <a:sym typeface="Calibri (MS)"/>
                </a:rPr>
                <a:t>print(df_encoded)</a:t>
              </a:r>
            </a:p>
            <a:p>
              <a:pPr algn="just">
                <a:lnSpc>
                  <a:spcPts val="479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834391" y="22666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Feature Scaling?</a:t>
              </a:r>
            </a:p>
          </p:txBody>
        </p:sp>
      </p:grpSp>
      <p:grpSp>
        <p:nvGrpSpPr>
          <p:cNvPr name="Group 5" id="5"/>
          <p:cNvGrpSpPr/>
          <p:nvPr/>
        </p:nvGrpSpPr>
        <p:grpSpPr>
          <a:xfrm rot="0">
            <a:off x="1028700" y="1821240"/>
            <a:ext cx="17736796" cy="1892469"/>
            <a:chOff x="0" y="0"/>
            <a:chExt cx="23649062" cy="2523292"/>
          </a:xfrm>
        </p:grpSpPr>
        <p:sp>
          <p:nvSpPr>
            <p:cNvPr name="Freeform 6" id="6"/>
            <p:cNvSpPr/>
            <p:nvPr/>
          </p:nvSpPr>
          <p:spPr>
            <a:xfrm flipH="false" flipV="false" rot="0">
              <a:off x="0" y="0"/>
              <a:ext cx="23649062" cy="2523292"/>
            </a:xfrm>
            <a:custGeom>
              <a:avLst/>
              <a:gdLst/>
              <a:ahLst/>
              <a:cxnLst/>
              <a:rect r="r" b="b" t="t" l="l"/>
              <a:pathLst>
                <a:path h="2523292" w="23649062">
                  <a:moveTo>
                    <a:pt x="0" y="0"/>
                  </a:moveTo>
                  <a:lnTo>
                    <a:pt x="23649062" y="0"/>
                  </a:lnTo>
                  <a:lnTo>
                    <a:pt x="23649062" y="2523292"/>
                  </a:lnTo>
                  <a:lnTo>
                    <a:pt x="0" y="2523292"/>
                  </a:lnTo>
                  <a:close/>
                </a:path>
              </a:pathLst>
            </a:custGeom>
            <a:blipFill>
              <a:blip r:embed="rId3">
                <a:alphaModFix amt="0"/>
              </a:blip>
              <a:stretch>
                <a:fillRect l="-8997" t="0" r="50790" b="-112598"/>
              </a:stretch>
            </a:blipFill>
          </p:spPr>
        </p:sp>
        <p:sp>
          <p:nvSpPr>
            <p:cNvPr name="TextBox 7" id="7"/>
            <p:cNvSpPr txBox="true"/>
            <p:nvPr/>
          </p:nvSpPr>
          <p:spPr>
            <a:xfrm>
              <a:off x="0" y="-85725"/>
              <a:ext cx="23649062" cy="2609017"/>
            </a:xfrm>
            <a:prstGeom prst="rect">
              <a:avLst/>
            </a:prstGeom>
          </p:spPr>
          <p:txBody>
            <a:bodyPr anchor="ctr" rtlCol="false" tIns="0" lIns="0" bIns="0" rIns="0"/>
            <a:lstStyle/>
            <a:p>
              <a:pPr algn="l">
                <a:lnSpc>
                  <a:spcPts val="5039"/>
                </a:lnSpc>
              </a:pPr>
              <a:r>
                <a:rPr lang="en-US" sz="4199">
                  <a:solidFill>
                    <a:srgbClr val="1E293B"/>
                  </a:solidFill>
                  <a:latin typeface="Calibri (MS)"/>
                  <a:ea typeface="Calibri (MS)"/>
                  <a:cs typeface="Calibri (MS)"/>
                  <a:sym typeface="Calibri (MS)"/>
                </a:rPr>
                <a:t>is a crucial data preprocessing technique in machine learning that tr</a:t>
              </a:r>
              <a:r>
                <a:rPr lang="en-US" sz="4199">
                  <a:solidFill>
                    <a:srgbClr val="1E293B"/>
                  </a:solidFill>
                  <a:latin typeface="Calibri (MS)"/>
                  <a:ea typeface="Calibri (MS)"/>
                  <a:cs typeface="Calibri (MS)"/>
                  <a:sym typeface="Calibri (MS)"/>
                </a:rPr>
                <a:t>ansforms numerical features to a common, standard range</a:t>
              </a:r>
            </a:p>
          </p:txBody>
        </p:sp>
      </p:grpSp>
      <p:sp>
        <p:nvSpPr>
          <p:cNvPr name="TextBox 8" id="8"/>
          <p:cNvSpPr txBox="true"/>
          <p:nvPr/>
        </p:nvSpPr>
        <p:spPr>
          <a:xfrm rot="0">
            <a:off x="304444" y="4350005"/>
            <a:ext cx="17679112" cy="3876675"/>
          </a:xfrm>
          <a:prstGeom prst="rect">
            <a:avLst/>
          </a:prstGeom>
        </p:spPr>
        <p:txBody>
          <a:bodyPr anchor="t" rtlCol="false" tIns="0" lIns="0" bIns="0" rIns="0">
            <a:spAutoFit/>
          </a:bodyPr>
          <a:lstStyle/>
          <a:p>
            <a:pPr algn="ctr">
              <a:lnSpc>
                <a:spcPts val="6000"/>
              </a:lnSpc>
              <a:spcBef>
                <a:spcPct val="0"/>
              </a:spcBef>
            </a:pPr>
          </a:p>
          <a:p>
            <a:pPr algn="l">
              <a:lnSpc>
                <a:spcPts val="4799"/>
              </a:lnSpc>
              <a:spcBef>
                <a:spcPct val="0"/>
              </a:spcBef>
            </a:pPr>
            <a:r>
              <a:rPr lang="en-US" sz="3999">
                <a:solidFill>
                  <a:srgbClr val="000000"/>
                </a:solidFill>
                <a:latin typeface="Calibri (MS)"/>
                <a:ea typeface="Calibri (MS)"/>
                <a:cs typeface="Calibri (MS)"/>
                <a:sym typeface="Calibri (MS)"/>
              </a:rPr>
              <a:t>Machine learning algorithms like KNN, SVM, and Neural Networks calculate distances between data points or use gradient descent. If one feature ranges from 0–1 and another from 0–1,000,000, the model will disproportionately weigh the latter, leading to biased results</a:t>
            </a:r>
          </a:p>
          <a:p>
            <a:pPr algn="ctr">
              <a:lnSpc>
                <a:spcPts val="4799"/>
              </a:lnSpc>
              <a:spcBef>
                <a:spcPct val="0"/>
              </a:spcBef>
            </a:pPr>
            <a:r>
              <a:rPr lang="en-US" sz="3999">
                <a:solidFill>
                  <a:srgbClr val="000000"/>
                </a:solidFill>
                <a:latin typeface="Calibri (MS)"/>
                <a:ea typeface="Calibri (MS)"/>
                <a:cs typeface="Calibri (MS)"/>
                <a:sym typeface="Calibri (MS)"/>
              </a:rPr>
              <a:t>.</a:t>
            </a:r>
          </a:p>
        </p:txBody>
      </p:sp>
      <p:sp>
        <p:nvSpPr>
          <p:cNvPr name="TextBox 9" id="9"/>
          <p:cNvSpPr txBox="true"/>
          <p:nvPr/>
        </p:nvSpPr>
        <p:spPr>
          <a:xfrm rot="0">
            <a:off x="6674402" y="4283330"/>
            <a:ext cx="4490542" cy="885825"/>
          </a:xfrm>
          <a:prstGeom prst="rect">
            <a:avLst/>
          </a:prstGeom>
        </p:spPr>
        <p:txBody>
          <a:bodyPr anchor="t" rtlCol="false" tIns="0" lIns="0" bIns="0" rIns="0">
            <a:spAutoFit/>
          </a:bodyPr>
          <a:lstStyle/>
          <a:p>
            <a:pPr algn="ctr">
              <a:lnSpc>
                <a:spcPts val="6119"/>
              </a:lnSpc>
              <a:spcBef>
                <a:spcPct val="0"/>
              </a:spcBef>
            </a:pPr>
            <a:r>
              <a:rPr lang="en-US" b="true" sz="5099">
                <a:solidFill>
                  <a:srgbClr val="000000"/>
                </a:solidFill>
                <a:latin typeface="Calibri (MS) Bold"/>
                <a:ea typeface="Calibri (MS) Bold"/>
                <a:cs typeface="Calibri (MS) Bold"/>
                <a:sym typeface="Calibri (MS) Bold"/>
              </a:rPr>
              <a:t>Why it is needed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Types</a:t>
              </a:r>
              <a:r>
                <a:rPr lang="en-US" sz="8000" b="true">
                  <a:solidFill>
                    <a:srgbClr val="1E293B"/>
                  </a:solidFill>
                  <a:latin typeface="Calibri (MS) Bold"/>
                  <a:ea typeface="Calibri (MS) Bold"/>
                  <a:cs typeface="Calibri (MS) Bold"/>
                  <a:sym typeface="Calibri (MS) Bold"/>
                </a:rPr>
                <a:t> of Feature Scaling</a:t>
              </a:r>
            </a:p>
          </p:txBody>
        </p:sp>
      </p:grpSp>
      <p:grpSp>
        <p:nvGrpSpPr>
          <p:cNvPr name="Group 5" id="5"/>
          <p:cNvGrpSpPr/>
          <p:nvPr/>
        </p:nvGrpSpPr>
        <p:grpSpPr>
          <a:xfrm rot="0">
            <a:off x="782067" y="2476591"/>
            <a:ext cx="8973893" cy="1019749"/>
            <a:chOff x="0" y="0"/>
            <a:chExt cx="11965190" cy="1359665"/>
          </a:xfrm>
        </p:grpSpPr>
        <p:sp>
          <p:nvSpPr>
            <p:cNvPr name="Freeform 6" id="6"/>
            <p:cNvSpPr/>
            <p:nvPr/>
          </p:nvSpPr>
          <p:spPr>
            <a:xfrm flipH="false" flipV="false" rot="0">
              <a:off x="0" y="0"/>
              <a:ext cx="11965191" cy="1359666"/>
            </a:xfrm>
            <a:custGeom>
              <a:avLst/>
              <a:gdLst/>
              <a:ahLst/>
              <a:cxnLst/>
              <a:rect r="r" b="b" t="t" l="l"/>
              <a:pathLst>
                <a:path h="1359666" w="11965191">
                  <a:moveTo>
                    <a:pt x="0" y="0"/>
                  </a:moveTo>
                  <a:lnTo>
                    <a:pt x="11965191" y="0"/>
                  </a:lnTo>
                  <a:lnTo>
                    <a:pt x="11965191" y="1359666"/>
                  </a:lnTo>
                  <a:lnTo>
                    <a:pt x="0" y="1359666"/>
                  </a:lnTo>
                  <a:close/>
                </a:path>
              </a:pathLst>
            </a:custGeom>
            <a:blipFill>
              <a:blip r:embed="rId3">
                <a:alphaModFix amt="0"/>
              </a:blip>
              <a:stretch>
                <a:fillRect l="0" t="-260695" r="-83412" b="-268298"/>
              </a:stretch>
            </a:blipFill>
          </p:spPr>
        </p:sp>
        <p:sp>
          <p:nvSpPr>
            <p:cNvPr name="TextBox 7" id="7"/>
            <p:cNvSpPr txBox="true"/>
            <p:nvPr/>
          </p:nvSpPr>
          <p:spPr>
            <a:xfrm>
              <a:off x="0" y="-114300"/>
              <a:ext cx="11965190"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Standardization</a:t>
              </a:r>
              <a:r>
                <a:rPr lang="en-US" sz="5000" b="true">
                  <a:solidFill>
                    <a:srgbClr val="1E293B"/>
                  </a:solidFill>
                  <a:latin typeface="Calibri (MS) Bold"/>
                  <a:ea typeface="Calibri (MS) Bold"/>
                  <a:cs typeface="Calibri (MS) Bold"/>
                  <a:sym typeface="Calibri (MS) Bold"/>
                </a:rPr>
                <a:t> (Z-Score Scaling) </a:t>
              </a:r>
            </a:p>
          </p:txBody>
        </p:sp>
      </p:grpSp>
      <p:grpSp>
        <p:nvGrpSpPr>
          <p:cNvPr name="Group 8" id="8"/>
          <p:cNvGrpSpPr/>
          <p:nvPr/>
        </p:nvGrpSpPr>
        <p:grpSpPr>
          <a:xfrm rot="0">
            <a:off x="782067" y="3496340"/>
            <a:ext cx="9642093" cy="8598247"/>
            <a:chOff x="0" y="0"/>
            <a:chExt cx="12856124" cy="11464330"/>
          </a:xfrm>
        </p:grpSpPr>
        <p:sp>
          <p:nvSpPr>
            <p:cNvPr name="Freeform 9" id="9"/>
            <p:cNvSpPr/>
            <p:nvPr/>
          </p:nvSpPr>
          <p:spPr>
            <a:xfrm flipH="false" flipV="false" rot="0">
              <a:off x="0" y="0"/>
              <a:ext cx="12856124" cy="11464330"/>
            </a:xfrm>
            <a:custGeom>
              <a:avLst/>
              <a:gdLst/>
              <a:ahLst/>
              <a:cxnLst/>
              <a:rect r="r" b="b" t="t" l="l"/>
              <a:pathLst>
                <a:path h="11464330" w="12856124">
                  <a:moveTo>
                    <a:pt x="0" y="0"/>
                  </a:moveTo>
                  <a:lnTo>
                    <a:pt x="12856124" y="0"/>
                  </a:lnTo>
                  <a:lnTo>
                    <a:pt x="12856124" y="11464330"/>
                  </a:lnTo>
                  <a:lnTo>
                    <a:pt x="0" y="11464330"/>
                  </a:lnTo>
                  <a:close/>
                </a:path>
              </a:pathLst>
            </a:custGeom>
            <a:blipFill>
              <a:blip r:embed="rId4">
                <a:alphaModFix amt="0"/>
              </a:blip>
              <a:stretch>
                <a:fillRect l="-39391" t="0" r="-39391" b="0"/>
              </a:stretch>
            </a:blipFill>
          </p:spPr>
        </p:sp>
        <p:sp>
          <p:nvSpPr>
            <p:cNvPr name="TextBox 10" id="10"/>
            <p:cNvSpPr txBox="true"/>
            <p:nvPr/>
          </p:nvSpPr>
          <p:spPr>
            <a:xfrm>
              <a:off x="0" y="-85725"/>
              <a:ext cx="12856124" cy="115500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Standardization transforms data so that:</a:t>
              </a:r>
            </a:p>
            <a:p>
              <a:pPr algn="l">
                <a:lnSpc>
                  <a:spcPts val="4799"/>
                </a:lnSpc>
              </a:pPr>
              <a:r>
                <a:rPr lang="en-US" sz="3999">
                  <a:solidFill>
                    <a:srgbClr val="1E293B"/>
                  </a:solidFill>
                  <a:latin typeface="Calibri (MS)"/>
                  <a:ea typeface="Calibri (MS)"/>
                  <a:cs typeface="Calibri (MS)"/>
                  <a:sym typeface="Calibri (MS)"/>
                </a:rPr>
                <a:t>Mean = 0</a:t>
              </a:r>
            </a:p>
            <a:p>
              <a:pPr algn="l">
                <a:lnSpc>
                  <a:spcPts val="4799"/>
                </a:lnSpc>
              </a:pPr>
              <a:r>
                <a:rPr lang="en-US" sz="3999">
                  <a:solidFill>
                    <a:srgbClr val="1E293B"/>
                  </a:solidFill>
                  <a:latin typeface="Calibri (MS)"/>
                  <a:ea typeface="Calibri (MS)"/>
                  <a:cs typeface="Calibri (MS)"/>
                  <a:sym typeface="Calibri (MS)"/>
                </a:rPr>
                <a:t>Standard Deviation = 1</a:t>
              </a:r>
            </a:p>
            <a:p>
              <a:pPr algn="l">
                <a:lnSpc>
                  <a:spcPts val="4799"/>
                </a:lnSpc>
              </a:pPr>
              <a:r>
                <a:rPr lang="en-US" sz="3999" b="true">
                  <a:solidFill>
                    <a:srgbClr val="1E293B"/>
                  </a:solidFill>
                  <a:latin typeface="Calibri (MS) Bold"/>
                  <a:ea typeface="Calibri (MS) Bold"/>
                  <a:cs typeface="Calibri (MS) Bold"/>
                  <a:sym typeface="Calibri (MS) Bold"/>
                </a:rPr>
                <a:t>Formul</a:t>
              </a:r>
              <a:r>
                <a:rPr lang="en-US" sz="3999" b="true">
                  <a:solidFill>
                    <a:srgbClr val="1E293B"/>
                  </a:solidFill>
                  <a:latin typeface="Calibri (MS) Bold"/>
                  <a:ea typeface="Calibri (MS) Bold"/>
                  <a:cs typeface="Calibri (MS) Bold"/>
                  <a:sym typeface="Calibri (MS) Bold"/>
                </a:rPr>
                <a:t>a</a:t>
              </a:r>
              <a:r>
                <a:rPr lang="en-US" sz="3999">
                  <a:solidFill>
                    <a:srgbClr val="1E293B"/>
                  </a:solidFill>
                  <a:latin typeface="Calibri (MS)"/>
                  <a:ea typeface="Calibri (MS)"/>
                  <a:cs typeface="Calibri (MS)"/>
                  <a:sym typeface="Calibri (MS)"/>
                </a:rPr>
                <a:t>:</a:t>
              </a:r>
            </a:p>
            <a:p>
              <a:pPr algn="l">
                <a:lnSpc>
                  <a:spcPts val="4799"/>
                </a:lnSpc>
              </a:pPr>
              <a:r>
                <a:rPr lang="en-US" sz="3999">
                  <a:solidFill>
                    <a:srgbClr val="1E293B"/>
                  </a:solidFill>
                  <a:latin typeface="Calibri (MS)"/>
                  <a:ea typeface="Calibri (MS)"/>
                  <a:cs typeface="Calibri (MS)"/>
                  <a:sym typeface="Calibri (MS)"/>
                </a:rPr>
                <a:t>                      </a:t>
              </a:r>
            </a:p>
            <a:p>
              <a:pPr algn="l">
                <a:lnSpc>
                  <a:spcPts val="4799"/>
                </a:lnSpc>
              </a:pPr>
            </a:p>
            <a:p>
              <a:pPr algn="l">
                <a:lnSpc>
                  <a:spcPts val="4799"/>
                </a:lnSpc>
              </a:pPr>
            </a:p>
            <a:p>
              <a:pPr algn="l">
                <a:lnSpc>
                  <a:spcPts val="4799"/>
                </a:lnSpc>
              </a:pPr>
              <a:r>
                <a:rPr lang="en-US" sz="3999">
                  <a:solidFill>
                    <a:srgbClr val="1E293B"/>
                  </a:solidFill>
                  <a:latin typeface="Calibri (MS)"/>
                  <a:ea typeface="Calibri (MS)"/>
                  <a:cs typeface="Calibri (MS)"/>
                  <a:sym typeface="Calibri (MS)"/>
                </a:rPr>
                <a:t>Where:</a:t>
              </a:r>
            </a:p>
            <a:p>
              <a:pPr algn="l">
                <a:lnSpc>
                  <a:spcPts val="4799"/>
                </a:lnSpc>
              </a:pPr>
              <a:r>
                <a:rPr lang="en-US" sz="3999">
                  <a:solidFill>
                    <a:srgbClr val="1E293B"/>
                  </a:solidFill>
                  <a:latin typeface="Calibri (MS)"/>
                  <a:ea typeface="Calibri (MS)"/>
                  <a:cs typeface="Calibri (MS)"/>
                  <a:sym typeface="Calibri (MS)"/>
                </a:rPr>
                <a:t>x = original value</a:t>
              </a:r>
            </a:p>
            <a:p>
              <a:pPr algn="l">
                <a:lnSpc>
                  <a:spcPts val="4799"/>
                </a:lnSpc>
              </a:pPr>
              <a:r>
                <a:rPr lang="en-US" sz="3999">
                  <a:solidFill>
                    <a:srgbClr val="1E293B"/>
                  </a:solidFill>
                  <a:latin typeface="Calibri (MS)"/>
                  <a:ea typeface="Calibri (MS)"/>
                  <a:cs typeface="Calibri (MS)"/>
                  <a:sym typeface="Calibri (MS)"/>
                </a:rPr>
                <a:t>μ = mean</a:t>
              </a:r>
            </a:p>
            <a:p>
              <a:pPr algn="l">
                <a:lnSpc>
                  <a:spcPts val="4799"/>
                </a:lnSpc>
              </a:pPr>
              <a:r>
                <a:rPr lang="en-US" sz="3999">
                  <a:solidFill>
                    <a:srgbClr val="1E293B"/>
                  </a:solidFill>
                  <a:latin typeface="Calibri (MS)"/>
                  <a:ea typeface="Calibri (MS)"/>
                  <a:cs typeface="Calibri (MS)"/>
                  <a:sym typeface="Calibri (MS)"/>
                </a:rPr>
                <a:t>σ = standard deviation</a:t>
              </a:r>
            </a:p>
            <a:p>
              <a:pPr algn="l">
                <a:lnSpc>
                  <a:spcPts val="4799"/>
                </a:lnSpc>
              </a:pPr>
            </a:p>
            <a:p>
              <a:pPr algn="l">
                <a:lnSpc>
                  <a:spcPts val="4799"/>
                </a:lnSpc>
              </a:pPr>
            </a:p>
            <a:p>
              <a:pPr algn="l">
                <a:lnSpc>
                  <a:spcPts val="4799"/>
                </a:lnSpc>
              </a:pPr>
            </a:p>
          </p:txBody>
        </p:sp>
      </p:grpSp>
      <p:sp>
        <p:nvSpPr>
          <p:cNvPr name="Freeform 11" id="11"/>
          <p:cNvSpPr/>
          <p:nvPr/>
        </p:nvSpPr>
        <p:spPr>
          <a:xfrm flipH="false" flipV="false" rot="0">
            <a:off x="1516235" y="6344763"/>
            <a:ext cx="3098499" cy="1346712"/>
          </a:xfrm>
          <a:custGeom>
            <a:avLst/>
            <a:gdLst/>
            <a:ahLst/>
            <a:cxnLst/>
            <a:rect r="r" b="b" t="t" l="l"/>
            <a:pathLst>
              <a:path h="1346712" w="3098499">
                <a:moveTo>
                  <a:pt x="0" y="0"/>
                </a:moveTo>
                <a:lnTo>
                  <a:pt x="3098499" y="0"/>
                </a:lnTo>
                <a:lnTo>
                  <a:pt x="3098499" y="1346712"/>
                </a:lnTo>
                <a:lnTo>
                  <a:pt x="0" y="1346712"/>
                </a:lnTo>
                <a:lnTo>
                  <a:pt x="0" y="0"/>
                </a:lnTo>
                <a:close/>
              </a:path>
            </a:pathLst>
          </a:custGeom>
          <a:blipFill>
            <a:blip r:embed="rId4"/>
            <a:stretch>
              <a:fillRect l="0" t="-7379" r="0" b="-7379"/>
            </a:stretch>
          </a:blipFill>
        </p:spPr>
      </p:sp>
      <p:grpSp>
        <p:nvGrpSpPr>
          <p:cNvPr name="Group 12" id="12"/>
          <p:cNvGrpSpPr/>
          <p:nvPr/>
        </p:nvGrpSpPr>
        <p:grpSpPr>
          <a:xfrm rot="0">
            <a:off x="10424160" y="3496340"/>
            <a:ext cx="7863840" cy="14253210"/>
            <a:chOff x="0" y="0"/>
            <a:chExt cx="10485120" cy="19004280"/>
          </a:xfrm>
        </p:grpSpPr>
        <p:grpSp>
          <p:nvGrpSpPr>
            <p:cNvPr name="Group 13" id="13"/>
            <p:cNvGrpSpPr/>
            <p:nvPr/>
          </p:nvGrpSpPr>
          <p:grpSpPr>
            <a:xfrm rot="0">
              <a:off x="0" y="0"/>
              <a:ext cx="10485120" cy="19004280"/>
              <a:chOff x="0" y="0"/>
              <a:chExt cx="10485120" cy="19004280"/>
            </a:xfrm>
          </p:grpSpPr>
          <p:sp>
            <p:nvSpPr>
              <p:cNvPr name="Freeform 14" id="14"/>
              <p:cNvSpPr/>
              <p:nvPr/>
            </p:nvSpPr>
            <p:spPr>
              <a:xfrm flipH="false" flipV="false" rot="0">
                <a:off x="0" y="0"/>
                <a:ext cx="10485120" cy="19004280"/>
              </a:xfrm>
              <a:custGeom>
                <a:avLst/>
                <a:gdLst/>
                <a:ahLst/>
                <a:cxnLst/>
                <a:rect r="r" b="b" t="t" l="l"/>
                <a:pathLst>
                  <a:path h="19004280" w="10485120">
                    <a:moveTo>
                      <a:pt x="0" y="0"/>
                    </a:moveTo>
                    <a:lnTo>
                      <a:pt x="10485120" y="0"/>
                    </a:lnTo>
                    <a:lnTo>
                      <a:pt x="10485120" y="19004280"/>
                    </a:lnTo>
                    <a:lnTo>
                      <a:pt x="0" y="19004280"/>
                    </a:lnTo>
                    <a:close/>
                  </a:path>
                </a:pathLst>
              </a:custGeom>
              <a:solidFill>
                <a:srgbClr val="4285F4"/>
              </a:solidFill>
            </p:spPr>
          </p:sp>
        </p:grpSp>
        <p:sp>
          <p:nvSpPr>
            <p:cNvPr name="TextBox 15" id="15"/>
            <p:cNvSpPr txBox="true"/>
            <p:nvPr/>
          </p:nvSpPr>
          <p:spPr>
            <a:xfrm rot="0">
              <a:off x="344223" y="379411"/>
              <a:ext cx="9778470" cy="104870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fromsklearn.preprocessing import StandardScaler</a:t>
              </a:r>
            </a:p>
            <a:p>
              <a:pPr algn="just">
                <a:lnSpc>
                  <a:spcPts val="4799"/>
                </a:lnSpc>
              </a:pPr>
              <a:r>
                <a:rPr lang="en-US" sz="3999">
                  <a:solidFill>
                    <a:srgbClr val="000000"/>
                  </a:solidFill>
                  <a:latin typeface="Calibri (MS)"/>
                  <a:ea typeface="Calibri (MS)"/>
                  <a:cs typeface="Calibri (MS)"/>
                  <a:sym typeface="Calibri (MS)"/>
                </a:rPr>
                <a:t>scaler = StandardScaler()</a:t>
              </a:r>
            </a:p>
            <a:p>
              <a:pPr algn="just">
                <a:lnSpc>
                  <a:spcPts val="4799"/>
                </a:lnSpc>
                <a:spcBef>
                  <a:spcPct val="0"/>
                </a:spcBef>
              </a:pPr>
              <a:r>
                <a:rPr lang="en-US" sz="3999">
                  <a:solidFill>
                    <a:srgbClr val="000000"/>
                  </a:solidFill>
                  <a:latin typeface="Calibri (MS)"/>
                  <a:ea typeface="Calibri (MS)"/>
                  <a:cs typeface="Calibri (MS)"/>
                  <a:sym typeface="Calibri (MS)"/>
                </a:rPr>
                <a:t>df[['Age', '</a:t>
              </a:r>
              <a:r>
                <a:rPr lang="en-US" sz="3999">
                  <a:solidFill>
                    <a:srgbClr val="000000"/>
                  </a:solidFill>
                  <a:latin typeface="Calibri (MS)"/>
                  <a:ea typeface="Calibri (MS)"/>
                  <a:cs typeface="Calibri (MS)"/>
                  <a:sym typeface="Calibri (MS)"/>
                </a:rPr>
                <a:t>Salary']] = scaler.fit_transform(</a:t>
              </a:r>
            </a:p>
            <a:p>
              <a:pPr algn="just">
                <a:lnSpc>
                  <a:spcPts val="4799"/>
                </a:lnSpc>
                <a:spcBef>
                  <a:spcPct val="0"/>
                </a:spcBef>
              </a:pPr>
              <a:r>
                <a:rPr lang="en-US" sz="3999">
                  <a:solidFill>
                    <a:srgbClr val="000000"/>
                  </a:solidFill>
                  <a:latin typeface="Calibri (MS)"/>
                  <a:ea typeface="Calibri (MS)"/>
                  <a:cs typeface="Calibri (MS)"/>
                  <a:sym typeface="Calibri (MS)"/>
                </a:rPr>
                <a:t>  df[['Age', 'Salary']]</a:t>
              </a:r>
            </a:p>
            <a:p>
              <a:pPr algn="just">
                <a:lnSpc>
                  <a:spcPts val="4799"/>
                </a:lnSpc>
                <a:spcBef>
                  <a:spcPct val="0"/>
                </a:spcBef>
              </a:pPr>
              <a:r>
                <a:rPr lang="en-US" sz="3999">
                  <a:solidFill>
                    <a:srgbClr val="000000"/>
                  </a:solidFill>
                  <a:latin typeface="Calibri (MS)"/>
                  <a:ea typeface="Calibri (MS)"/>
                  <a:cs typeface="Calibri (MS)"/>
                  <a:sym typeface="Calibri (MS)"/>
                </a:rPr>
                <a:t>)</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print(df[['Age', 'Salary']].round(2))</a:t>
              </a:r>
            </a:p>
            <a:p>
              <a:pPr algn="just">
                <a:lnSpc>
                  <a:spcPts val="4799"/>
                </a:lnSpc>
                <a:spcBef>
                  <a:spcPct val="0"/>
                </a:spcBef>
              </a:pPr>
            </a:p>
            <a:p>
              <a:pPr algn="just">
                <a:lnSpc>
                  <a:spcPts val="4799"/>
                </a:lnSpc>
                <a:spcBef>
                  <a:spcPct val="0"/>
                </a:spcBef>
              </a:pPr>
            </a:p>
            <a:p>
              <a:pPr algn="just">
                <a:lnSpc>
                  <a:spcPts val="4799"/>
                </a:lnSpc>
                <a:spcBef>
                  <a:spcPct val="0"/>
                </a:spcBef>
              </a:pPr>
            </a:p>
            <a:p>
              <a:pPr algn="just">
                <a:lnSpc>
                  <a:spcPts val="4799"/>
                </a:lnSpc>
                <a:spcBef>
                  <a:spcPct val="0"/>
                </a:spcBef>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Types</a:t>
              </a:r>
              <a:r>
                <a:rPr lang="en-US" sz="8000" b="true">
                  <a:solidFill>
                    <a:srgbClr val="1E293B"/>
                  </a:solidFill>
                  <a:latin typeface="Calibri (MS) Bold"/>
                  <a:ea typeface="Calibri (MS) Bold"/>
                  <a:cs typeface="Calibri (MS) Bold"/>
                  <a:sym typeface="Calibri (MS) Bold"/>
                </a:rPr>
                <a:t> of Feature Scaling</a:t>
              </a:r>
            </a:p>
          </p:txBody>
        </p:sp>
      </p:grpSp>
      <p:grpSp>
        <p:nvGrpSpPr>
          <p:cNvPr name="Group 5" id="5"/>
          <p:cNvGrpSpPr/>
          <p:nvPr/>
        </p:nvGrpSpPr>
        <p:grpSpPr>
          <a:xfrm rot="0">
            <a:off x="1028700" y="3336433"/>
            <a:ext cx="9642093" cy="6197947"/>
            <a:chOff x="0" y="0"/>
            <a:chExt cx="12856124" cy="8263930"/>
          </a:xfrm>
        </p:grpSpPr>
        <p:sp>
          <p:nvSpPr>
            <p:cNvPr name="Freeform 6" id="6"/>
            <p:cNvSpPr/>
            <p:nvPr/>
          </p:nvSpPr>
          <p:spPr>
            <a:xfrm flipH="false" flipV="false" rot="0">
              <a:off x="0" y="0"/>
              <a:ext cx="12856124" cy="8263930"/>
            </a:xfrm>
            <a:custGeom>
              <a:avLst/>
              <a:gdLst/>
              <a:ahLst/>
              <a:cxnLst/>
              <a:rect r="r" b="b" t="t" l="l"/>
              <a:pathLst>
                <a:path h="8263930" w="12856124">
                  <a:moveTo>
                    <a:pt x="0" y="0"/>
                  </a:moveTo>
                  <a:lnTo>
                    <a:pt x="12856124" y="0"/>
                  </a:lnTo>
                  <a:lnTo>
                    <a:pt x="12856124" y="8263930"/>
                  </a:lnTo>
                  <a:lnTo>
                    <a:pt x="0" y="8263930"/>
                  </a:lnTo>
                  <a:close/>
                </a:path>
              </a:pathLst>
            </a:custGeom>
            <a:blipFill>
              <a:blip r:embed="rId4">
                <a:alphaModFix amt="0"/>
              </a:blip>
              <a:stretch>
                <a:fillRect l="-62490" t="0" r="-62490" b="0"/>
              </a:stretch>
            </a:blipFill>
          </p:spPr>
        </p:sp>
        <p:sp>
          <p:nvSpPr>
            <p:cNvPr name="TextBox 7" id="7"/>
            <p:cNvSpPr txBox="true"/>
            <p:nvPr/>
          </p:nvSpPr>
          <p:spPr>
            <a:xfrm>
              <a:off x="0" y="-85725"/>
              <a:ext cx="12856124" cy="8349655"/>
            </a:xfrm>
            <a:prstGeom prst="rect">
              <a:avLst/>
            </a:prstGeom>
          </p:spPr>
          <p:txBody>
            <a:bodyPr anchor="ctr" rtlCol="false" tIns="0" lIns="0" bIns="0" rIns="0"/>
            <a:lstStyle/>
            <a:p>
              <a:pPr algn="l">
                <a:lnSpc>
                  <a:spcPts val="4799"/>
                </a:lnSpc>
              </a:pPr>
              <a:r>
                <a:rPr lang="en-US" sz="3999">
                  <a:solidFill>
                    <a:srgbClr val="1E293B"/>
                  </a:solidFill>
                  <a:latin typeface="Calibri (MS)"/>
                  <a:ea typeface="Calibri (MS)"/>
                  <a:cs typeface="Calibri (MS)"/>
                  <a:sym typeface="Calibri (MS)"/>
                </a:rPr>
                <a:t>MinMaxScaler squeezes all values between 0 and 1. The minimum value becomes 0, the maximum becomes 1, everything else falls proportionally in between. </a:t>
              </a:r>
            </a:p>
            <a:p>
              <a:pPr algn="l">
                <a:lnSpc>
                  <a:spcPts val="4799"/>
                </a:lnSpc>
              </a:pPr>
            </a:p>
            <a:p>
              <a:pPr algn="l">
                <a:lnSpc>
                  <a:spcPts val="4799"/>
                </a:lnSpc>
              </a:pPr>
              <a:r>
                <a:rPr lang="en-US" sz="3999" b="true">
                  <a:solidFill>
                    <a:srgbClr val="1E293B"/>
                  </a:solidFill>
                  <a:latin typeface="Calibri (MS) Bold"/>
                  <a:ea typeface="Calibri (MS) Bold"/>
                  <a:cs typeface="Calibri (MS) Bold"/>
                  <a:sym typeface="Calibri (MS) Bold"/>
                </a:rPr>
                <a:t>Formul</a:t>
              </a:r>
              <a:r>
                <a:rPr lang="en-US" sz="3999" b="true">
                  <a:solidFill>
                    <a:srgbClr val="1E293B"/>
                  </a:solidFill>
                  <a:latin typeface="Calibri (MS) Bold"/>
                  <a:ea typeface="Calibri (MS) Bold"/>
                  <a:cs typeface="Calibri (MS) Bold"/>
                  <a:sym typeface="Calibri (MS) Bold"/>
                </a:rPr>
                <a:t>a</a:t>
              </a:r>
              <a:r>
                <a:rPr lang="en-US" sz="3999">
                  <a:solidFill>
                    <a:srgbClr val="1E293B"/>
                  </a:solidFill>
                  <a:latin typeface="Calibri (MS)"/>
                  <a:ea typeface="Calibri (MS)"/>
                  <a:cs typeface="Calibri (MS)"/>
                  <a:sym typeface="Calibri (MS)"/>
                </a:rPr>
                <a:t>:</a:t>
              </a:r>
            </a:p>
            <a:p>
              <a:pPr algn="l">
                <a:lnSpc>
                  <a:spcPts val="4799"/>
                </a:lnSpc>
              </a:pPr>
              <a:r>
                <a:rPr lang="en-US" sz="3999">
                  <a:solidFill>
                    <a:srgbClr val="1E293B"/>
                  </a:solidFill>
                  <a:latin typeface="Calibri (MS)"/>
                  <a:ea typeface="Calibri (MS)"/>
                  <a:cs typeface="Calibri (MS)"/>
                  <a:sym typeface="Calibri (MS)"/>
                </a:rPr>
                <a:t>                      </a:t>
              </a:r>
            </a:p>
            <a:p>
              <a:pPr algn="l">
                <a:lnSpc>
                  <a:spcPts val="4799"/>
                </a:lnSpc>
              </a:pPr>
            </a:p>
            <a:p>
              <a:pPr algn="l">
                <a:lnSpc>
                  <a:spcPts val="4799"/>
                </a:lnSpc>
              </a:pPr>
            </a:p>
            <a:p>
              <a:pPr algn="l">
                <a:lnSpc>
                  <a:spcPts val="4799"/>
                </a:lnSpc>
              </a:pPr>
            </a:p>
          </p:txBody>
        </p:sp>
      </p:grpSp>
      <p:grpSp>
        <p:nvGrpSpPr>
          <p:cNvPr name="Group 8" id="8"/>
          <p:cNvGrpSpPr/>
          <p:nvPr/>
        </p:nvGrpSpPr>
        <p:grpSpPr>
          <a:xfrm rot="0">
            <a:off x="1028700" y="2316684"/>
            <a:ext cx="8973893" cy="1019749"/>
            <a:chOff x="0" y="0"/>
            <a:chExt cx="11965190" cy="1359665"/>
          </a:xfrm>
        </p:grpSpPr>
        <p:sp>
          <p:nvSpPr>
            <p:cNvPr name="Freeform 9" id="9"/>
            <p:cNvSpPr/>
            <p:nvPr/>
          </p:nvSpPr>
          <p:spPr>
            <a:xfrm flipH="false" flipV="false" rot="0">
              <a:off x="0" y="0"/>
              <a:ext cx="11965191" cy="1359666"/>
            </a:xfrm>
            <a:custGeom>
              <a:avLst/>
              <a:gdLst/>
              <a:ahLst/>
              <a:cxnLst/>
              <a:rect r="r" b="b" t="t" l="l"/>
              <a:pathLst>
                <a:path h="1359666" w="11965191">
                  <a:moveTo>
                    <a:pt x="0" y="0"/>
                  </a:moveTo>
                  <a:lnTo>
                    <a:pt x="11965191" y="0"/>
                  </a:lnTo>
                  <a:lnTo>
                    <a:pt x="11965191" y="1359666"/>
                  </a:lnTo>
                  <a:lnTo>
                    <a:pt x="0" y="1359666"/>
                  </a:lnTo>
                  <a:close/>
                </a:path>
              </a:pathLst>
            </a:custGeom>
            <a:blipFill>
              <a:blip r:embed="rId3">
                <a:alphaModFix amt="0"/>
              </a:blip>
              <a:stretch>
                <a:fillRect l="0" t="-260695" r="-83412" b="-268298"/>
              </a:stretch>
            </a:blipFill>
          </p:spPr>
        </p:sp>
        <p:sp>
          <p:nvSpPr>
            <p:cNvPr name="TextBox 10" id="10"/>
            <p:cNvSpPr txBox="true"/>
            <p:nvPr/>
          </p:nvSpPr>
          <p:spPr>
            <a:xfrm>
              <a:off x="0" y="-114300"/>
              <a:ext cx="11965190"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MinMax Scaling</a:t>
              </a:r>
            </a:p>
          </p:txBody>
        </p:sp>
      </p:grpSp>
      <p:grpSp>
        <p:nvGrpSpPr>
          <p:cNvPr name="Group 11" id="11"/>
          <p:cNvGrpSpPr/>
          <p:nvPr/>
        </p:nvGrpSpPr>
        <p:grpSpPr>
          <a:xfrm rot="0">
            <a:off x="10680242" y="3806879"/>
            <a:ext cx="7607758" cy="12396550"/>
            <a:chOff x="0" y="0"/>
            <a:chExt cx="10143677" cy="16528734"/>
          </a:xfrm>
        </p:grpSpPr>
        <p:grpSp>
          <p:nvGrpSpPr>
            <p:cNvPr name="Group 12" id="12"/>
            <p:cNvGrpSpPr/>
            <p:nvPr/>
          </p:nvGrpSpPr>
          <p:grpSpPr>
            <a:xfrm rot="0">
              <a:off x="0" y="0"/>
              <a:ext cx="10143677" cy="16528734"/>
              <a:chOff x="0" y="0"/>
              <a:chExt cx="10143677" cy="16528734"/>
            </a:xfrm>
          </p:grpSpPr>
          <p:sp>
            <p:nvSpPr>
              <p:cNvPr name="Freeform 13" id="13"/>
              <p:cNvSpPr/>
              <p:nvPr/>
            </p:nvSpPr>
            <p:spPr>
              <a:xfrm flipH="false" flipV="false" rot="0">
                <a:off x="0" y="0"/>
                <a:ext cx="10143676" cy="16528734"/>
              </a:xfrm>
              <a:custGeom>
                <a:avLst/>
                <a:gdLst/>
                <a:ahLst/>
                <a:cxnLst/>
                <a:rect r="r" b="b" t="t" l="l"/>
                <a:pathLst>
                  <a:path h="16528734" w="10143676">
                    <a:moveTo>
                      <a:pt x="0" y="0"/>
                    </a:moveTo>
                    <a:lnTo>
                      <a:pt x="10143676" y="0"/>
                    </a:lnTo>
                    <a:lnTo>
                      <a:pt x="10143676" y="16528734"/>
                    </a:lnTo>
                    <a:lnTo>
                      <a:pt x="0" y="16528734"/>
                    </a:lnTo>
                    <a:close/>
                  </a:path>
                </a:pathLst>
              </a:custGeom>
              <a:solidFill>
                <a:srgbClr val="4285F4"/>
              </a:solidFill>
            </p:spPr>
          </p:sp>
        </p:grpSp>
        <p:sp>
          <p:nvSpPr>
            <p:cNvPr name="TextBox 14" id="14"/>
            <p:cNvSpPr txBox="true"/>
            <p:nvPr/>
          </p:nvSpPr>
          <p:spPr>
            <a:xfrm rot="0">
              <a:off x="165100" y="291486"/>
              <a:ext cx="9376720" cy="80867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fromsklearn.preprocessing import MinMaxScaler</a:t>
              </a:r>
            </a:p>
            <a:p>
              <a:pPr algn="just">
                <a:lnSpc>
                  <a:spcPts val="4799"/>
                </a:lnSpc>
              </a:pPr>
              <a:r>
                <a:rPr lang="en-US" sz="3999">
                  <a:solidFill>
                    <a:srgbClr val="000000"/>
                  </a:solidFill>
                  <a:latin typeface="Calibri (MS)"/>
                  <a:ea typeface="Calibri (MS)"/>
                  <a:cs typeface="Calibri (MS)"/>
                  <a:sym typeface="Calibri (MS)"/>
                </a:rPr>
                <a:t>mm_scaler = MinMaxScaler()</a:t>
              </a:r>
            </a:p>
            <a:p>
              <a:pPr algn="just">
                <a:lnSpc>
                  <a:spcPts val="4799"/>
                </a:lnSpc>
                <a:spcBef>
                  <a:spcPct val="0"/>
                </a:spcBef>
              </a:pPr>
              <a:r>
                <a:rPr lang="en-US" sz="3999">
                  <a:solidFill>
                    <a:srgbClr val="000000"/>
                  </a:solidFill>
                  <a:latin typeface="Calibri (MS)"/>
                  <a:ea typeface="Calibri (MS)"/>
                  <a:cs typeface="Calibri (MS)"/>
                  <a:sym typeface="Calibri (MS)"/>
                </a:rPr>
                <a:t>df[['Age', '</a:t>
              </a:r>
              <a:r>
                <a:rPr lang="en-US" sz="3999">
                  <a:solidFill>
                    <a:srgbClr val="000000"/>
                  </a:solidFill>
                  <a:latin typeface="Calibri (MS)"/>
                  <a:ea typeface="Calibri (MS)"/>
                  <a:cs typeface="Calibri (MS)"/>
                  <a:sym typeface="Calibri (MS)"/>
                </a:rPr>
                <a:t>Salary']] = mm_scaler.fit_transform(</a:t>
              </a:r>
            </a:p>
            <a:p>
              <a:pPr algn="just">
                <a:lnSpc>
                  <a:spcPts val="4799"/>
                </a:lnSpc>
                <a:spcBef>
                  <a:spcPct val="0"/>
                </a:spcBef>
              </a:pPr>
              <a:r>
                <a:rPr lang="en-US" sz="3999">
                  <a:solidFill>
                    <a:srgbClr val="000000"/>
                  </a:solidFill>
                  <a:latin typeface="Calibri (MS)"/>
                  <a:ea typeface="Calibri (MS)"/>
                  <a:cs typeface="Calibri (MS)"/>
                  <a:sym typeface="Calibri (MS)"/>
                </a:rPr>
                <a:t>  df[['Age', 'Salary']]</a:t>
              </a:r>
            </a:p>
            <a:p>
              <a:pPr algn="just">
                <a:lnSpc>
                  <a:spcPts val="4799"/>
                </a:lnSpc>
                <a:spcBef>
                  <a:spcPct val="0"/>
                </a:spcBef>
              </a:pPr>
              <a:r>
                <a:rPr lang="en-US" sz="3999">
                  <a:solidFill>
                    <a:srgbClr val="000000"/>
                  </a:solidFill>
                  <a:latin typeface="Calibri (MS)"/>
                  <a:ea typeface="Calibri (MS)"/>
                  <a:cs typeface="Calibri (MS)"/>
                  <a:sym typeface="Calibri (MS)"/>
                </a:rPr>
                <a:t>)</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print(df[['Age', 'Salary']].round(2))</a:t>
              </a:r>
            </a:p>
            <a:p>
              <a:pPr algn="just">
                <a:lnSpc>
                  <a:spcPts val="4799"/>
                </a:lnSpc>
                <a:spcBef>
                  <a:spcPct val="0"/>
                </a:spcBef>
              </a:pPr>
            </a:p>
          </p:txBody>
        </p:sp>
      </p:grpSp>
      <p:sp>
        <p:nvSpPr>
          <p:cNvPr name="Freeform 15" id="15"/>
          <p:cNvSpPr/>
          <p:nvPr/>
        </p:nvSpPr>
        <p:spPr>
          <a:xfrm flipH="false" flipV="false" rot="0">
            <a:off x="1363009" y="7592901"/>
            <a:ext cx="7780991" cy="2303574"/>
          </a:xfrm>
          <a:custGeom>
            <a:avLst/>
            <a:gdLst/>
            <a:ahLst/>
            <a:cxnLst/>
            <a:rect r="r" b="b" t="t" l="l"/>
            <a:pathLst>
              <a:path h="2303574" w="7780991">
                <a:moveTo>
                  <a:pt x="0" y="0"/>
                </a:moveTo>
                <a:lnTo>
                  <a:pt x="7780991" y="0"/>
                </a:lnTo>
                <a:lnTo>
                  <a:pt x="7780991" y="2303574"/>
                </a:lnTo>
                <a:lnTo>
                  <a:pt x="0" y="2303574"/>
                </a:lnTo>
                <a:lnTo>
                  <a:pt x="0" y="0"/>
                </a:lnTo>
                <a:close/>
              </a:path>
            </a:pathLst>
          </a:custGeom>
          <a:blipFill>
            <a:blip r:embed="rId4"/>
            <a:stretch>
              <a:fillRect l="-4296" t="-10366" r="-10062"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2791403" y="646059"/>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What is Feature Extraction?</a:t>
              </a:r>
            </a:p>
          </p:txBody>
        </p:sp>
      </p:grpSp>
      <p:grpSp>
        <p:nvGrpSpPr>
          <p:cNvPr name="Group 5" id="5"/>
          <p:cNvGrpSpPr/>
          <p:nvPr/>
        </p:nvGrpSpPr>
        <p:grpSpPr>
          <a:xfrm rot="0">
            <a:off x="524503" y="2421579"/>
            <a:ext cx="17459053" cy="2121582"/>
            <a:chOff x="0" y="0"/>
            <a:chExt cx="23278738" cy="2828776"/>
          </a:xfrm>
        </p:grpSpPr>
        <p:sp>
          <p:nvSpPr>
            <p:cNvPr name="Freeform 6" id="6"/>
            <p:cNvSpPr/>
            <p:nvPr/>
          </p:nvSpPr>
          <p:spPr>
            <a:xfrm flipH="false" flipV="false" rot="0">
              <a:off x="0" y="0"/>
              <a:ext cx="23278737" cy="2828776"/>
            </a:xfrm>
            <a:custGeom>
              <a:avLst/>
              <a:gdLst/>
              <a:ahLst/>
              <a:cxnLst/>
              <a:rect r="r" b="b" t="t" l="l"/>
              <a:pathLst>
                <a:path h="2828776" w="23278737">
                  <a:moveTo>
                    <a:pt x="0" y="0"/>
                  </a:moveTo>
                  <a:lnTo>
                    <a:pt x="23278737" y="0"/>
                  </a:lnTo>
                  <a:lnTo>
                    <a:pt x="23278737" y="2828776"/>
                  </a:lnTo>
                  <a:lnTo>
                    <a:pt x="0" y="2828776"/>
                  </a:lnTo>
                  <a:close/>
                </a:path>
              </a:pathLst>
            </a:custGeom>
            <a:blipFill>
              <a:blip r:embed="rId3">
                <a:alphaModFix amt="0"/>
              </a:blip>
              <a:stretch>
                <a:fillRect l="-9141" t="0" r="50007" b="-89639"/>
              </a:stretch>
            </a:blipFill>
          </p:spPr>
        </p:sp>
        <p:sp>
          <p:nvSpPr>
            <p:cNvPr name="TextBox 7" id="7"/>
            <p:cNvSpPr txBox="true"/>
            <p:nvPr/>
          </p:nvSpPr>
          <p:spPr>
            <a:xfrm>
              <a:off x="0" y="-85725"/>
              <a:ext cx="23278738" cy="2914501"/>
            </a:xfrm>
            <a:prstGeom prst="rect">
              <a:avLst/>
            </a:prstGeom>
          </p:spPr>
          <p:txBody>
            <a:bodyPr anchor="ctr" rtlCol="false" tIns="0" lIns="0" bIns="0" rIns="0"/>
            <a:lstStyle/>
            <a:p>
              <a:pPr algn="l">
                <a:lnSpc>
                  <a:spcPts val="5039"/>
                </a:lnSpc>
              </a:pPr>
              <a:r>
                <a:rPr lang="en-US" sz="4199">
                  <a:solidFill>
                    <a:srgbClr val="1E293B"/>
                  </a:solidFill>
                  <a:latin typeface="Calibri (MS)"/>
                  <a:ea typeface="Calibri (MS)"/>
                  <a:cs typeface="Calibri (MS)"/>
                  <a:sym typeface="Calibri (MS)"/>
                </a:rPr>
                <a:t> is a machine learning preprocessing technique that tr</a:t>
              </a:r>
              <a:r>
                <a:rPr lang="en-US" sz="4199">
                  <a:solidFill>
                    <a:srgbClr val="1E293B"/>
                  </a:solidFill>
                  <a:latin typeface="Calibri (MS)"/>
                  <a:ea typeface="Calibri (MS)"/>
                  <a:cs typeface="Calibri (MS)"/>
                  <a:sym typeface="Calibri (MS)"/>
                </a:rPr>
                <a:t>ansforms raw, high-dimensional data (like images, audio, or text) into a smaller, more informative set of numerical features</a:t>
              </a:r>
            </a:p>
          </p:txBody>
        </p:sp>
      </p:grpSp>
      <p:sp>
        <p:nvSpPr>
          <p:cNvPr name="TextBox 8" id="8"/>
          <p:cNvSpPr txBox="true"/>
          <p:nvPr/>
        </p:nvSpPr>
        <p:spPr>
          <a:xfrm rot="0">
            <a:off x="1316842" y="6772275"/>
            <a:ext cx="17679112" cy="2486025"/>
          </a:xfrm>
          <a:prstGeom prst="rect">
            <a:avLst/>
          </a:prstGeom>
        </p:spPr>
        <p:txBody>
          <a:bodyPr anchor="t" rtlCol="false" tIns="0" lIns="0" bIns="0" rIns="0">
            <a:spAutoFit/>
          </a:bodyPr>
          <a:lstStyle/>
          <a:p>
            <a:pPr algn="l" marL="863599" indent="-431800" lvl="1">
              <a:lnSpc>
                <a:spcPts val="4799"/>
              </a:lnSpc>
              <a:buFont typeface="Arial"/>
              <a:buChar char="•"/>
            </a:pPr>
            <a:r>
              <a:rPr lang="en-US" sz="3999">
                <a:solidFill>
                  <a:srgbClr val="000000"/>
                </a:solidFill>
                <a:latin typeface="Calibri (MS)"/>
                <a:ea typeface="Calibri (MS)"/>
                <a:cs typeface="Calibri (MS)"/>
                <a:sym typeface="Calibri (MS)"/>
              </a:rPr>
              <a:t>T</a:t>
            </a:r>
            <a:r>
              <a:rPr lang="en-US" sz="3999">
                <a:solidFill>
                  <a:srgbClr val="000000"/>
                </a:solidFill>
                <a:latin typeface="Calibri (MS)"/>
                <a:ea typeface="Calibri (MS)"/>
                <a:cs typeface="Calibri (MS)"/>
                <a:sym typeface="Calibri (MS)"/>
              </a:rPr>
              <a:t>ype 1 — Extr</a:t>
            </a:r>
            <a:r>
              <a:rPr lang="en-US" sz="3999">
                <a:solidFill>
                  <a:srgbClr val="000000"/>
                </a:solidFill>
                <a:latin typeface="Calibri (MS)"/>
                <a:ea typeface="Calibri (MS)"/>
                <a:cs typeface="Calibri (MS)"/>
                <a:sym typeface="Calibri (MS)"/>
              </a:rPr>
              <a:t>act from Dates</a:t>
            </a:r>
          </a:p>
          <a:p>
            <a:pPr algn="l" marL="863599" indent="-431800" lvl="1">
              <a:lnSpc>
                <a:spcPts val="4799"/>
              </a:lnSpc>
              <a:buFont typeface="Arial"/>
              <a:buChar char="•"/>
            </a:pPr>
            <a:r>
              <a:rPr lang="en-US" sz="3999">
                <a:solidFill>
                  <a:srgbClr val="000000"/>
                </a:solidFill>
                <a:latin typeface="Calibri (MS)"/>
                <a:ea typeface="Calibri (MS)"/>
                <a:cs typeface="Calibri (MS)"/>
                <a:sym typeface="Calibri (MS)"/>
              </a:rPr>
              <a:t>Type 2 — Create categories from numbers</a:t>
            </a:r>
          </a:p>
          <a:p>
            <a:pPr algn="l" marL="863599" indent="-431800" lvl="1">
              <a:lnSpc>
                <a:spcPts val="4799"/>
              </a:lnSpc>
              <a:buFont typeface="Arial"/>
              <a:buChar char="•"/>
            </a:pPr>
            <a:r>
              <a:rPr lang="en-US" sz="3999">
                <a:solidFill>
                  <a:srgbClr val="000000"/>
                </a:solidFill>
                <a:latin typeface="Calibri (MS)"/>
                <a:ea typeface="Calibri (MS)"/>
                <a:cs typeface="Calibri (MS)"/>
                <a:sym typeface="Calibri (MS)"/>
              </a:rPr>
              <a:t>Type 3 — Combine columns</a:t>
            </a:r>
          </a:p>
          <a:p>
            <a:pPr algn="l">
              <a:lnSpc>
                <a:spcPts val="4799"/>
              </a:lnSpc>
            </a:pPr>
          </a:p>
        </p:txBody>
      </p:sp>
      <p:sp>
        <p:nvSpPr>
          <p:cNvPr name="TextBox 9" id="9"/>
          <p:cNvSpPr txBox="true"/>
          <p:nvPr/>
        </p:nvSpPr>
        <p:spPr>
          <a:xfrm rot="0">
            <a:off x="524503" y="5029200"/>
            <a:ext cx="4533801" cy="885825"/>
          </a:xfrm>
          <a:prstGeom prst="rect">
            <a:avLst/>
          </a:prstGeom>
        </p:spPr>
        <p:txBody>
          <a:bodyPr anchor="t" rtlCol="false" tIns="0" lIns="0" bIns="0" rIns="0">
            <a:spAutoFit/>
          </a:bodyPr>
          <a:lstStyle/>
          <a:p>
            <a:pPr algn="ctr">
              <a:lnSpc>
                <a:spcPts val="6119"/>
              </a:lnSpc>
              <a:spcBef>
                <a:spcPct val="0"/>
              </a:spcBef>
            </a:pPr>
            <a:r>
              <a:rPr lang="en-US" b="true" sz="5099">
                <a:solidFill>
                  <a:srgbClr val="000000"/>
                </a:solidFill>
                <a:latin typeface="Calibri (MS) Bold"/>
                <a:ea typeface="Calibri (MS) Bold"/>
                <a:cs typeface="Calibri (MS) Bold"/>
                <a:sym typeface="Calibri (MS) Bold"/>
              </a:rPr>
              <a:t>T</a:t>
            </a:r>
            <a:r>
              <a:rPr lang="en-US" b="true" sz="5099">
                <a:solidFill>
                  <a:srgbClr val="000000"/>
                </a:solidFill>
                <a:latin typeface="Calibri (MS) Bold"/>
                <a:ea typeface="Calibri (MS) Bold"/>
                <a:cs typeface="Calibri (MS) Bold"/>
                <a:sym typeface="Calibri (MS) Bold"/>
              </a:rPr>
              <a:t>hree main ways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Types</a:t>
              </a:r>
              <a:r>
                <a:rPr lang="en-US" sz="8000" b="true">
                  <a:solidFill>
                    <a:srgbClr val="1E293B"/>
                  </a:solidFill>
                  <a:latin typeface="Calibri (MS) Bold"/>
                  <a:ea typeface="Calibri (MS) Bold"/>
                  <a:cs typeface="Calibri (MS) Bold"/>
                  <a:sym typeface="Calibri (MS) Bold"/>
                </a:rPr>
                <a:t> of Feature Extraction</a:t>
              </a:r>
            </a:p>
          </p:txBody>
        </p:sp>
      </p:grpSp>
      <p:grpSp>
        <p:nvGrpSpPr>
          <p:cNvPr name="Group 5" id="5"/>
          <p:cNvGrpSpPr/>
          <p:nvPr/>
        </p:nvGrpSpPr>
        <p:grpSpPr>
          <a:xfrm rot="0">
            <a:off x="1028700" y="2470643"/>
            <a:ext cx="8973893" cy="1019749"/>
            <a:chOff x="0" y="0"/>
            <a:chExt cx="11965190" cy="1359665"/>
          </a:xfrm>
        </p:grpSpPr>
        <p:sp>
          <p:nvSpPr>
            <p:cNvPr name="Freeform 6" id="6"/>
            <p:cNvSpPr/>
            <p:nvPr/>
          </p:nvSpPr>
          <p:spPr>
            <a:xfrm flipH="false" flipV="false" rot="0">
              <a:off x="0" y="0"/>
              <a:ext cx="11965191" cy="1359666"/>
            </a:xfrm>
            <a:custGeom>
              <a:avLst/>
              <a:gdLst/>
              <a:ahLst/>
              <a:cxnLst/>
              <a:rect r="r" b="b" t="t" l="l"/>
              <a:pathLst>
                <a:path h="1359666" w="11965191">
                  <a:moveTo>
                    <a:pt x="0" y="0"/>
                  </a:moveTo>
                  <a:lnTo>
                    <a:pt x="11965191" y="0"/>
                  </a:lnTo>
                  <a:lnTo>
                    <a:pt x="11965191" y="1359666"/>
                  </a:lnTo>
                  <a:lnTo>
                    <a:pt x="0" y="1359666"/>
                  </a:lnTo>
                  <a:close/>
                </a:path>
              </a:pathLst>
            </a:custGeom>
            <a:blipFill>
              <a:blip r:embed="rId3">
                <a:alphaModFix amt="0"/>
              </a:blip>
              <a:stretch>
                <a:fillRect l="0" t="-260695" r="-83412" b="-268298"/>
              </a:stretch>
            </a:blipFill>
          </p:spPr>
        </p:sp>
        <p:sp>
          <p:nvSpPr>
            <p:cNvPr name="TextBox 7" id="7"/>
            <p:cNvSpPr txBox="true"/>
            <p:nvPr/>
          </p:nvSpPr>
          <p:spPr>
            <a:xfrm>
              <a:off x="0" y="-114300"/>
              <a:ext cx="11965190"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Type 1: Extracting from dates</a:t>
              </a:r>
            </a:p>
          </p:txBody>
        </p:sp>
      </p:grpSp>
      <p:grpSp>
        <p:nvGrpSpPr>
          <p:cNvPr name="Group 8" id="8"/>
          <p:cNvGrpSpPr/>
          <p:nvPr/>
        </p:nvGrpSpPr>
        <p:grpSpPr>
          <a:xfrm rot="0">
            <a:off x="3152775" y="3760470"/>
            <a:ext cx="14870474" cy="13053060"/>
            <a:chOff x="0" y="0"/>
            <a:chExt cx="1982729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410168" y="564515"/>
              <a:ext cx="19417131" cy="80867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import datetime</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df['DO</a:t>
              </a:r>
              <a:r>
                <a:rPr lang="en-US" sz="3999">
                  <a:solidFill>
                    <a:srgbClr val="000000"/>
                  </a:solidFill>
                  <a:latin typeface="Calibri (MS)"/>
                  <a:ea typeface="Calibri (MS)"/>
                  <a:cs typeface="Calibri (MS)"/>
                  <a:sym typeface="Calibri (MS)"/>
                </a:rPr>
                <a:t>B'] = pd.to_datetime(df['DOB'])</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current_year = datetime.datetime.now().year</a:t>
              </a:r>
            </a:p>
            <a:p>
              <a:pPr algn="just">
                <a:lnSpc>
                  <a:spcPts val="4799"/>
                </a:lnSpc>
              </a:pPr>
            </a:p>
            <a:p>
              <a:pPr algn="just">
                <a:lnSpc>
                  <a:spcPts val="4799"/>
                </a:lnSpc>
                <a:spcBef>
                  <a:spcPct val="0"/>
                </a:spcBef>
              </a:pPr>
              <a:r>
                <a:rPr lang="en-US" sz="3999">
                  <a:solidFill>
                    <a:srgbClr val="000000"/>
                  </a:solidFill>
                  <a:latin typeface="Calibri (MS)"/>
                  <a:ea typeface="Calibri (MS)"/>
                  <a:cs typeface="Calibri (MS)"/>
                  <a:sym typeface="Calibri (MS)"/>
                </a:rPr>
                <a:t>df['Age'] = current_ye</a:t>
              </a:r>
              <a:r>
                <a:rPr lang="en-US" sz="3999">
                  <a:solidFill>
                    <a:srgbClr val="000000"/>
                  </a:solidFill>
                  <a:latin typeface="Calibri (MS)"/>
                  <a:ea typeface="Calibri (MS)"/>
                  <a:cs typeface="Calibri (MS)"/>
                  <a:sym typeface="Calibri (MS)"/>
                </a:rPr>
                <a:t>ar - df['DOB'].dt.year</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print(df[['Name', 'Age']])</a:t>
              </a:r>
            </a:p>
            <a:p>
              <a:pPr algn="just">
                <a:lnSpc>
                  <a:spcPts val="4799"/>
                </a:lnSpc>
                <a:spcBef>
                  <a:spcPct val="0"/>
                </a:spcBef>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Types</a:t>
              </a:r>
              <a:r>
                <a:rPr lang="en-US" sz="8000" b="true">
                  <a:solidFill>
                    <a:srgbClr val="1E293B"/>
                  </a:solidFill>
                  <a:latin typeface="Calibri (MS) Bold"/>
                  <a:ea typeface="Calibri (MS) Bold"/>
                  <a:cs typeface="Calibri (MS) Bold"/>
                  <a:sym typeface="Calibri (MS) Bold"/>
                </a:rPr>
                <a:t> of Feature Extraction</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Type 2 : Create categories from numbers</a:t>
              </a:r>
            </a:p>
          </p:txBody>
        </p:sp>
      </p:grpSp>
      <p:grpSp>
        <p:nvGrpSpPr>
          <p:cNvPr name="Group 8" id="8"/>
          <p:cNvGrpSpPr/>
          <p:nvPr/>
        </p:nvGrpSpPr>
        <p:grpSpPr>
          <a:xfrm rot="0">
            <a:off x="3152775" y="3760470"/>
            <a:ext cx="14870474" cy="13053060"/>
            <a:chOff x="0" y="0"/>
            <a:chExt cx="1982729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410168" y="564515"/>
              <a:ext cx="19417131" cy="64865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df['Age_G</a:t>
              </a:r>
              <a:r>
                <a:rPr lang="en-US" sz="3999">
                  <a:solidFill>
                    <a:srgbClr val="000000"/>
                  </a:solidFill>
                  <a:latin typeface="Calibri (MS)"/>
                  <a:ea typeface="Calibri (MS)"/>
                  <a:cs typeface="Calibri (MS)"/>
                  <a:sym typeface="Calibri (MS)"/>
                </a:rPr>
                <a:t>roup'] = pd.cut(</a:t>
              </a:r>
            </a:p>
            <a:p>
              <a:pPr algn="just">
                <a:lnSpc>
                  <a:spcPts val="4799"/>
                </a:lnSpc>
              </a:pPr>
              <a:r>
                <a:rPr lang="en-US" sz="3999">
                  <a:solidFill>
                    <a:srgbClr val="000000"/>
                  </a:solidFill>
                  <a:latin typeface="Calibri (MS)"/>
                  <a:ea typeface="Calibri (MS)"/>
                  <a:cs typeface="Calibri (MS)"/>
                  <a:sym typeface="Calibri (MS)"/>
                </a:rPr>
                <a:t>  df['Age'],</a:t>
              </a:r>
            </a:p>
            <a:p>
              <a:pPr algn="just">
                <a:lnSpc>
                  <a:spcPts val="4799"/>
                </a:lnSpc>
              </a:pPr>
              <a:r>
                <a:rPr lang="en-US" sz="3999">
                  <a:solidFill>
                    <a:srgbClr val="000000"/>
                  </a:solidFill>
                  <a:latin typeface="Calibri (MS)"/>
                  <a:ea typeface="Calibri (MS)"/>
                  <a:cs typeface="Calibri (MS)"/>
                  <a:sym typeface="Calibri (MS)"/>
                </a:rPr>
                <a:t>  bins=[0, 25, 40, 60],</a:t>
              </a:r>
            </a:p>
            <a:p>
              <a:pPr algn="just">
                <a:lnSpc>
                  <a:spcPts val="4799"/>
                </a:lnSpc>
                <a:spcBef>
                  <a:spcPct val="0"/>
                </a:spcBef>
              </a:pPr>
              <a:r>
                <a:rPr lang="en-US" sz="3999">
                  <a:solidFill>
                    <a:srgbClr val="000000"/>
                  </a:solidFill>
                  <a:latin typeface="Calibri (MS)"/>
                  <a:ea typeface="Calibri (MS)"/>
                  <a:cs typeface="Calibri (MS)"/>
                  <a:sym typeface="Calibri (MS)"/>
                </a:rPr>
                <a:t>  labels=['Young', 'Mid-Caree</a:t>
              </a:r>
              <a:r>
                <a:rPr lang="en-US" sz="3999">
                  <a:solidFill>
                    <a:srgbClr val="000000"/>
                  </a:solidFill>
                  <a:latin typeface="Calibri (MS)"/>
                  <a:ea typeface="Calibri (MS)"/>
                  <a:cs typeface="Calibri (MS)"/>
                  <a:sym typeface="Calibri (MS)"/>
                </a:rPr>
                <a:t>r', 'Senior']</a:t>
              </a:r>
            </a:p>
            <a:p>
              <a:pPr algn="just">
                <a:lnSpc>
                  <a:spcPts val="4799"/>
                </a:lnSpc>
                <a:spcBef>
                  <a:spcPct val="0"/>
                </a:spcBef>
              </a:pPr>
              <a:r>
                <a:rPr lang="en-US" sz="3999">
                  <a:solidFill>
                    <a:srgbClr val="000000"/>
                  </a:solidFill>
                  <a:latin typeface="Calibri (MS)"/>
                  <a:ea typeface="Calibri (MS)"/>
                  <a:cs typeface="Calibri (MS)"/>
                  <a:sym typeface="Calibri (MS)"/>
                </a:rPr>
                <a:t>)</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print(df[['Name', 'Age', 'Age_Group']])</a:t>
              </a:r>
            </a:p>
            <a:p>
              <a:pPr algn="just">
                <a:lnSpc>
                  <a:spcPts val="4799"/>
                </a:lnSpc>
                <a:spcBef>
                  <a:spcPct val="0"/>
                </a:spcBef>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Types</a:t>
              </a:r>
              <a:r>
                <a:rPr lang="en-US" sz="8000" b="true">
                  <a:solidFill>
                    <a:srgbClr val="1E293B"/>
                  </a:solidFill>
                  <a:latin typeface="Calibri (MS) Bold"/>
                  <a:ea typeface="Calibri (MS) Bold"/>
                  <a:cs typeface="Calibri (MS) Bold"/>
                  <a:sym typeface="Calibri (MS) Bold"/>
                </a:rPr>
                <a:t> of Feature Extraction</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Type 3 : Combine columns</a:t>
              </a:r>
            </a:p>
          </p:txBody>
        </p:sp>
      </p:grpSp>
      <p:grpSp>
        <p:nvGrpSpPr>
          <p:cNvPr name="Group 8" id="8"/>
          <p:cNvGrpSpPr/>
          <p:nvPr/>
        </p:nvGrpSpPr>
        <p:grpSpPr>
          <a:xfrm rot="0">
            <a:off x="3152775" y="3760470"/>
            <a:ext cx="14870474" cy="13053060"/>
            <a:chOff x="0" y="0"/>
            <a:chExt cx="1982729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410168" y="564515"/>
              <a:ext cx="19417131" cy="4086225"/>
            </a:xfrm>
            <a:prstGeom prst="rect">
              <a:avLst/>
            </a:prstGeom>
          </p:spPr>
          <p:txBody>
            <a:bodyPr anchor="t" rtlCol="false" tIns="0" lIns="0" bIns="0" rIns="0">
              <a:spAutoFit/>
            </a:bodyPr>
            <a:lstStyle/>
            <a:p>
              <a:pPr algn="just">
                <a:lnSpc>
                  <a:spcPts val="4799"/>
                </a:lnSpc>
              </a:pPr>
            </a:p>
            <a:p>
              <a:pPr algn="just">
                <a:lnSpc>
                  <a:spcPts val="4799"/>
                </a:lnSpc>
                <a:spcBef>
                  <a:spcPct val="0"/>
                </a:spcBef>
              </a:pPr>
              <a:r>
                <a:rPr lang="en-US" sz="3999">
                  <a:solidFill>
                    <a:srgbClr val="000000"/>
                  </a:solidFill>
                  <a:latin typeface="Calibri (MS)"/>
                  <a:ea typeface="Calibri (MS)"/>
                  <a:cs typeface="Calibri (MS)"/>
                  <a:sym typeface="Calibri (MS)"/>
                </a:rPr>
                <a:t>df['T</a:t>
              </a:r>
              <a:r>
                <a:rPr lang="en-US" sz="3999">
                  <a:solidFill>
                    <a:srgbClr val="000000"/>
                  </a:solidFill>
                  <a:latin typeface="Calibri (MS)"/>
                  <a:ea typeface="Calibri (MS)"/>
                  <a:cs typeface="Calibri (MS)"/>
                  <a:sym typeface="Calibri (MS)"/>
                </a:rPr>
                <a:t>otal_Spend'] = df['Price'] * df['Qua</a:t>
              </a:r>
              <a:r>
                <a:rPr lang="en-US" sz="3999">
                  <a:solidFill>
                    <a:srgbClr val="000000"/>
                  </a:solidFill>
                  <a:latin typeface="Calibri (MS)"/>
                  <a:ea typeface="Calibri (MS)"/>
                  <a:cs typeface="Calibri (MS)"/>
                  <a:sym typeface="Calibri (MS)"/>
                </a:rPr>
                <a:t>ntity']</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print(df[['Name', 'Price', 'Quantity', 'Total_Spend']])</a:t>
              </a:r>
            </a:p>
            <a:p>
              <a:pPr algn="just">
                <a:lnSpc>
                  <a:spcPts val="4799"/>
                </a:lnSpc>
                <a:spcBef>
                  <a:spcPct val="0"/>
                </a:spcBef>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2791403" y="646059"/>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H</a:t>
              </a:r>
              <a:r>
                <a:rPr lang="en-US" sz="8000" b="true">
                  <a:solidFill>
                    <a:srgbClr val="1E293B"/>
                  </a:solidFill>
                  <a:latin typeface="Calibri (MS) Bold"/>
                  <a:ea typeface="Calibri (MS) Bold"/>
                  <a:cs typeface="Calibri (MS) Bold"/>
                  <a:sym typeface="Calibri (MS) Bold"/>
                </a:rPr>
                <a:t>andling Imbalanced Data</a:t>
              </a:r>
            </a:p>
          </p:txBody>
        </p:sp>
      </p:grpSp>
      <p:grpSp>
        <p:nvGrpSpPr>
          <p:cNvPr name="Group 5" id="5"/>
          <p:cNvGrpSpPr/>
          <p:nvPr/>
        </p:nvGrpSpPr>
        <p:grpSpPr>
          <a:xfrm rot="0">
            <a:off x="2791403" y="2269179"/>
            <a:ext cx="11044541" cy="4674282"/>
            <a:chOff x="0" y="0"/>
            <a:chExt cx="14726055" cy="6232376"/>
          </a:xfrm>
        </p:grpSpPr>
        <p:sp>
          <p:nvSpPr>
            <p:cNvPr name="Freeform 6" id="6"/>
            <p:cNvSpPr/>
            <p:nvPr/>
          </p:nvSpPr>
          <p:spPr>
            <a:xfrm flipH="false" flipV="false" rot="0">
              <a:off x="0" y="0"/>
              <a:ext cx="14726055" cy="6232376"/>
            </a:xfrm>
            <a:custGeom>
              <a:avLst/>
              <a:gdLst/>
              <a:ahLst/>
              <a:cxnLst/>
              <a:rect r="r" b="b" t="t" l="l"/>
              <a:pathLst>
                <a:path h="6232376" w="14726055">
                  <a:moveTo>
                    <a:pt x="0" y="0"/>
                  </a:moveTo>
                  <a:lnTo>
                    <a:pt x="14726055" y="0"/>
                  </a:lnTo>
                  <a:lnTo>
                    <a:pt x="14726055" y="6232376"/>
                  </a:lnTo>
                  <a:lnTo>
                    <a:pt x="0" y="6232376"/>
                  </a:lnTo>
                  <a:close/>
                </a:path>
              </a:pathLst>
            </a:custGeom>
            <a:blipFill>
              <a:blip r:embed="rId3">
                <a:alphaModFix amt="0"/>
              </a:blip>
              <a:stretch>
                <a:fillRect l="-14450" t="0" r="20972" b="13925"/>
              </a:stretch>
            </a:blipFill>
          </p:spPr>
        </p:sp>
        <p:sp>
          <p:nvSpPr>
            <p:cNvPr name="TextBox 7" id="7"/>
            <p:cNvSpPr txBox="true"/>
            <p:nvPr/>
          </p:nvSpPr>
          <p:spPr>
            <a:xfrm>
              <a:off x="0" y="-85725"/>
              <a:ext cx="14726055" cy="6318101"/>
            </a:xfrm>
            <a:prstGeom prst="rect">
              <a:avLst/>
            </a:prstGeom>
          </p:spPr>
          <p:txBody>
            <a:bodyPr anchor="ctr" rtlCol="false" tIns="0" lIns="0" bIns="0" rIns="0"/>
            <a:lstStyle/>
            <a:p>
              <a:pPr algn="l">
                <a:lnSpc>
                  <a:spcPts val="5039"/>
                </a:lnSpc>
              </a:pPr>
              <a:r>
                <a:rPr lang="en-US" sz="4199">
                  <a:solidFill>
                    <a:srgbClr val="1E293B"/>
                  </a:solidFill>
                  <a:latin typeface="Calibri (MS)"/>
                  <a:ea typeface="Calibri (MS)"/>
                  <a:cs typeface="Calibri (MS)"/>
                  <a:sym typeface="Calibri (MS)"/>
                </a:rPr>
                <a:t>Balanced Dataset          Imbalanced Dataset</a:t>
              </a:r>
            </a:p>
            <a:p>
              <a:pPr algn="l">
                <a:lnSpc>
                  <a:spcPts val="5039"/>
                </a:lnSpc>
              </a:pPr>
              <a:r>
                <a:rPr lang="en-US" sz="4199">
                  <a:solidFill>
                    <a:srgbClr val="1E293B"/>
                  </a:solidFill>
                  <a:latin typeface="Calibri (MS)"/>
                  <a:ea typeface="Calibri (MS)"/>
                  <a:cs typeface="Calibri (MS)"/>
                  <a:sym typeface="Calibri (MS)"/>
                </a:rPr>
                <a:t>──────────────────        ──────────────────</a:t>
              </a:r>
            </a:p>
            <a:p>
              <a:pPr algn="l">
                <a:lnSpc>
                  <a:spcPts val="5039"/>
                </a:lnSpc>
              </a:pPr>
              <a:r>
                <a:rPr lang="en-US" sz="4199">
                  <a:solidFill>
                    <a:srgbClr val="1E293B"/>
                  </a:solidFill>
                  <a:latin typeface="Calibri (MS)"/>
                  <a:ea typeface="Calibri (MS)"/>
                  <a:cs typeface="Calibri (MS)"/>
                  <a:sym typeface="Calibri (MS)"/>
                </a:rPr>
                <a:t>Class 0 → 500 rows        Class 0 → 950 rows</a:t>
              </a:r>
            </a:p>
            <a:p>
              <a:pPr algn="l">
                <a:lnSpc>
                  <a:spcPts val="5039"/>
                </a:lnSpc>
              </a:pPr>
              <a:r>
                <a:rPr lang="en-US" sz="4199">
                  <a:solidFill>
                    <a:srgbClr val="1E293B"/>
                  </a:solidFill>
                  <a:latin typeface="Calibri (MS)"/>
                  <a:ea typeface="Calibri (MS)"/>
                  <a:cs typeface="Calibri (MS)"/>
                  <a:sym typeface="Calibri (MS)"/>
                </a:rPr>
                <a:t>Cl</a:t>
              </a:r>
              <a:r>
                <a:rPr lang="en-US" sz="4199">
                  <a:solidFill>
                    <a:srgbClr val="1E293B"/>
                  </a:solidFill>
                  <a:latin typeface="Calibri (MS)"/>
                  <a:ea typeface="Calibri (MS)"/>
                  <a:cs typeface="Calibri (MS)"/>
                  <a:sym typeface="Calibri (MS)"/>
                </a:rPr>
                <a:t>ass 1 → 500 rows        Class 1 →  50 rows</a:t>
              </a:r>
            </a:p>
            <a:p>
              <a:pPr algn="l">
                <a:lnSpc>
                  <a:spcPts val="5039"/>
                </a:lnSpc>
              </a:pPr>
              <a:r>
                <a:rPr lang="en-US" sz="4199">
                  <a:solidFill>
                    <a:srgbClr val="1E293B"/>
                  </a:solidFill>
                  <a:latin typeface="Calibri (MS)"/>
                  <a:ea typeface="Calibri (MS)"/>
                  <a:cs typeface="Calibri (MS)"/>
                  <a:sym typeface="Calibri (MS)"/>
                </a:rPr>
                <a:t>50% vs 50%                      95% vs 5%</a:t>
              </a:r>
            </a:p>
            <a:p>
              <a:pPr algn="l">
                <a:lnSpc>
                  <a:spcPts val="5039"/>
                </a:lnSpc>
              </a:pPr>
            </a:p>
            <a:p>
              <a:pPr algn="l">
                <a:lnSpc>
                  <a:spcPts val="5039"/>
                </a:lnSpc>
              </a:pPr>
            </a:p>
          </p:txBody>
        </p:sp>
      </p:grpSp>
      <p:sp>
        <p:nvSpPr>
          <p:cNvPr name="TextBox 8" id="8"/>
          <p:cNvSpPr txBox="true"/>
          <p:nvPr/>
        </p:nvSpPr>
        <p:spPr>
          <a:xfrm rot="0">
            <a:off x="3378091" y="6504322"/>
            <a:ext cx="11044541" cy="1885950"/>
          </a:xfrm>
          <a:prstGeom prst="rect">
            <a:avLst/>
          </a:prstGeom>
        </p:spPr>
        <p:txBody>
          <a:bodyPr anchor="t" rtlCol="false" tIns="0" lIns="0" bIns="0" rIns="0">
            <a:spAutoFit/>
          </a:bodyPr>
          <a:lstStyle/>
          <a:p>
            <a:pPr algn="l">
              <a:lnSpc>
                <a:spcPts val="4799"/>
              </a:lnSpc>
              <a:spcBef>
                <a:spcPct val="0"/>
              </a:spcBef>
            </a:pPr>
            <a:r>
              <a:rPr lang="en-US" sz="3999">
                <a:solidFill>
                  <a:srgbClr val="000000"/>
                </a:solidFill>
                <a:latin typeface="Calibri (MS)"/>
                <a:ea typeface="Calibri (MS)"/>
                <a:cs typeface="Calibri (MS)"/>
                <a:sym typeface="Calibri (MS)"/>
              </a:rPr>
              <a:t>Model predicts Class 0 for everything</a:t>
            </a:r>
          </a:p>
          <a:p>
            <a:pPr algn="l">
              <a:lnSpc>
                <a:spcPts val="4799"/>
              </a:lnSpc>
              <a:spcBef>
                <a:spcPct val="0"/>
              </a:spcBef>
            </a:pPr>
            <a:r>
              <a:rPr lang="en-US" sz="3999">
                <a:solidFill>
                  <a:srgbClr val="000000"/>
                </a:solidFill>
                <a:latin typeface="Calibri (MS)"/>
                <a:ea typeface="Calibri (MS)"/>
                <a:cs typeface="Calibri (MS)"/>
                <a:sym typeface="Calibri (MS)"/>
              </a:rPr>
              <a:t>Accuracy = 950/1000 = 95%</a:t>
            </a:r>
          </a:p>
          <a:p>
            <a:pPr algn="l">
              <a:lnSpc>
                <a:spcPts val="4799"/>
              </a:lnSpc>
              <a:spcBef>
                <a:spcPct val="0"/>
              </a:spcBef>
            </a:pPr>
            <a:r>
              <a:rPr lang="en-US" sz="3999">
                <a:solidFill>
                  <a:srgbClr val="000000"/>
                </a:solidFill>
                <a:latin typeface="Calibri (MS)"/>
                <a:ea typeface="Calibri (MS)"/>
                <a:cs typeface="Calibri (MS)"/>
                <a:sym typeface="Calibri (MS)"/>
              </a:rPr>
              <a:t>Looks great — but completely useless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5058304" y="491668"/>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Tr</a:t>
              </a:r>
              <a:r>
                <a:rPr lang="en-US" sz="8000" b="true">
                  <a:solidFill>
                    <a:srgbClr val="1E293B"/>
                  </a:solidFill>
                  <a:latin typeface="Calibri (MS) Bold"/>
                  <a:ea typeface="Calibri (MS) Bold"/>
                  <a:cs typeface="Calibri (MS) Bold"/>
                  <a:sym typeface="Calibri (MS) Bold"/>
                </a:rPr>
                <a:t>ain–Test Split</a:t>
              </a:r>
            </a:p>
          </p:txBody>
        </p:sp>
      </p:grpSp>
      <p:grpSp>
        <p:nvGrpSpPr>
          <p:cNvPr name="Group 5" id="5"/>
          <p:cNvGrpSpPr/>
          <p:nvPr/>
        </p:nvGrpSpPr>
        <p:grpSpPr>
          <a:xfrm rot="0">
            <a:off x="1028700" y="2095737"/>
            <a:ext cx="17459053" cy="4036107"/>
            <a:chOff x="0" y="0"/>
            <a:chExt cx="23278738" cy="5381476"/>
          </a:xfrm>
        </p:grpSpPr>
        <p:sp>
          <p:nvSpPr>
            <p:cNvPr name="Freeform 6" id="6"/>
            <p:cNvSpPr/>
            <p:nvPr/>
          </p:nvSpPr>
          <p:spPr>
            <a:xfrm flipH="false" flipV="false" rot="0">
              <a:off x="0" y="0"/>
              <a:ext cx="23278737" cy="5381476"/>
            </a:xfrm>
            <a:custGeom>
              <a:avLst/>
              <a:gdLst/>
              <a:ahLst/>
              <a:cxnLst/>
              <a:rect r="r" b="b" t="t" l="l"/>
              <a:pathLst>
                <a:path h="5381476" w="23278737">
                  <a:moveTo>
                    <a:pt x="0" y="0"/>
                  </a:moveTo>
                  <a:lnTo>
                    <a:pt x="23278737" y="0"/>
                  </a:lnTo>
                  <a:lnTo>
                    <a:pt x="23278737" y="5381476"/>
                  </a:lnTo>
                  <a:lnTo>
                    <a:pt x="0" y="5381476"/>
                  </a:lnTo>
                  <a:close/>
                </a:path>
              </a:pathLst>
            </a:custGeom>
            <a:blipFill>
              <a:blip r:embed="rId3">
                <a:alphaModFix amt="0"/>
              </a:blip>
              <a:stretch>
                <a:fillRect l="-9141" t="0" r="50007" b="315"/>
              </a:stretch>
            </a:blipFill>
          </p:spPr>
        </p:sp>
        <p:sp>
          <p:nvSpPr>
            <p:cNvPr name="TextBox 7" id="7"/>
            <p:cNvSpPr txBox="true"/>
            <p:nvPr/>
          </p:nvSpPr>
          <p:spPr>
            <a:xfrm>
              <a:off x="0" y="-85725"/>
              <a:ext cx="23278738" cy="5467201"/>
            </a:xfrm>
            <a:prstGeom prst="rect">
              <a:avLst/>
            </a:prstGeom>
          </p:spPr>
          <p:txBody>
            <a:bodyPr anchor="ctr" rtlCol="false" tIns="0" lIns="0" bIns="0" rIns="0"/>
            <a:lstStyle/>
            <a:p>
              <a:pPr algn="l">
                <a:lnSpc>
                  <a:spcPts val="5039"/>
                </a:lnSpc>
              </a:pPr>
              <a:r>
                <a:rPr lang="en-US" sz="4199">
                  <a:solidFill>
                    <a:srgbClr val="1E293B"/>
                  </a:solidFill>
                  <a:latin typeface="Calibri (MS)"/>
                  <a:ea typeface="Calibri (MS)"/>
                  <a:cs typeface="Calibri (MS)"/>
                  <a:sym typeface="Calibri (MS)"/>
                </a:rPr>
                <a:t>Train–Test Split is a technique used in Machine Learning to divide the dataset into two parts:</a:t>
              </a:r>
            </a:p>
            <a:p>
              <a:pPr algn="l" marL="906778" indent="-453389" lvl="1">
                <a:lnSpc>
                  <a:spcPts val="5039"/>
                </a:lnSpc>
                <a:buFont typeface="Arial"/>
                <a:buChar char="•"/>
              </a:pPr>
              <a:r>
                <a:rPr lang="en-US" sz="4199">
                  <a:solidFill>
                    <a:srgbClr val="1E293B"/>
                  </a:solidFill>
                  <a:latin typeface="Calibri (MS)"/>
                  <a:ea typeface="Calibri (MS)"/>
                  <a:cs typeface="Calibri (MS)"/>
                  <a:sym typeface="Calibri (MS)"/>
                </a:rPr>
                <a:t>Tr</a:t>
              </a:r>
              <a:r>
                <a:rPr lang="en-US" sz="4199">
                  <a:solidFill>
                    <a:srgbClr val="1E293B"/>
                  </a:solidFill>
                  <a:latin typeface="Calibri (MS)"/>
                  <a:ea typeface="Calibri (MS)"/>
                  <a:cs typeface="Calibri (MS)"/>
                  <a:sym typeface="Calibri (MS)"/>
                </a:rPr>
                <a:t>aining Set → Used to train the model</a:t>
              </a:r>
            </a:p>
            <a:p>
              <a:pPr algn="l" marL="906778" indent="-453389" lvl="1">
                <a:lnSpc>
                  <a:spcPts val="5039"/>
                </a:lnSpc>
                <a:buFont typeface="Arial"/>
                <a:buChar char="•"/>
              </a:pPr>
              <a:r>
                <a:rPr lang="en-US" sz="4199">
                  <a:solidFill>
                    <a:srgbClr val="1E293B"/>
                  </a:solidFill>
                  <a:latin typeface="Calibri (MS)"/>
                  <a:ea typeface="Calibri (MS)"/>
                  <a:cs typeface="Calibri (MS)"/>
                  <a:sym typeface="Calibri (MS)"/>
                </a:rPr>
                <a:t>Testing Set → Used to evaluate the model performance on unseen data</a:t>
              </a:r>
            </a:p>
            <a:p>
              <a:pPr algn="l">
                <a:lnSpc>
                  <a:spcPts val="5039"/>
                </a:lnSpc>
              </a:pPr>
              <a:r>
                <a:rPr lang="en-US" sz="4199">
                  <a:solidFill>
                    <a:srgbClr val="1E293B"/>
                  </a:solidFill>
                  <a:latin typeface="Calibri (MS)"/>
                  <a:ea typeface="Calibri (MS)"/>
                  <a:cs typeface="Calibri (MS)"/>
                  <a:sym typeface="Calibri (MS)"/>
                </a:rPr>
                <a:t>The goal is to check how well the model generalizes to new data.</a:t>
              </a:r>
            </a:p>
            <a:p>
              <a:pPr algn="l">
                <a:lnSpc>
                  <a:spcPts val="5039"/>
                </a:lnSpc>
              </a:pPr>
            </a:p>
          </p:txBody>
        </p:sp>
      </p:grpSp>
      <p:sp>
        <p:nvSpPr>
          <p:cNvPr name="TextBox 8" id="8"/>
          <p:cNvSpPr txBox="true"/>
          <p:nvPr/>
        </p:nvSpPr>
        <p:spPr>
          <a:xfrm rot="0">
            <a:off x="1316842" y="6772275"/>
            <a:ext cx="17679112" cy="2486025"/>
          </a:xfrm>
          <a:prstGeom prst="rect">
            <a:avLst/>
          </a:prstGeom>
        </p:spPr>
        <p:txBody>
          <a:bodyPr anchor="t" rtlCol="false" tIns="0" lIns="0" bIns="0" rIns="0">
            <a:spAutoFit/>
          </a:bodyPr>
          <a:lstStyle/>
          <a:p>
            <a:pPr algn="l">
              <a:lnSpc>
                <a:spcPts val="4799"/>
              </a:lnSpc>
            </a:pPr>
            <a:r>
              <a:rPr lang="en-US" sz="3999">
                <a:solidFill>
                  <a:srgbClr val="000000"/>
                </a:solidFill>
                <a:latin typeface="Calibri (MS)"/>
                <a:ea typeface="Calibri (MS)"/>
                <a:cs typeface="Calibri (MS)"/>
                <a:sym typeface="Calibri (MS)"/>
              </a:rPr>
              <a:t>Dataset size = 1000 samples</a:t>
            </a:r>
          </a:p>
          <a:p>
            <a:pPr algn="l" marL="863599" indent="-431800" lvl="1">
              <a:lnSpc>
                <a:spcPts val="4799"/>
              </a:lnSpc>
              <a:buFont typeface="Arial"/>
              <a:buChar char="•"/>
            </a:pPr>
            <a:r>
              <a:rPr lang="en-US" sz="3999">
                <a:solidFill>
                  <a:srgbClr val="000000"/>
                </a:solidFill>
                <a:latin typeface="Calibri (MS)"/>
                <a:ea typeface="Calibri (MS)"/>
                <a:cs typeface="Calibri (MS)"/>
                <a:sym typeface="Calibri (MS)"/>
              </a:rPr>
              <a:t>Training data = 800 samples (80%)</a:t>
            </a:r>
          </a:p>
          <a:p>
            <a:pPr algn="l" marL="863599" indent="-431800" lvl="1">
              <a:lnSpc>
                <a:spcPts val="4799"/>
              </a:lnSpc>
              <a:buFont typeface="Arial"/>
              <a:buChar char="•"/>
            </a:pPr>
            <a:r>
              <a:rPr lang="en-US" sz="3999">
                <a:solidFill>
                  <a:srgbClr val="000000"/>
                </a:solidFill>
                <a:latin typeface="Calibri (MS)"/>
                <a:ea typeface="Calibri (MS)"/>
                <a:cs typeface="Calibri (MS)"/>
                <a:sym typeface="Calibri (MS)"/>
              </a:rPr>
              <a:t>Testing data = 200 samples   (20%)</a:t>
            </a:r>
          </a:p>
          <a:p>
            <a:pPr algn="l">
              <a:lnSpc>
                <a:spcPts val="4799"/>
              </a:lnSpc>
            </a:pPr>
          </a:p>
        </p:txBody>
      </p:sp>
      <p:sp>
        <p:nvSpPr>
          <p:cNvPr name="TextBox 9" id="9"/>
          <p:cNvSpPr txBox="true"/>
          <p:nvPr/>
        </p:nvSpPr>
        <p:spPr>
          <a:xfrm rot="0">
            <a:off x="1028700" y="5957623"/>
            <a:ext cx="2461220" cy="885825"/>
          </a:xfrm>
          <a:prstGeom prst="rect">
            <a:avLst/>
          </a:prstGeom>
        </p:spPr>
        <p:txBody>
          <a:bodyPr anchor="t" rtlCol="false" tIns="0" lIns="0" bIns="0" rIns="0">
            <a:spAutoFit/>
          </a:bodyPr>
          <a:lstStyle/>
          <a:p>
            <a:pPr algn="ctr">
              <a:lnSpc>
                <a:spcPts val="6119"/>
              </a:lnSpc>
              <a:spcBef>
                <a:spcPct val="0"/>
              </a:spcBef>
            </a:pPr>
            <a:r>
              <a:rPr lang="en-US" b="true" sz="5099">
                <a:solidFill>
                  <a:srgbClr val="000000"/>
                </a:solidFill>
                <a:latin typeface="Calibri (MS) Bold"/>
                <a:ea typeface="Calibri (MS) Bold"/>
                <a:cs typeface="Calibri (MS) Bold"/>
                <a:sym typeface="Calibri (MS) Bold"/>
              </a:rPr>
              <a:t>Example: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6413689" y="775275"/>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 Learn</a:t>
              </a:r>
            </a:p>
          </p:txBody>
        </p:sp>
      </p:grpSp>
      <p:grpSp>
        <p:nvGrpSpPr>
          <p:cNvPr name="Group 5" id="5"/>
          <p:cNvGrpSpPr/>
          <p:nvPr/>
        </p:nvGrpSpPr>
        <p:grpSpPr>
          <a:xfrm rot="0">
            <a:off x="914400" y="2560320"/>
            <a:ext cx="7863840" cy="2377440"/>
            <a:chOff x="0" y="0"/>
            <a:chExt cx="10485120" cy="3169920"/>
          </a:xfrm>
        </p:grpSpPr>
        <p:sp>
          <p:nvSpPr>
            <p:cNvPr name="Freeform 6" id="6"/>
            <p:cNvSpPr/>
            <p:nvPr/>
          </p:nvSpPr>
          <p:spPr>
            <a:xfrm flipH="false" flipV="false" rot="0">
              <a:off x="0" y="0"/>
              <a:ext cx="10485120" cy="3169920"/>
            </a:xfrm>
            <a:custGeom>
              <a:avLst/>
              <a:gdLst/>
              <a:ahLst/>
              <a:cxnLst/>
              <a:rect r="r" b="b" t="t" l="l"/>
              <a:pathLst>
                <a:path h="3169920" w="10485120">
                  <a:moveTo>
                    <a:pt x="0" y="0"/>
                  </a:moveTo>
                  <a:lnTo>
                    <a:pt x="10485120" y="0"/>
                  </a:lnTo>
                  <a:lnTo>
                    <a:pt x="10485120" y="3169920"/>
                  </a:lnTo>
                  <a:lnTo>
                    <a:pt x="0" y="3169920"/>
                  </a:lnTo>
                  <a:close/>
                </a:path>
              </a:pathLst>
            </a:custGeom>
            <a:solidFill>
              <a:srgbClr val="FFFFFF"/>
            </a:solidFill>
          </p:spPr>
        </p:sp>
      </p:grpSp>
      <p:grpSp>
        <p:nvGrpSpPr>
          <p:cNvPr name="Group 7" id="7"/>
          <p:cNvGrpSpPr/>
          <p:nvPr/>
        </p:nvGrpSpPr>
        <p:grpSpPr>
          <a:xfrm rot="0">
            <a:off x="914400" y="2560320"/>
            <a:ext cx="146304" cy="2377440"/>
            <a:chOff x="0" y="0"/>
            <a:chExt cx="195072" cy="3169920"/>
          </a:xfrm>
        </p:grpSpPr>
        <p:sp>
          <p:nvSpPr>
            <p:cNvPr name="Freeform 8" id="8"/>
            <p:cNvSpPr/>
            <p:nvPr/>
          </p:nvSpPr>
          <p:spPr>
            <a:xfrm flipH="false" flipV="false" rot="0">
              <a:off x="0" y="0"/>
              <a:ext cx="195072" cy="3169920"/>
            </a:xfrm>
            <a:custGeom>
              <a:avLst/>
              <a:gdLst/>
              <a:ahLst/>
              <a:cxnLst/>
              <a:rect r="r" b="b" t="t" l="l"/>
              <a:pathLst>
                <a:path h="3169920" w="195072">
                  <a:moveTo>
                    <a:pt x="0" y="0"/>
                  </a:moveTo>
                  <a:lnTo>
                    <a:pt x="195072" y="0"/>
                  </a:lnTo>
                  <a:lnTo>
                    <a:pt x="195072" y="3169920"/>
                  </a:lnTo>
                  <a:lnTo>
                    <a:pt x="0" y="3169920"/>
                  </a:lnTo>
                  <a:close/>
                </a:path>
              </a:pathLst>
            </a:custGeom>
            <a:solidFill>
              <a:srgbClr val="34A853"/>
            </a:solidFill>
          </p:spPr>
        </p:sp>
      </p:grpSp>
      <p:grpSp>
        <p:nvGrpSpPr>
          <p:cNvPr name="Group 9" id="9"/>
          <p:cNvGrpSpPr/>
          <p:nvPr/>
        </p:nvGrpSpPr>
        <p:grpSpPr>
          <a:xfrm rot="0">
            <a:off x="1463040" y="2926080"/>
            <a:ext cx="6766560" cy="731520"/>
            <a:chOff x="0" y="0"/>
            <a:chExt cx="9022080" cy="975360"/>
          </a:xfrm>
        </p:grpSpPr>
        <p:sp>
          <p:nvSpPr>
            <p:cNvPr name="Freeform 10" id="10"/>
            <p:cNvSpPr/>
            <p:nvPr/>
          </p:nvSpPr>
          <p:spPr>
            <a:xfrm flipH="false" flipV="false" rot="0">
              <a:off x="0" y="0"/>
              <a:ext cx="9022080" cy="975360"/>
            </a:xfrm>
            <a:custGeom>
              <a:avLst/>
              <a:gdLst/>
              <a:ahLst/>
              <a:cxnLst/>
              <a:rect r="r" b="b" t="t" l="l"/>
              <a:pathLst>
                <a:path h="975360" w="9022080">
                  <a:moveTo>
                    <a:pt x="0" y="0"/>
                  </a:moveTo>
                  <a:lnTo>
                    <a:pt x="9022080" y="0"/>
                  </a:lnTo>
                  <a:lnTo>
                    <a:pt x="9022080" y="975360"/>
                  </a:lnTo>
                  <a:lnTo>
                    <a:pt x="0" y="975360"/>
                  </a:lnTo>
                  <a:close/>
                </a:path>
              </a:pathLst>
            </a:custGeom>
            <a:blipFill>
              <a:blip r:embed="rId3">
                <a:alphaModFix amt="0"/>
              </a:blip>
              <a:stretch>
                <a:fillRect l="0" t="-130236" r="0" b="-130236"/>
              </a:stretch>
            </a:blipFill>
          </p:spPr>
        </p:sp>
        <p:sp>
          <p:nvSpPr>
            <p:cNvPr name="TextBox 11" id="11"/>
            <p:cNvSpPr txBox="true"/>
            <p:nvPr/>
          </p:nvSpPr>
          <p:spPr>
            <a:xfrm>
              <a:off x="0" y="-66675"/>
              <a:ext cx="9022080" cy="1042035"/>
            </a:xfrm>
            <a:prstGeom prst="rect">
              <a:avLst/>
            </a:prstGeom>
          </p:spPr>
          <p:txBody>
            <a:bodyPr anchor="ctr" rtlCol="false" tIns="0" lIns="0" bIns="0" rIns="0"/>
            <a:lstStyle/>
            <a:p>
              <a:pPr algn="l">
                <a:lnSpc>
                  <a:spcPts val="4320"/>
                </a:lnSpc>
              </a:pPr>
              <a:r>
                <a:rPr lang="en-US" sz="3600" b="true">
                  <a:solidFill>
                    <a:srgbClr val="1E293B"/>
                  </a:solidFill>
                  <a:latin typeface="Calibri (MS) Bold"/>
                  <a:ea typeface="Calibri (MS) Bold"/>
                  <a:cs typeface="Calibri (MS) Bold"/>
                  <a:sym typeface="Calibri (MS) Bold"/>
                </a:rPr>
                <a:t>skle</a:t>
              </a:r>
              <a:r>
                <a:rPr lang="en-US" sz="3600" b="true">
                  <a:solidFill>
                    <a:srgbClr val="1E293B"/>
                  </a:solidFill>
                  <a:latin typeface="Calibri (MS) Bold"/>
                  <a:ea typeface="Calibri (MS) Bold"/>
                  <a:cs typeface="Calibri (MS) Bold"/>
                  <a:sym typeface="Calibri (MS) Bold"/>
                </a:rPr>
                <a:t>arn.preprocessingr </a:t>
              </a:r>
            </a:p>
          </p:txBody>
        </p:sp>
      </p:grpSp>
      <p:grpSp>
        <p:nvGrpSpPr>
          <p:cNvPr name="Group 12" id="12"/>
          <p:cNvGrpSpPr/>
          <p:nvPr/>
        </p:nvGrpSpPr>
        <p:grpSpPr>
          <a:xfrm rot="0">
            <a:off x="1463040" y="3840480"/>
            <a:ext cx="6766560" cy="976238"/>
            <a:chOff x="0" y="0"/>
            <a:chExt cx="9022080" cy="1301651"/>
          </a:xfrm>
        </p:grpSpPr>
        <p:sp>
          <p:nvSpPr>
            <p:cNvPr name="Freeform 13" id="13"/>
            <p:cNvSpPr/>
            <p:nvPr/>
          </p:nvSpPr>
          <p:spPr>
            <a:xfrm flipH="false" flipV="false" rot="0">
              <a:off x="0" y="0"/>
              <a:ext cx="9022080" cy="1301651"/>
            </a:xfrm>
            <a:custGeom>
              <a:avLst/>
              <a:gdLst/>
              <a:ahLst/>
              <a:cxnLst/>
              <a:rect r="r" b="b" t="t" l="l"/>
              <a:pathLst>
                <a:path h="1301651" w="9022080">
                  <a:moveTo>
                    <a:pt x="0" y="0"/>
                  </a:moveTo>
                  <a:lnTo>
                    <a:pt x="9022080" y="0"/>
                  </a:lnTo>
                  <a:lnTo>
                    <a:pt x="9022080" y="1301651"/>
                  </a:lnTo>
                  <a:lnTo>
                    <a:pt x="0" y="1301651"/>
                  </a:lnTo>
                  <a:close/>
                </a:path>
              </a:pathLst>
            </a:custGeom>
            <a:blipFill>
              <a:blip r:embed="rId3">
                <a:alphaModFix amt="0"/>
              </a:blip>
              <a:stretch>
                <a:fillRect l="0" t="-97589" r="0" b="-72522"/>
              </a:stretch>
            </a:blipFill>
          </p:spPr>
        </p:sp>
        <p:sp>
          <p:nvSpPr>
            <p:cNvPr name="TextBox 14" id="14"/>
            <p:cNvSpPr txBox="true"/>
            <p:nvPr/>
          </p:nvSpPr>
          <p:spPr>
            <a:xfrm>
              <a:off x="0" y="-47625"/>
              <a:ext cx="9022080" cy="1349276"/>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 </a:t>
              </a:r>
              <a:r>
                <a:rPr lang="en-US" sz="2799">
                  <a:solidFill>
                    <a:srgbClr val="64748B"/>
                  </a:solidFill>
                  <a:latin typeface="Calibri (MS)"/>
                  <a:ea typeface="Calibri (MS)"/>
                  <a:cs typeface="Calibri (MS)"/>
                  <a:sym typeface="Calibri (MS)"/>
                </a:rPr>
                <a:t>StandardScaler, OrdinalEncoder, OneHotEncode, SimpleImputer </a:t>
              </a:r>
            </a:p>
          </p:txBody>
        </p:sp>
      </p:grpSp>
      <p:grpSp>
        <p:nvGrpSpPr>
          <p:cNvPr name="Group 15" id="15"/>
          <p:cNvGrpSpPr/>
          <p:nvPr/>
        </p:nvGrpSpPr>
        <p:grpSpPr>
          <a:xfrm rot="0">
            <a:off x="9601200" y="2560320"/>
            <a:ext cx="7863840" cy="2377440"/>
            <a:chOff x="0" y="0"/>
            <a:chExt cx="10485120" cy="3169920"/>
          </a:xfrm>
        </p:grpSpPr>
        <p:sp>
          <p:nvSpPr>
            <p:cNvPr name="Freeform 16" id="16"/>
            <p:cNvSpPr/>
            <p:nvPr/>
          </p:nvSpPr>
          <p:spPr>
            <a:xfrm flipH="false" flipV="false" rot="0">
              <a:off x="0" y="0"/>
              <a:ext cx="10485120" cy="3169920"/>
            </a:xfrm>
            <a:custGeom>
              <a:avLst/>
              <a:gdLst/>
              <a:ahLst/>
              <a:cxnLst/>
              <a:rect r="r" b="b" t="t" l="l"/>
              <a:pathLst>
                <a:path h="3169920" w="10485120">
                  <a:moveTo>
                    <a:pt x="0" y="0"/>
                  </a:moveTo>
                  <a:lnTo>
                    <a:pt x="10485120" y="0"/>
                  </a:lnTo>
                  <a:lnTo>
                    <a:pt x="10485120" y="3169920"/>
                  </a:lnTo>
                  <a:lnTo>
                    <a:pt x="0" y="3169920"/>
                  </a:lnTo>
                  <a:close/>
                </a:path>
              </a:pathLst>
            </a:custGeom>
            <a:solidFill>
              <a:srgbClr val="FFFFFF"/>
            </a:solidFill>
          </p:spPr>
        </p:sp>
      </p:grpSp>
      <p:grpSp>
        <p:nvGrpSpPr>
          <p:cNvPr name="Group 17" id="17"/>
          <p:cNvGrpSpPr/>
          <p:nvPr/>
        </p:nvGrpSpPr>
        <p:grpSpPr>
          <a:xfrm rot="0">
            <a:off x="9601200" y="2560320"/>
            <a:ext cx="146304" cy="2377440"/>
            <a:chOff x="0" y="0"/>
            <a:chExt cx="195072" cy="3169920"/>
          </a:xfrm>
        </p:grpSpPr>
        <p:sp>
          <p:nvSpPr>
            <p:cNvPr name="Freeform 18" id="18"/>
            <p:cNvSpPr/>
            <p:nvPr/>
          </p:nvSpPr>
          <p:spPr>
            <a:xfrm flipH="false" flipV="false" rot="0">
              <a:off x="0" y="0"/>
              <a:ext cx="195072" cy="3169920"/>
            </a:xfrm>
            <a:custGeom>
              <a:avLst/>
              <a:gdLst/>
              <a:ahLst/>
              <a:cxnLst/>
              <a:rect r="r" b="b" t="t" l="l"/>
              <a:pathLst>
                <a:path h="3169920" w="195072">
                  <a:moveTo>
                    <a:pt x="0" y="0"/>
                  </a:moveTo>
                  <a:lnTo>
                    <a:pt x="195072" y="0"/>
                  </a:lnTo>
                  <a:lnTo>
                    <a:pt x="195072" y="3169920"/>
                  </a:lnTo>
                  <a:lnTo>
                    <a:pt x="0" y="3169920"/>
                  </a:lnTo>
                  <a:close/>
                </a:path>
              </a:pathLst>
            </a:custGeom>
            <a:solidFill>
              <a:srgbClr val="34A853"/>
            </a:solidFill>
          </p:spPr>
        </p:sp>
      </p:grpSp>
      <p:grpSp>
        <p:nvGrpSpPr>
          <p:cNvPr name="Group 19" id="19"/>
          <p:cNvGrpSpPr/>
          <p:nvPr/>
        </p:nvGrpSpPr>
        <p:grpSpPr>
          <a:xfrm rot="0">
            <a:off x="10149840" y="2926080"/>
            <a:ext cx="6766560" cy="731520"/>
            <a:chOff x="0" y="0"/>
            <a:chExt cx="9022080" cy="975360"/>
          </a:xfrm>
        </p:grpSpPr>
        <p:sp>
          <p:nvSpPr>
            <p:cNvPr name="Freeform 20" id="20"/>
            <p:cNvSpPr/>
            <p:nvPr/>
          </p:nvSpPr>
          <p:spPr>
            <a:xfrm flipH="false" flipV="false" rot="0">
              <a:off x="0" y="0"/>
              <a:ext cx="9022080" cy="975360"/>
            </a:xfrm>
            <a:custGeom>
              <a:avLst/>
              <a:gdLst/>
              <a:ahLst/>
              <a:cxnLst/>
              <a:rect r="r" b="b" t="t" l="l"/>
              <a:pathLst>
                <a:path h="975360" w="9022080">
                  <a:moveTo>
                    <a:pt x="0" y="0"/>
                  </a:moveTo>
                  <a:lnTo>
                    <a:pt x="9022080" y="0"/>
                  </a:lnTo>
                  <a:lnTo>
                    <a:pt x="9022080" y="975360"/>
                  </a:lnTo>
                  <a:lnTo>
                    <a:pt x="0" y="975360"/>
                  </a:lnTo>
                  <a:close/>
                </a:path>
              </a:pathLst>
            </a:custGeom>
            <a:blipFill>
              <a:blip r:embed="rId3">
                <a:alphaModFix amt="0"/>
              </a:blip>
              <a:stretch>
                <a:fillRect l="0" t="-130236" r="0" b="-130236"/>
              </a:stretch>
            </a:blipFill>
          </p:spPr>
        </p:sp>
        <p:sp>
          <p:nvSpPr>
            <p:cNvPr name="TextBox 21" id="21"/>
            <p:cNvSpPr txBox="true"/>
            <p:nvPr/>
          </p:nvSpPr>
          <p:spPr>
            <a:xfrm>
              <a:off x="0" y="-66675"/>
              <a:ext cx="9022080" cy="1042035"/>
            </a:xfrm>
            <a:prstGeom prst="rect">
              <a:avLst/>
            </a:prstGeom>
          </p:spPr>
          <p:txBody>
            <a:bodyPr anchor="ctr" rtlCol="false" tIns="0" lIns="0" bIns="0" rIns="0"/>
            <a:lstStyle/>
            <a:p>
              <a:pPr algn="l">
                <a:lnSpc>
                  <a:spcPts val="4320"/>
                </a:lnSpc>
              </a:pPr>
              <a:r>
                <a:rPr lang="en-US" sz="3600" b="true">
                  <a:solidFill>
                    <a:srgbClr val="1E293B"/>
                  </a:solidFill>
                  <a:latin typeface="Calibri (MS) Bold"/>
                  <a:ea typeface="Calibri (MS) Bold"/>
                  <a:cs typeface="Calibri (MS) Bold"/>
                  <a:sym typeface="Calibri (MS) Bold"/>
                </a:rPr>
                <a:t>sklearn.m</a:t>
              </a:r>
              <a:r>
                <a:rPr lang="en-US" sz="3600" b="true">
                  <a:solidFill>
                    <a:srgbClr val="1E293B"/>
                  </a:solidFill>
                  <a:latin typeface="Calibri (MS) Bold"/>
                  <a:ea typeface="Calibri (MS) Bold"/>
                  <a:cs typeface="Calibri (MS) Bold"/>
                  <a:sym typeface="Calibri (MS) Bold"/>
                </a:rPr>
                <a:t>odel_selection</a:t>
              </a:r>
            </a:p>
          </p:txBody>
        </p:sp>
      </p:grpSp>
      <p:grpSp>
        <p:nvGrpSpPr>
          <p:cNvPr name="Group 22" id="22"/>
          <p:cNvGrpSpPr/>
          <p:nvPr/>
        </p:nvGrpSpPr>
        <p:grpSpPr>
          <a:xfrm rot="0">
            <a:off x="10149840" y="3840480"/>
            <a:ext cx="6766560" cy="976238"/>
            <a:chOff x="0" y="0"/>
            <a:chExt cx="9022080" cy="1301651"/>
          </a:xfrm>
        </p:grpSpPr>
        <p:sp>
          <p:nvSpPr>
            <p:cNvPr name="Freeform 23" id="23"/>
            <p:cNvSpPr/>
            <p:nvPr/>
          </p:nvSpPr>
          <p:spPr>
            <a:xfrm flipH="false" flipV="false" rot="0">
              <a:off x="0" y="0"/>
              <a:ext cx="9022080" cy="1301651"/>
            </a:xfrm>
            <a:custGeom>
              <a:avLst/>
              <a:gdLst/>
              <a:ahLst/>
              <a:cxnLst/>
              <a:rect r="r" b="b" t="t" l="l"/>
              <a:pathLst>
                <a:path h="1301651" w="9022080">
                  <a:moveTo>
                    <a:pt x="0" y="0"/>
                  </a:moveTo>
                  <a:lnTo>
                    <a:pt x="9022080" y="0"/>
                  </a:lnTo>
                  <a:lnTo>
                    <a:pt x="9022080" y="1301651"/>
                  </a:lnTo>
                  <a:lnTo>
                    <a:pt x="0" y="1301651"/>
                  </a:lnTo>
                  <a:close/>
                </a:path>
              </a:pathLst>
            </a:custGeom>
            <a:blipFill>
              <a:blip r:embed="rId3">
                <a:alphaModFix amt="0"/>
              </a:blip>
              <a:stretch>
                <a:fillRect l="0" t="-97589" r="0" b="-72522"/>
              </a:stretch>
            </a:blipFill>
          </p:spPr>
        </p:sp>
        <p:sp>
          <p:nvSpPr>
            <p:cNvPr name="TextBox 24" id="24"/>
            <p:cNvSpPr txBox="true"/>
            <p:nvPr/>
          </p:nvSpPr>
          <p:spPr>
            <a:xfrm>
              <a:off x="0" y="-47625"/>
              <a:ext cx="9022080" cy="1349276"/>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tr</a:t>
              </a:r>
              <a:r>
                <a:rPr lang="en-US" sz="2799">
                  <a:solidFill>
                    <a:srgbClr val="64748B"/>
                  </a:solidFill>
                  <a:latin typeface="Calibri (MS)"/>
                  <a:ea typeface="Calibri (MS)"/>
                  <a:cs typeface="Calibri (MS)"/>
                  <a:sym typeface="Calibri (MS)"/>
                </a:rPr>
                <a:t>ain_test_split, cross_val_score ,GridSearchCV, RandomizedSearchCV </a:t>
              </a:r>
            </a:p>
          </p:txBody>
        </p:sp>
      </p:grpSp>
      <p:grpSp>
        <p:nvGrpSpPr>
          <p:cNvPr name="Group 25" id="25"/>
          <p:cNvGrpSpPr/>
          <p:nvPr/>
        </p:nvGrpSpPr>
        <p:grpSpPr>
          <a:xfrm rot="0">
            <a:off x="914400" y="5669280"/>
            <a:ext cx="7863840" cy="2377440"/>
            <a:chOff x="0" y="0"/>
            <a:chExt cx="10485120" cy="3169920"/>
          </a:xfrm>
        </p:grpSpPr>
        <p:sp>
          <p:nvSpPr>
            <p:cNvPr name="Freeform 26" id="26"/>
            <p:cNvSpPr/>
            <p:nvPr/>
          </p:nvSpPr>
          <p:spPr>
            <a:xfrm flipH="false" flipV="false" rot="0">
              <a:off x="0" y="0"/>
              <a:ext cx="10485120" cy="3169920"/>
            </a:xfrm>
            <a:custGeom>
              <a:avLst/>
              <a:gdLst/>
              <a:ahLst/>
              <a:cxnLst/>
              <a:rect r="r" b="b" t="t" l="l"/>
              <a:pathLst>
                <a:path h="3169920" w="10485120">
                  <a:moveTo>
                    <a:pt x="0" y="0"/>
                  </a:moveTo>
                  <a:lnTo>
                    <a:pt x="10485120" y="0"/>
                  </a:lnTo>
                  <a:lnTo>
                    <a:pt x="10485120" y="3169920"/>
                  </a:lnTo>
                  <a:lnTo>
                    <a:pt x="0" y="3169920"/>
                  </a:lnTo>
                  <a:close/>
                </a:path>
              </a:pathLst>
            </a:custGeom>
            <a:solidFill>
              <a:srgbClr val="FFFFFF"/>
            </a:solidFill>
          </p:spPr>
        </p:sp>
      </p:grpSp>
      <p:grpSp>
        <p:nvGrpSpPr>
          <p:cNvPr name="Group 27" id="27"/>
          <p:cNvGrpSpPr/>
          <p:nvPr/>
        </p:nvGrpSpPr>
        <p:grpSpPr>
          <a:xfrm rot="0">
            <a:off x="914400" y="5669280"/>
            <a:ext cx="146304" cy="2377440"/>
            <a:chOff x="0" y="0"/>
            <a:chExt cx="195072" cy="3169920"/>
          </a:xfrm>
        </p:grpSpPr>
        <p:sp>
          <p:nvSpPr>
            <p:cNvPr name="Freeform 28" id="28"/>
            <p:cNvSpPr/>
            <p:nvPr/>
          </p:nvSpPr>
          <p:spPr>
            <a:xfrm flipH="false" flipV="false" rot="0">
              <a:off x="0" y="0"/>
              <a:ext cx="195072" cy="3169920"/>
            </a:xfrm>
            <a:custGeom>
              <a:avLst/>
              <a:gdLst/>
              <a:ahLst/>
              <a:cxnLst/>
              <a:rect r="r" b="b" t="t" l="l"/>
              <a:pathLst>
                <a:path h="3169920" w="195072">
                  <a:moveTo>
                    <a:pt x="0" y="0"/>
                  </a:moveTo>
                  <a:lnTo>
                    <a:pt x="195072" y="0"/>
                  </a:lnTo>
                  <a:lnTo>
                    <a:pt x="195072" y="3169920"/>
                  </a:lnTo>
                  <a:lnTo>
                    <a:pt x="0" y="3169920"/>
                  </a:lnTo>
                  <a:close/>
                </a:path>
              </a:pathLst>
            </a:custGeom>
            <a:solidFill>
              <a:srgbClr val="34A853"/>
            </a:solidFill>
          </p:spPr>
        </p:sp>
      </p:grpSp>
      <p:grpSp>
        <p:nvGrpSpPr>
          <p:cNvPr name="Group 29" id="29"/>
          <p:cNvGrpSpPr/>
          <p:nvPr/>
        </p:nvGrpSpPr>
        <p:grpSpPr>
          <a:xfrm rot="0">
            <a:off x="1463040" y="6035040"/>
            <a:ext cx="6766560" cy="731520"/>
            <a:chOff x="0" y="0"/>
            <a:chExt cx="9022080" cy="975360"/>
          </a:xfrm>
        </p:grpSpPr>
        <p:sp>
          <p:nvSpPr>
            <p:cNvPr name="Freeform 30" id="30"/>
            <p:cNvSpPr/>
            <p:nvPr/>
          </p:nvSpPr>
          <p:spPr>
            <a:xfrm flipH="false" flipV="false" rot="0">
              <a:off x="0" y="0"/>
              <a:ext cx="9022080" cy="975360"/>
            </a:xfrm>
            <a:custGeom>
              <a:avLst/>
              <a:gdLst/>
              <a:ahLst/>
              <a:cxnLst/>
              <a:rect r="r" b="b" t="t" l="l"/>
              <a:pathLst>
                <a:path h="975360" w="9022080">
                  <a:moveTo>
                    <a:pt x="0" y="0"/>
                  </a:moveTo>
                  <a:lnTo>
                    <a:pt x="9022080" y="0"/>
                  </a:lnTo>
                  <a:lnTo>
                    <a:pt x="9022080" y="975360"/>
                  </a:lnTo>
                  <a:lnTo>
                    <a:pt x="0" y="975360"/>
                  </a:lnTo>
                  <a:close/>
                </a:path>
              </a:pathLst>
            </a:custGeom>
            <a:blipFill>
              <a:blip r:embed="rId3">
                <a:alphaModFix amt="0"/>
              </a:blip>
              <a:stretch>
                <a:fillRect l="0" t="-130236" r="0" b="-130236"/>
              </a:stretch>
            </a:blipFill>
          </p:spPr>
        </p:sp>
        <p:sp>
          <p:nvSpPr>
            <p:cNvPr name="TextBox 31" id="31"/>
            <p:cNvSpPr txBox="true"/>
            <p:nvPr/>
          </p:nvSpPr>
          <p:spPr>
            <a:xfrm>
              <a:off x="0" y="-66675"/>
              <a:ext cx="9022080" cy="1042035"/>
            </a:xfrm>
            <a:prstGeom prst="rect">
              <a:avLst/>
            </a:prstGeom>
          </p:spPr>
          <p:txBody>
            <a:bodyPr anchor="ctr" rtlCol="false" tIns="0" lIns="0" bIns="0" rIns="0"/>
            <a:lstStyle/>
            <a:p>
              <a:pPr algn="l">
                <a:lnSpc>
                  <a:spcPts val="4320"/>
                </a:lnSpc>
              </a:pPr>
              <a:r>
                <a:rPr lang="en-US" sz="3600" b="true">
                  <a:solidFill>
                    <a:srgbClr val="1E293B"/>
                  </a:solidFill>
                  <a:latin typeface="Calibri (MS) Bold"/>
                  <a:ea typeface="Calibri (MS) Bold"/>
                  <a:cs typeface="Calibri (MS) Bold"/>
                  <a:sym typeface="Calibri (MS) Bold"/>
                </a:rPr>
                <a:t>sklear</a:t>
              </a:r>
              <a:r>
                <a:rPr lang="en-US" sz="3600" b="true">
                  <a:solidFill>
                    <a:srgbClr val="1E293B"/>
                  </a:solidFill>
                  <a:latin typeface="Calibri (MS) Bold"/>
                  <a:ea typeface="Calibri (MS) Bold"/>
                  <a:cs typeface="Calibri (MS) Bold"/>
                  <a:sym typeface="Calibri (MS) Bold"/>
                </a:rPr>
                <a:t>n.linear_model</a:t>
              </a:r>
            </a:p>
          </p:txBody>
        </p:sp>
      </p:grpSp>
      <p:grpSp>
        <p:nvGrpSpPr>
          <p:cNvPr name="Group 32" id="32"/>
          <p:cNvGrpSpPr/>
          <p:nvPr/>
        </p:nvGrpSpPr>
        <p:grpSpPr>
          <a:xfrm rot="0">
            <a:off x="1463040" y="6949440"/>
            <a:ext cx="6766560" cy="731520"/>
            <a:chOff x="0" y="0"/>
            <a:chExt cx="9022080" cy="975360"/>
          </a:xfrm>
        </p:grpSpPr>
        <p:sp>
          <p:nvSpPr>
            <p:cNvPr name="Freeform 33" id="33"/>
            <p:cNvSpPr/>
            <p:nvPr/>
          </p:nvSpPr>
          <p:spPr>
            <a:xfrm flipH="false" flipV="false" rot="0">
              <a:off x="0" y="0"/>
              <a:ext cx="9022080" cy="975360"/>
            </a:xfrm>
            <a:custGeom>
              <a:avLst/>
              <a:gdLst/>
              <a:ahLst/>
              <a:cxnLst/>
              <a:rect r="r" b="b" t="t" l="l"/>
              <a:pathLst>
                <a:path h="975360" w="9022080">
                  <a:moveTo>
                    <a:pt x="0" y="0"/>
                  </a:moveTo>
                  <a:lnTo>
                    <a:pt x="9022080" y="0"/>
                  </a:lnTo>
                  <a:lnTo>
                    <a:pt x="9022080" y="975360"/>
                  </a:lnTo>
                  <a:lnTo>
                    <a:pt x="0" y="975360"/>
                  </a:lnTo>
                  <a:close/>
                </a:path>
              </a:pathLst>
            </a:custGeom>
            <a:blipFill>
              <a:blip r:embed="rId3">
                <a:alphaModFix amt="0"/>
              </a:blip>
              <a:stretch>
                <a:fillRect l="0" t="-130236" r="0" b="-130236"/>
              </a:stretch>
            </a:blipFill>
          </p:spPr>
        </p:sp>
        <p:sp>
          <p:nvSpPr>
            <p:cNvPr name="TextBox 34" id="34"/>
            <p:cNvSpPr txBox="true"/>
            <p:nvPr/>
          </p:nvSpPr>
          <p:spPr>
            <a:xfrm>
              <a:off x="0" y="-47625"/>
              <a:ext cx="9022080" cy="1022985"/>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LogisticRegression, LinearRegression</a:t>
              </a:r>
            </a:p>
          </p:txBody>
        </p:sp>
      </p:grpSp>
      <p:grpSp>
        <p:nvGrpSpPr>
          <p:cNvPr name="Group 35" id="35"/>
          <p:cNvGrpSpPr/>
          <p:nvPr/>
        </p:nvGrpSpPr>
        <p:grpSpPr>
          <a:xfrm rot="0">
            <a:off x="9601200" y="5669280"/>
            <a:ext cx="7863840" cy="2377440"/>
            <a:chOff x="0" y="0"/>
            <a:chExt cx="10485120" cy="3169920"/>
          </a:xfrm>
        </p:grpSpPr>
        <p:sp>
          <p:nvSpPr>
            <p:cNvPr name="Freeform 36" id="36"/>
            <p:cNvSpPr/>
            <p:nvPr/>
          </p:nvSpPr>
          <p:spPr>
            <a:xfrm flipH="false" flipV="false" rot="0">
              <a:off x="0" y="0"/>
              <a:ext cx="10485120" cy="3169920"/>
            </a:xfrm>
            <a:custGeom>
              <a:avLst/>
              <a:gdLst/>
              <a:ahLst/>
              <a:cxnLst/>
              <a:rect r="r" b="b" t="t" l="l"/>
              <a:pathLst>
                <a:path h="3169920" w="10485120">
                  <a:moveTo>
                    <a:pt x="0" y="0"/>
                  </a:moveTo>
                  <a:lnTo>
                    <a:pt x="10485120" y="0"/>
                  </a:lnTo>
                  <a:lnTo>
                    <a:pt x="10485120" y="3169920"/>
                  </a:lnTo>
                  <a:lnTo>
                    <a:pt x="0" y="3169920"/>
                  </a:lnTo>
                  <a:close/>
                </a:path>
              </a:pathLst>
            </a:custGeom>
            <a:solidFill>
              <a:srgbClr val="FFFFFF"/>
            </a:solidFill>
          </p:spPr>
        </p:sp>
      </p:grpSp>
      <p:grpSp>
        <p:nvGrpSpPr>
          <p:cNvPr name="Group 37" id="37"/>
          <p:cNvGrpSpPr/>
          <p:nvPr/>
        </p:nvGrpSpPr>
        <p:grpSpPr>
          <a:xfrm rot="0">
            <a:off x="9601200" y="5669280"/>
            <a:ext cx="146304" cy="2377440"/>
            <a:chOff x="0" y="0"/>
            <a:chExt cx="195072" cy="3169920"/>
          </a:xfrm>
        </p:grpSpPr>
        <p:sp>
          <p:nvSpPr>
            <p:cNvPr name="Freeform 38" id="38"/>
            <p:cNvSpPr/>
            <p:nvPr/>
          </p:nvSpPr>
          <p:spPr>
            <a:xfrm flipH="false" flipV="false" rot="0">
              <a:off x="0" y="0"/>
              <a:ext cx="195072" cy="3169920"/>
            </a:xfrm>
            <a:custGeom>
              <a:avLst/>
              <a:gdLst/>
              <a:ahLst/>
              <a:cxnLst/>
              <a:rect r="r" b="b" t="t" l="l"/>
              <a:pathLst>
                <a:path h="3169920" w="195072">
                  <a:moveTo>
                    <a:pt x="0" y="0"/>
                  </a:moveTo>
                  <a:lnTo>
                    <a:pt x="195072" y="0"/>
                  </a:lnTo>
                  <a:lnTo>
                    <a:pt x="195072" y="3169920"/>
                  </a:lnTo>
                  <a:lnTo>
                    <a:pt x="0" y="3169920"/>
                  </a:lnTo>
                  <a:close/>
                </a:path>
              </a:pathLst>
            </a:custGeom>
            <a:solidFill>
              <a:srgbClr val="34A853"/>
            </a:solidFill>
          </p:spPr>
        </p:sp>
      </p:grpSp>
      <p:grpSp>
        <p:nvGrpSpPr>
          <p:cNvPr name="Group 39" id="39"/>
          <p:cNvGrpSpPr/>
          <p:nvPr/>
        </p:nvGrpSpPr>
        <p:grpSpPr>
          <a:xfrm rot="0">
            <a:off x="10149840" y="6035040"/>
            <a:ext cx="6766560" cy="731520"/>
            <a:chOff x="0" y="0"/>
            <a:chExt cx="9022080" cy="975360"/>
          </a:xfrm>
        </p:grpSpPr>
        <p:sp>
          <p:nvSpPr>
            <p:cNvPr name="Freeform 40" id="40"/>
            <p:cNvSpPr/>
            <p:nvPr/>
          </p:nvSpPr>
          <p:spPr>
            <a:xfrm flipH="false" flipV="false" rot="0">
              <a:off x="0" y="0"/>
              <a:ext cx="9022080" cy="975360"/>
            </a:xfrm>
            <a:custGeom>
              <a:avLst/>
              <a:gdLst/>
              <a:ahLst/>
              <a:cxnLst/>
              <a:rect r="r" b="b" t="t" l="l"/>
              <a:pathLst>
                <a:path h="975360" w="9022080">
                  <a:moveTo>
                    <a:pt x="0" y="0"/>
                  </a:moveTo>
                  <a:lnTo>
                    <a:pt x="9022080" y="0"/>
                  </a:lnTo>
                  <a:lnTo>
                    <a:pt x="9022080" y="975360"/>
                  </a:lnTo>
                  <a:lnTo>
                    <a:pt x="0" y="975360"/>
                  </a:lnTo>
                  <a:close/>
                </a:path>
              </a:pathLst>
            </a:custGeom>
            <a:blipFill>
              <a:blip r:embed="rId3">
                <a:alphaModFix amt="0"/>
              </a:blip>
              <a:stretch>
                <a:fillRect l="0" t="-130236" r="0" b="-130236"/>
              </a:stretch>
            </a:blipFill>
          </p:spPr>
        </p:sp>
        <p:sp>
          <p:nvSpPr>
            <p:cNvPr name="TextBox 41" id="41"/>
            <p:cNvSpPr txBox="true"/>
            <p:nvPr/>
          </p:nvSpPr>
          <p:spPr>
            <a:xfrm>
              <a:off x="0" y="-66675"/>
              <a:ext cx="9022080" cy="1042035"/>
            </a:xfrm>
            <a:prstGeom prst="rect">
              <a:avLst/>
            </a:prstGeom>
          </p:spPr>
          <p:txBody>
            <a:bodyPr anchor="ctr" rtlCol="false" tIns="0" lIns="0" bIns="0" rIns="0"/>
            <a:lstStyle/>
            <a:p>
              <a:pPr algn="l">
                <a:lnSpc>
                  <a:spcPts val="4320"/>
                </a:lnSpc>
              </a:pPr>
              <a:r>
                <a:rPr lang="en-US" sz="3600" b="true">
                  <a:solidFill>
                    <a:srgbClr val="1E293B"/>
                  </a:solidFill>
                  <a:latin typeface="Calibri (MS) Bold"/>
                  <a:ea typeface="Calibri (MS) Bold"/>
                  <a:cs typeface="Calibri (MS) Bold"/>
                  <a:sym typeface="Calibri (MS) Bold"/>
                </a:rPr>
                <a:t>sklearn.metrics</a:t>
              </a:r>
            </a:p>
          </p:txBody>
        </p:sp>
      </p:grpSp>
      <p:grpSp>
        <p:nvGrpSpPr>
          <p:cNvPr name="Group 42" id="42"/>
          <p:cNvGrpSpPr/>
          <p:nvPr/>
        </p:nvGrpSpPr>
        <p:grpSpPr>
          <a:xfrm rot="0">
            <a:off x="10149840" y="6949440"/>
            <a:ext cx="6766560" cy="976238"/>
            <a:chOff x="0" y="0"/>
            <a:chExt cx="9022080" cy="1301651"/>
          </a:xfrm>
        </p:grpSpPr>
        <p:sp>
          <p:nvSpPr>
            <p:cNvPr name="Freeform 43" id="43"/>
            <p:cNvSpPr/>
            <p:nvPr/>
          </p:nvSpPr>
          <p:spPr>
            <a:xfrm flipH="false" flipV="false" rot="0">
              <a:off x="0" y="0"/>
              <a:ext cx="9022080" cy="1301651"/>
            </a:xfrm>
            <a:custGeom>
              <a:avLst/>
              <a:gdLst/>
              <a:ahLst/>
              <a:cxnLst/>
              <a:rect r="r" b="b" t="t" l="l"/>
              <a:pathLst>
                <a:path h="1301651" w="9022080">
                  <a:moveTo>
                    <a:pt x="0" y="0"/>
                  </a:moveTo>
                  <a:lnTo>
                    <a:pt x="9022080" y="0"/>
                  </a:lnTo>
                  <a:lnTo>
                    <a:pt x="9022080" y="1301651"/>
                  </a:lnTo>
                  <a:lnTo>
                    <a:pt x="0" y="1301651"/>
                  </a:lnTo>
                  <a:close/>
                </a:path>
              </a:pathLst>
            </a:custGeom>
            <a:blipFill>
              <a:blip r:embed="rId3">
                <a:alphaModFix amt="0"/>
              </a:blip>
              <a:stretch>
                <a:fillRect l="0" t="-97589" r="0" b="-72522"/>
              </a:stretch>
            </a:blipFill>
          </p:spPr>
        </p:sp>
        <p:sp>
          <p:nvSpPr>
            <p:cNvPr name="TextBox 44" id="44"/>
            <p:cNvSpPr txBox="true"/>
            <p:nvPr/>
          </p:nvSpPr>
          <p:spPr>
            <a:xfrm>
              <a:off x="0" y="-47625"/>
              <a:ext cx="9022080" cy="1349276"/>
            </a:xfrm>
            <a:prstGeom prst="rect">
              <a:avLst/>
            </a:prstGeom>
          </p:spPr>
          <p:txBody>
            <a:bodyPr anchor="ctr" rtlCol="false" tIns="0" lIns="0" bIns="0" rIns="0"/>
            <a:lstStyle/>
            <a:p>
              <a:pPr algn="l">
                <a:lnSpc>
                  <a:spcPts val="3359"/>
                </a:lnSpc>
              </a:pPr>
              <a:r>
                <a:rPr lang="en-US" sz="2799">
                  <a:solidFill>
                    <a:srgbClr val="64748B"/>
                  </a:solidFill>
                  <a:latin typeface="Calibri (MS)"/>
                  <a:ea typeface="Calibri (MS)"/>
                  <a:cs typeface="Calibri (MS)"/>
                  <a:sym typeface="Calibri (MS)"/>
                </a:rPr>
                <a:t>accuracy_score, precision, recall, mean_squared_error, and r2_score</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Features &amp; Target</a:t>
              </a:r>
            </a:p>
          </p:txBody>
        </p:sp>
      </p:grpSp>
      <p:grpSp>
        <p:nvGrpSpPr>
          <p:cNvPr name="Group 8" id="8"/>
          <p:cNvGrpSpPr/>
          <p:nvPr/>
        </p:nvGrpSpPr>
        <p:grpSpPr>
          <a:xfrm rot="0">
            <a:off x="3152775" y="3760470"/>
            <a:ext cx="14870474" cy="13053060"/>
            <a:chOff x="0" y="0"/>
            <a:chExt cx="1982729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410168" y="564515"/>
              <a:ext cx="19417131" cy="80867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x = </a:t>
              </a:r>
              <a:r>
                <a:rPr lang="en-US" sz="3999">
                  <a:solidFill>
                    <a:srgbClr val="000000"/>
                  </a:solidFill>
                  <a:latin typeface="Calibri (MS)"/>
                  <a:ea typeface="Calibri (MS)"/>
                  <a:cs typeface="Calibri (MS)"/>
                  <a:sym typeface="Calibri (MS)"/>
                </a:rPr>
                <a:t>df[['Age', 'S</a:t>
              </a:r>
              <a:r>
                <a:rPr lang="en-US" sz="3999">
                  <a:solidFill>
                    <a:srgbClr val="000000"/>
                  </a:solidFill>
                  <a:latin typeface="Calibri (MS)"/>
                  <a:ea typeface="Calibri (MS)"/>
                  <a:cs typeface="Calibri (MS)"/>
                  <a:sym typeface="Calibri (MS)"/>
                </a:rPr>
                <a:t>alary', 'Education', 'City']]</a:t>
              </a:r>
            </a:p>
            <a:p>
              <a:pPr algn="just">
                <a:lnSpc>
                  <a:spcPts val="4799"/>
                </a:lnSpc>
              </a:pPr>
              <a:r>
                <a:rPr lang="en-US" sz="3999">
                  <a:solidFill>
                    <a:srgbClr val="000000"/>
                  </a:solidFill>
                  <a:latin typeface="Calibri (MS)"/>
                  <a:ea typeface="Calibri (MS)"/>
                  <a:cs typeface="Calibri (MS)"/>
                  <a:sym typeface="Calibri (MS)"/>
                </a:rPr>
                <a:t>y = df['Purchased']</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print("Features (X):")</a:t>
              </a:r>
            </a:p>
            <a:p>
              <a:pPr algn="just">
                <a:lnSpc>
                  <a:spcPts val="4799"/>
                </a:lnSpc>
                <a:spcBef>
                  <a:spcPct val="0"/>
                </a:spcBef>
              </a:pPr>
              <a:r>
                <a:rPr lang="en-US" sz="3999">
                  <a:solidFill>
                    <a:srgbClr val="000000"/>
                  </a:solidFill>
                  <a:latin typeface="Calibri (MS)"/>
                  <a:ea typeface="Calibri (MS)"/>
                  <a:cs typeface="Calibri (MS)"/>
                  <a:sym typeface="Calibri (MS)"/>
                </a:rPr>
                <a:t>pri</a:t>
              </a:r>
              <a:r>
                <a:rPr lang="en-US" sz="3999">
                  <a:solidFill>
                    <a:srgbClr val="000000"/>
                  </a:solidFill>
                  <a:latin typeface="Calibri (MS)"/>
                  <a:ea typeface="Calibri (MS)"/>
                  <a:cs typeface="Calibri (MS)"/>
                  <a:sym typeface="Calibri (MS)"/>
                </a:rPr>
                <a:t>nt(x.to_string())</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a:t>
              </a:r>
              <a:r>
                <a:rPr lang="en-US" sz="3999">
                  <a:solidFill>
                    <a:srgbClr val="000000"/>
                  </a:solidFill>
                  <a:latin typeface="Calibri (MS)"/>
                  <a:ea typeface="Calibri (MS)"/>
                  <a:cs typeface="Calibri (MS)"/>
                  <a:sym typeface="Calibri (MS)"/>
                </a:rPr>
                <a:t>"\nT</a:t>
              </a:r>
              <a:r>
                <a:rPr lang="en-US" sz="3999">
                  <a:solidFill>
                    <a:srgbClr val="000000"/>
                  </a:solidFill>
                  <a:latin typeface="Calibri (MS)"/>
                  <a:ea typeface="Calibri (MS)"/>
                  <a:cs typeface="Calibri (MS)"/>
                  <a:sym typeface="Calibri (MS)"/>
                </a:rPr>
                <a:t>a</a:t>
              </a:r>
              <a:r>
                <a:rPr lang="en-US" sz="3999">
                  <a:solidFill>
                    <a:srgbClr val="000000"/>
                  </a:solidFill>
                  <a:latin typeface="Calibri (MS)"/>
                  <a:ea typeface="Calibri (MS)"/>
                  <a:cs typeface="Calibri (MS)"/>
                  <a:sym typeface="Calibri (MS)"/>
                </a:rPr>
                <a:t>rg</a:t>
              </a:r>
              <a:r>
                <a:rPr lang="en-US" sz="3999">
                  <a:solidFill>
                    <a:srgbClr val="000000"/>
                  </a:solidFill>
                  <a:latin typeface="Calibri (MS)"/>
                  <a:ea typeface="Calibri (MS)"/>
                  <a:cs typeface="Calibri (MS)"/>
                  <a:sym typeface="Calibri (MS)"/>
                </a:rPr>
                <a:t>e</a:t>
              </a:r>
              <a:r>
                <a:rPr lang="en-US" sz="3999">
                  <a:solidFill>
                    <a:srgbClr val="000000"/>
                  </a:solidFill>
                  <a:latin typeface="Calibri (MS)"/>
                  <a:ea typeface="Calibri (MS)"/>
                  <a:cs typeface="Calibri (MS)"/>
                  <a:sym typeface="Calibri (MS)"/>
                </a:rPr>
                <a:t>t</a:t>
              </a:r>
              <a:r>
                <a:rPr lang="en-US" sz="3999">
                  <a:solidFill>
                    <a:srgbClr val="000000"/>
                  </a:solidFill>
                  <a:latin typeface="Calibri (MS)"/>
                  <a:ea typeface="Calibri (MS)"/>
                  <a:cs typeface="Calibri (MS)"/>
                  <a:sym typeface="Calibri (MS)"/>
                </a:rPr>
                <a:t> </a:t>
              </a:r>
              <a:r>
                <a:rPr lang="en-US" sz="3999">
                  <a:solidFill>
                    <a:srgbClr val="000000"/>
                  </a:solidFill>
                  <a:latin typeface="Calibri (MS)"/>
                  <a:ea typeface="Calibri (MS)"/>
                  <a:cs typeface="Calibri (MS)"/>
                  <a:sym typeface="Calibri (MS)"/>
                </a:rPr>
                <a:t>(y):")</a:t>
              </a:r>
            </a:p>
            <a:p>
              <a:pPr algn="just">
                <a:lnSpc>
                  <a:spcPts val="4799"/>
                </a:lnSpc>
                <a:spcBef>
                  <a:spcPct val="0"/>
                </a:spcBef>
              </a:pPr>
              <a:r>
                <a:rPr lang="en-US" sz="3999">
                  <a:solidFill>
                    <a:srgbClr val="000000"/>
                  </a:solidFill>
                  <a:latin typeface="Calibri (MS)"/>
                  <a:ea typeface="Calibri (MS)"/>
                  <a:cs typeface="Calibri (MS)"/>
                  <a:sym typeface="Calibri (MS)"/>
                </a:rPr>
                <a:t>p</a:t>
              </a:r>
              <a:r>
                <a:rPr lang="en-US" sz="3999">
                  <a:solidFill>
                    <a:srgbClr val="000000"/>
                  </a:solidFill>
                  <a:latin typeface="Calibri (MS)"/>
                  <a:ea typeface="Calibri (MS)"/>
                  <a:cs typeface="Calibri (MS)"/>
                  <a:sym typeface="Calibri (MS)"/>
                </a:rPr>
                <a:t>rint</a:t>
              </a:r>
              <a:r>
                <a:rPr lang="en-US" sz="3999">
                  <a:solidFill>
                    <a:srgbClr val="000000"/>
                  </a:solidFill>
                  <a:latin typeface="Calibri (MS)"/>
                  <a:ea typeface="Calibri (MS)"/>
                  <a:cs typeface="Calibri (MS)"/>
                  <a:sym typeface="Calibri (MS)"/>
                </a:rPr>
                <a:t>(</a:t>
              </a:r>
              <a:r>
                <a:rPr lang="en-US" sz="3999">
                  <a:solidFill>
                    <a:srgbClr val="000000"/>
                  </a:solidFill>
                  <a:latin typeface="Calibri (MS)"/>
                  <a:ea typeface="Calibri (MS)"/>
                  <a:cs typeface="Calibri (MS)"/>
                  <a:sym typeface="Calibri (MS)"/>
                </a:rPr>
                <a:t>y</a:t>
              </a:r>
              <a:r>
                <a:rPr lang="en-US" sz="3999">
                  <a:solidFill>
                    <a:srgbClr val="000000"/>
                  </a:solidFill>
                  <a:latin typeface="Calibri (MS)"/>
                  <a:ea typeface="Calibri (MS)"/>
                  <a:cs typeface="Calibri (MS)"/>
                  <a:sym typeface="Calibri (MS)"/>
                </a:rPr>
                <a:t>.t</a:t>
              </a:r>
              <a:r>
                <a:rPr lang="en-US" sz="3999">
                  <a:solidFill>
                    <a:srgbClr val="000000"/>
                  </a:solidFill>
                  <a:latin typeface="Calibri (MS)"/>
                  <a:ea typeface="Calibri (MS)"/>
                  <a:cs typeface="Calibri (MS)"/>
                  <a:sym typeface="Calibri (MS)"/>
                </a:rPr>
                <a:t>o</a:t>
              </a:r>
              <a:r>
                <a:rPr lang="en-US" sz="3999">
                  <a:solidFill>
                    <a:srgbClr val="000000"/>
                  </a:solidFill>
                  <a:latin typeface="Calibri (MS)"/>
                  <a:ea typeface="Calibri (MS)"/>
                  <a:cs typeface="Calibri (MS)"/>
                  <a:sym typeface="Calibri (MS)"/>
                </a:rPr>
                <a:t>_s</a:t>
              </a:r>
              <a:r>
                <a:rPr lang="en-US" sz="3999">
                  <a:solidFill>
                    <a:srgbClr val="000000"/>
                  </a:solidFill>
                  <a:latin typeface="Calibri (MS)"/>
                  <a:ea typeface="Calibri (MS)"/>
                  <a:cs typeface="Calibri (MS)"/>
                  <a:sym typeface="Calibri (MS)"/>
                </a:rPr>
                <a:t>t</a:t>
              </a:r>
              <a:r>
                <a:rPr lang="en-US" sz="3999">
                  <a:solidFill>
                    <a:srgbClr val="000000"/>
                  </a:solidFill>
                  <a:latin typeface="Calibri (MS)"/>
                  <a:ea typeface="Calibri (MS)"/>
                  <a:cs typeface="Calibri (MS)"/>
                  <a:sym typeface="Calibri (MS)"/>
                </a:rPr>
                <a:t>ri</a:t>
              </a:r>
              <a:r>
                <a:rPr lang="en-US" sz="3999">
                  <a:solidFill>
                    <a:srgbClr val="000000"/>
                  </a:solidFill>
                  <a:latin typeface="Calibri (MS)"/>
                  <a:ea typeface="Calibri (MS)"/>
                  <a:cs typeface="Calibri (MS)"/>
                  <a:sym typeface="Calibri (MS)"/>
                </a:rPr>
                <a:t>n</a:t>
              </a:r>
              <a:r>
                <a:rPr lang="en-US" sz="3999">
                  <a:solidFill>
                    <a:srgbClr val="000000"/>
                  </a:solidFill>
                  <a:latin typeface="Calibri (MS)"/>
                  <a:ea typeface="Calibri (MS)"/>
                  <a:cs typeface="Calibri (MS)"/>
                  <a:sym typeface="Calibri (MS)"/>
                </a:rPr>
                <a:t>g()</a:t>
              </a:r>
              <a:r>
                <a:rPr lang="en-US" sz="3999">
                  <a:solidFill>
                    <a:srgbClr val="000000"/>
                  </a:solidFill>
                  <a:latin typeface="Calibri (MS)"/>
                  <a:ea typeface="Calibri (MS)"/>
                  <a:cs typeface="Calibri (MS)"/>
                  <a:sym typeface="Calibri (MS)"/>
                </a:rPr>
                <a:t>)</a:t>
              </a:r>
            </a:p>
            <a:p>
              <a:pPr algn="just">
                <a:lnSpc>
                  <a:spcPts val="4799"/>
                </a:lnSpc>
                <a:spcBef>
                  <a:spcPct val="0"/>
                </a:spcBef>
              </a:pPr>
            </a:p>
            <a:p>
              <a:pPr algn="just">
                <a:lnSpc>
                  <a:spcPts val="4799"/>
                </a:lnSpc>
                <a:spcBef>
                  <a:spcPct val="0"/>
                </a:spcBef>
              </a:p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Train Test Split</a:t>
              </a:r>
            </a:p>
          </p:txBody>
        </p:sp>
      </p:grpSp>
      <p:grpSp>
        <p:nvGrpSpPr>
          <p:cNvPr name="Group 8" id="8"/>
          <p:cNvGrpSpPr/>
          <p:nvPr/>
        </p:nvGrpSpPr>
        <p:grpSpPr>
          <a:xfrm rot="0">
            <a:off x="3152775" y="3760470"/>
            <a:ext cx="14949982" cy="13053060"/>
            <a:chOff x="0" y="0"/>
            <a:chExt cx="1993330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516178" y="88000"/>
              <a:ext cx="19417131" cy="88868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x_train, x_test, y_train, y_test = train_test_split(</a:t>
              </a:r>
            </a:p>
            <a:p>
              <a:pPr algn="just">
                <a:lnSpc>
                  <a:spcPts val="4799"/>
                </a:lnSpc>
              </a:pPr>
              <a:r>
                <a:rPr lang="en-US" sz="3999">
                  <a:solidFill>
                    <a:srgbClr val="000000"/>
                  </a:solidFill>
                  <a:latin typeface="Calibri (MS)"/>
                  <a:ea typeface="Calibri (MS)"/>
                  <a:cs typeface="Calibri (MS)"/>
                  <a:sym typeface="Calibri (MS)"/>
                </a:rPr>
                <a:t>  x, y,</a:t>
              </a:r>
            </a:p>
            <a:p>
              <a:pPr algn="just">
                <a:lnSpc>
                  <a:spcPts val="4799"/>
                </a:lnSpc>
              </a:pPr>
              <a:r>
                <a:rPr lang="en-US" sz="3999">
                  <a:solidFill>
                    <a:srgbClr val="000000"/>
                  </a:solidFill>
                  <a:latin typeface="Calibri (MS)"/>
                  <a:ea typeface="Calibri (MS)"/>
                  <a:cs typeface="Calibri (MS)"/>
                  <a:sym typeface="Calibri (MS)"/>
                </a:rPr>
                <a:t>  test_size=0.2,</a:t>
              </a:r>
            </a:p>
            <a:p>
              <a:pPr algn="just">
                <a:lnSpc>
                  <a:spcPts val="4799"/>
                </a:lnSpc>
              </a:pPr>
              <a:r>
                <a:rPr lang="en-US" sz="3999">
                  <a:solidFill>
                    <a:srgbClr val="000000"/>
                  </a:solidFill>
                  <a:latin typeface="Calibri (MS)"/>
                  <a:ea typeface="Calibri (MS)"/>
                  <a:cs typeface="Calibri (MS)"/>
                  <a:sym typeface="Calibri (MS)"/>
                </a:rPr>
                <a:t>  random_state=42</a:t>
              </a:r>
            </a:p>
            <a:p>
              <a:pPr algn="just">
                <a:lnSpc>
                  <a:spcPts val="4799"/>
                </a:lnSpc>
              </a:pPr>
              <a:r>
                <a:rPr lang="en-US" sz="3999">
                  <a:solidFill>
                    <a:srgbClr val="000000"/>
                  </a:solidFill>
                  <a:latin typeface="Calibri (MS)"/>
                  <a:ea typeface="Calibri (MS)"/>
                  <a:cs typeface="Calibri (MS)"/>
                  <a:sym typeface="Calibri (MS)"/>
                </a:rPr>
                <a:t>)</a:t>
              </a:r>
            </a:p>
            <a:p>
              <a:pPr algn="just">
                <a:lnSpc>
                  <a:spcPts val="4799"/>
                </a:lnSpc>
              </a:pPr>
              <a:r>
                <a:rPr lang="en-US" sz="3999">
                  <a:solidFill>
                    <a:srgbClr val="000000"/>
                  </a:solidFill>
                  <a:latin typeface="Calibri (MS)"/>
                  <a:ea typeface="Calibri (MS)"/>
                  <a:cs typeface="Calibri (MS)"/>
                  <a:sym typeface="Calibri (MS)"/>
                </a:rPr>
                <a:t>print(f"Training rows : {len(x_train)}")</a:t>
              </a:r>
            </a:p>
            <a:p>
              <a:pPr algn="just">
                <a:lnSpc>
                  <a:spcPts val="4799"/>
                </a:lnSpc>
                <a:spcBef>
                  <a:spcPct val="0"/>
                </a:spcBef>
              </a:pPr>
              <a:r>
                <a:rPr lang="en-US" sz="3999">
                  <a:solidFill>
                    <a:srgbClr val="000000"/>
                  </a:solidFill>
                  <a:latin typeface="Calibri (MS)"/>
                  <a:ea typeface="Calibri (MS)"/>
                  <a:cs typeface="Calibri (MS)"/>
                  <a:sym typeface="Calibri (MS)"/>
                </a:rPr>
                <a:t>pri</a:t>
              </a:r>
              <a:r>
                <a:rPr lang="en-US" sz="3999">
                  <a:solidFill>
                    <a:srgbClr val="000000"/>
                  </a:solidFill>
                  <a:latin typeface="Calibri (MS)"/>
                  <a:ea typeface="Calibri (MS)"/>
                  <a:cs typeface="Calibri (MS)"/>
                  <a:sym typeface="Calibri (MS)"/>
                </a:rPr>
                <a:t>nt(f"Testing rows : {len(x_test)}")</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print(len(x_</a:t>
              </a:r>
              <a:r>
                <a:rPr lang="en-US" sz="3999">
                  <a:solidFill>
                    <a:srgbClr val="000000"/>
                  </a:solidFill>
                  <a:latin typeface="Calibri (MS)"/>
                  <a:ea typeface="Calibri (MS)"/>
                  <a:cs typeface="Calibri (MS)"/>
                  <a:sym typeface="Calibri (MS)"/>
                </a:rPr>
                <a:t>train))</a:t>
              </a:r>
            </a:p>
            <a:p>
              <a:pPr algn="just">
                <a:lnSpc>
                  <a:spcPts val="4799"/>
                </a:lnSpc>
                <a:spcBef>
                  <a:spcPct val="0"/>
                </a:spcBef>
              </a:pPr>
              <a:r>
                <a:rPr lang="en-US" sz="3999">
                  <a:solidFill>
                    <a:srgbClr val="000000"/>
                  </a:solidFill>
                  <a:latin typeface="Calibri (MS)"/>
                  <a:ea typeface="Calibri (MS)"/>
                  <a:cs typeface="Calibri (MS)"/>
                  <a:sym typeface="Calibri (MS)"/>
                </a:rPr>
                <a:t>p</a:t>
              </a:r>
              <a:r>
                <a:rPr lang="en-US" sz="3999">
                  <a:solidFill>
                    <a:srgbClr val="000000"/>
                  </a:solidFill>
                  <a:latin typeface="Calibri (MS)"/>
                  <a:ea typeface="Calibri (MS)"/>
                  <a:cs typeface="Calibri (MS)"/>
                  <a:sym typeface="Calibri (MS)"/>
                </a:rPr>
                <a:t>rint</a:t>
              </a:r>
              <a:r>
                <a:rPr lang="en-US" sz="3999">
                  <a:solidFill>
                    <a:srgbClr val="000000"/>
                  </a:solidFill>
                  <a:latin typeface="Calibri (MS)"/>
                  <a:ea typeface="Calibri (MS)"/>
                  <a:cs typeface="Calibri (MS)"/>
                  <a:sym typeface="Calibri (MS)"/>
                </a:rPr>
                <a:t>(len(x_tes</a:t>
              </a:r>
              <a:r>
                <a:rPr lang="en-US" sz="3999">
                  <a:solidFill>
                    <a:srgbClr val="000000"/>
                  </a:solidFill>
                  <a:latin typeface="Calibri (MS)"/>
                  <a:ea typeface="Calibri (MS)"/>
                  <a:cs typeface="Calibri (MS)"/>
                  <a:sym typeface="Calibri (MS)"/>
                </a:rPr>
                <a:t>t</a:t>
              </a:r>
              <a:r>
                <a:rPr lang="en-US" sz="3999">
                  <a:solidFill>
                    <a:srgbClr val="000000"/>
                  </a:solidFill>
                  <a:latin typeface="Calibri (MS)"/>
                  <a:ea typeface="Calibri (MS)"/>
                  <a:cs typeface="Calibri (MS)"/>
                  <a:sym typeface="Calibri (MS)"/>
                </a:rPr>
                <a:t>)</a:t>
              </a:r>
              <a:r>
                <a:rPr lang="en-US" sz="3999">
                  <a:solidFill>
                    <a:srgbClr val="000000"/>
                  </a:solidFill>
                  <a:latin typeface="Calibri (MS)"/>
                  <a:ea typeface="Calibri (MS)"/>
                  <a:cs typeface="Calibri (MS)"/>
                  <a:sym typeface="Calibri (MS)"/>
                </a:rPr>
                <a:t>)</a:t>
              </a:r>
            </a:p>
            <a:p>
              <a:pPr algn="just">
                <a:lnSpc>
                  <a:spcPts val="4799"/>
                </a:lnSpc>
                <a:spcBef>
                  <a:spcPct val="0"/>
                </a:spcBef>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Columns Group</a:t>
              </a:r>
            </a:p>
          </p:txBody>
        </p:sp>
      </p:grpSp>
      <p:grpSp>
        <p:nvGrpSpPr>
          <p:cNvPr name="Group 8" id="8"/>
          <p:cNvGrpSpPr/>
          <p:nvPr/>
        </p:nvGrpSpPr>
        <p:grpSpPr>
          <a:xfrm rot="0">
            <a:off x="3152775" y="3760470"/>
            <a:ext cx="14949982" cy="13053060"/>
            <a:chOff x="0" y="0"/>
            <a:chExt cx="1993330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516178" y="176900"/>
              <a:ext cx="19417131" cy="48863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numerical_cols = ['Age', 'Salary']</a:t>
              </a:r>
            </a:p>
            <a:p>
              <a:pPr algn="just">
                <a:lnSpc>
                  <a:spcPts val="4799"/>
                </a:lnSpc>
              </a:pPr>
            </a:p>
            <a:p>
              <a:pPr algn="just">
                <a:lnSpc>
                  <a:spcPts val="4799"/>
                </a:lnSpc>
                <a:spcBef>
                  <a:spcPct val="0"/>
                </a:spcBef>
              </a:pPr>
              <a:r>
                <a:rPr lang="en-US" sz="3999">
                  <a:solidFill>
                    <a:srgbClr val="000000"/>
                  </a:solidFill>
                  <a:latin typeface="Calibri (MS)"/>
                  <a:ea typeface="Calibri (MS)"/>
                  <a:cs typeface="Calibri (MS)"/>
                  <a:sym typeface="Calibri (MS)"/>
                </a:rPr>
                <a:t>ordi</a:t>
              </a:r>
              <a:r>
                <a:rPr lang="en-US" sz="3999">
                  <a:solidFill>
                    <a:srgbClr val="000000"/>
                  </a:solidFill>
                  <a:latin typeface="Calibri (MS)"/>
                  <a:ea typeface="Calibri (MS)"/>
                  <a:cs typeface="Calibri (MS)"/>
                  <a:sym typeface="Calibri (MS)"/>
                </a:rPr>
                <a:t>nal_cols  = ['Education']</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nom</a:t>
              </a:r>
              <a:r>
                <a:rPr lang="en-US" sz="3999">
                  <a:solidFill>
                    <a:srgbClr val="000000"/>
                  </a:solidFill>
                  <a:latin typeface="Calibri (MS)"/>
                  <a:ea typeface="Calibri (MS)"/>
                  <a:cs typeface="Calibri (MS)"/>
                  <a:sym typeface="Calibri (MS)"/>
                </a:rPr>
                <a:t>ina</a:t>
              </a:r>
              <a:r>
                <a:rPr lang="en-US" sz="3999">
                  <a:solidFill>
                    <a:srgbClr val="000000"/>
                  </a:solidFill>
                  <a:latin typeface="Calibri (MS)"/>
                  <a:ea typeface="Calibri (MS)"/>
                  <a:cs typeface="Calibri (MS)"/>
                  <a:sym typeface="Calibri (MS)"/>
                </a:rPr>
                <a:t>l_cols  = ['Ci</a:t>
              </a:r>
              <a:r>
                <a:rPr lang="en-US" sz="3999">
                  <a:solidFill>
                    <a:srgbClr val="000000"/>
                  </a:solidFill>
                  <a:latin typeface="Calibri (MS)"/>
                  <a:ea typeface="Calibri (MS)"/>
                  <a:cs typeface="Calibri (MS)"/>
                  <a:sym typeface="Calibri (MS)"/>
                </a:rPr>
                <a:t>ty']</a:t>
              </a:r>
            </a:p>
            <a:p>
              <a:pPr algn="just">
                <a:lnSpc>
                  <a:spcPts val="4799"/>
                </a:lnSpc>
                <a:spcBef>
                  <a:spcPct val="0"/>
                </a:spcBef>
              </a:pP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Build the ColumnTransformer</a:t>
              </a:r>
            </a:p>
          </p:txBody>
        </p:sp>
      </p:grpSp>
      <p:grpSp>
        <p:nvGrpSpPr>
          <p:cNvPr name="Group 8" id="8"/>
          <p:cNvGrpSpPr/>
          <p:nvPr/>
        </p:nvGrpSpPr>
        <p:grpSpPr>
          <a:xfrm rot="0">
            <a:off x="3152775" y="3760470"/>
            <a:ext cx="14949982" cy="13053060"/>
            <a:chOff x="0" y="0"/>
            <a:chExt cx="1993330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516178" y="176900"/>
              <a:ext cx="19417131" cy="80867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preprocessor = ColumnTransformer(transformers=[</a:t>
              </a:r>
            </a:p>
            <a:p>
              <a:pPr algn="just">
                <a:lnSpc>
                  <a:spcPts val="4799"/>
                </a:lnSpc>
              </a:pPr>
              <a:r>
                <a:rPr lang="en-US" sz="3999">
                  <a:solidFill>
                    <a:srgbClr val="000000"/>
                  </a:solidFill>
                  <a:latin typeface="Calibri (MS)"/>
                  <a:ea typeface="Calibri (MS)"/>
                  <a:cs typeface="Calibri (MS)"/>
                  <a:sym typeface="Calibri (MS)"/>
                </a:rPr>
                <a:t>  ('scale', StandardScaler(), </a:t>
              </a:r>
              <a:r>
                <a:rPr lang="en-US" sz="3999">
                  <a:solidFill>
                    <a:srgbClr val="000000"/>
                  </a:solidFill>
                  <a:latin typeface="Calibri (MS)"/>
                  <a:ea typeface="Calibri (MS)"/>
                  <a:cs typeface="Calibri (MS)"/>
                  <a:sym typeface="Calibri (MS)"/>
                </a:rPr>
                <a:t>numerical_cols),</a:t>
              </a:r>
            </a:p>
            <a:p>
              <a:pPr algn="just">
                <a:lnSpc>
                  <a:spcPts val="4799"/>
                </a:lnSpc>
              </a:pPr>
              <a:r>
                <a:rPr lang="en-US" sz="3999">
                  <a:solidFill>
                    <a:srgbClr val="000000"/>
                  </a:solidFill>
                  <a:latin typeface="Calibri (MS)"/>
                  <a:ea typeface="Calibri (MS)"/>
                  <a:cs typeface="Calibri (MS)"/>
                  <a:sym typeface="Calibri (MS)"/>
                </a:rPr>
                <a:t>  ('ordinal', OrdinalEncoder(categories=[</a:t>
              </a:r>
            </a:p>
            <a:p>
              <a:pPr algn="just">
                <a:lnSpc>
                  <a:spcPts val="4799"/>
                </a:lnSpc>
              </a:pPr>
              <a:r>
                <a:rPr lang="en-US" sz="3999">
                  <a:solidFill>
                    <a:srgbClr val="000000"/>
                  </a:solidFill>
                  <a:latin typeface="Calibri (MS)"/>
                  <a:ea typeface="Calibri (MS)"/>
                  <a:cs typeface="Calibri (MS)"/>
                  <a:sym typeface="Calibri (MS)"/>
                </a:rPr>
                <a:t>     ['Matric', 'Bachelors', 'Masters', 'PhD'] ]),</a:t>
              </a:r>
            </a:p>
            <a:p>
              <a:pPr algn="just">
                <a:lnSpc>
                  <a:spcPts val="4799"/>
                </a:lnSpc>
                <a:spcBef>
                  <a:spcPct val="0"/>
                </a:spcBef>
              </a:pPr>
              <a:r>
                <a:rPr lang="en-US" sz="3999">
                  <a:solidFill>
                    <a:srgbClr val="000000"/>
                  </a:solidFill>
                  <a:latin typeface="Calibri (MS)"/>
                  <a:ea typeface="Calibri (MS)"/>
                  <a:cs typeface="Calibri (MS)"/>
                  <a:sym typeface="Calibri (MS)"/>
                </a:rPr>
                <a:t>   ordi</a:t>
              </a:r>
              <a:r>
                <a:rPr lang="en-US" sz="3999">
                  <a:solidFill>
                    <a:srgbClr val="000000"/>
                  </a:solidFill>
                  <a:latin typeface="Calibri (MS)"/>
                  <a:ea typeface="Calibri (MS)"/>
                  <a:cs typeface="Calibri (MS)"/>
                  <a:sym typeface="Calibri (MS)"/>
                </a:rPr>
                <a:t>nal_cols),</a:t>
              </a:r>
            </a:p>
            <a:p>
              <a:pPr algn="just">
                <a:lnSpc>
                  <a:spcPts val="4799"/>
                </a:lnSpc>
                <a:spcBef>
                  <a:spcPct val="0"/>
                </a:spcBef>
              </a:pPr>
              <a:r>
                <a:rPr lang="en-US" sz="3999">
                  <a:solidFill>
                    <a:srgbClr val="000000"/>
                  </a:solidFill>
                  <a:latin typeface="Calibri (MS)"/>
                  <a:ea typeface="Calibri (MS)"/>
                  <a:cs typeface="Calibri (MS)"/>
                  <a:sym typeface="Calibri (MS)"/>
                </a:rPr>
                <a:t>  ('onehot',</a:t>
              </a:r>
            </a:p>
            <a:p>
              <a:pPr algn="just">
                <a:lnSpc>
                  <a:spcPts val="4799"/>
                </a:lnSpc>
                <a:spcBef>
                  <a:spcPct val="0"/>
                </a:spcBef>
              </a:pPr>
              <a:r>
                <a:rPr lang="en-US" sz="3999">
                  <a:solidFill>
                    <a:srgbClr val="000000"/>
                  </a:solidFill>
                  <a:latin typeface="Calibri (MS)"/>
                  <a:ea typeface="Calibri (MS)"/>
                  <a:cs typeface="Calibri (MS)"/>
                  <a:sym typeface="Calibri (MS)"/>
                </a:rPr>
                <a:t>   OneHotEncoder(drop='first'),</a:t>
              </a:r>
            </a:p>
            <a:p>
              <a:pPr algn="just">
                <a:lnSpc>
                  <a:spcPts val="4799"/>
                </a:lnSpc>
                <a:spcBef>
                  <a:spcPct val="0"/>
                </a:spcBef>
              </a:pPr>
              <a:r>
                <a:rPr lang="en-US" sz="3999">
                  <a:solidFill>
                    <a:srgbClr val="000000"/>
                  </a:solidFill>
                  <a:latin typeface="Calibri (MS)"/>
                  <a:ea typeface="Calibri (MS)"/>
                  <a:cs typeface="Calibri (MS)"/>
                  <a:sym typeface="Calibri (MS)"/>
                </a:rPr>
                <a:t>   </a:t>
              </a:r>
              <a:r>
                <a:rPr lang="en-US" sz="3999">
                  <a:solidFill>
                    <a:srgbClr val="000000"/>
                  </a:solidFill>
                  <a:latin typeface="Calibri (MS)"/>
                  <a:ea typeface="Calibri (MS)"/>
                  <a:cs typeface="Calibri (MS)"/>
                  <a:sym typeface="Calibri (MS)"/>
                </a:rPr>
                <a:t>nom</a:t>
              </a:r>
              <a:r>
                <a:rPr lang="en-US" sz="3999">
                  <a:solidFill>
                    <a:srgbClr val="000000"/>
                  </a:solidFill>
                  <a:latin typeface="Calibri (MS)"/>
                  <a:ea typeface="Calibri (MS)"/>
                  <a:cs typeface="Calibri (MS)"/>
                  <a:sym typeface="Calibri (MS)"/>
                </a:rPr>
                <a:t>ina</a:t>
              </a:r>
              <a:r>
                <a:rPr lang="en-US" sz="3999">
                  <a:solidFill>
                    <a:srgbClr val="000000"/>
                  </a:solidFill>
                  <a:latin typeface="Calibri (MS)"/>
                  <a:ea typeface="Calibri (MS)"/>
                  <a:cs typeface="Calibri (MS)"/>
                  <a:sym typeface="Calibri (MS)"/>
                </a:rPr>
                <a:t>l_cols)</a:t>
              </a:r>
            </a:p>
            <a:p>
              <a:pPr algn="just">
                <a:lnSpc>
                  <a:spcPts val="4799"/>
                </a:lnSpc>
                <a:spcBef>
                  <a:spcPct val="0"/>
                </a:spcBef>
              </a:pPr>
            </a:p>
            <a:p>
              <a:pPr algn="just">
                <a:lnSpc>
                  <a:spcPts val="4799"/>
                </a:lnSpc>
                <a:spcBef>
                  <a:spcPct val="0"/>
                </a:spcBef>
              </a:pPr>
              <a:r>
                <a:rPr lang="en-US" sz="3999">
                  <a:solidFill>
                    <a:srgbClr val="000000"/>
                  </a:solidFill>
                  <a:latin typeface="Calibri (MS)"/>
                  <a:ea typeface="Calibri (MS)"/>
                  <a:cs typeface="Calibri (MS)"/>
                  <a:sym typeface="Calibri (MS)"/>
                </a:rPr>
                <a:t>])</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Build the Pipeline</a:t>
              </a:r>
            </a:p>
          </p:txBody>
        </p:sp>
      </p:grpSp>
      <p:grpSp>
        <p:nvGrpSpPr>
          <p:cNvPr name="Group 8" id="8"/>
          <p:cNvGrpSpPr/>
          <p:nvPr/>
        </p:nvGrpSpPr>
        <p:grpSpPr>
          <a:xfrm rot="0">
            <a:off x="3152775" y="3760470"/>
            <a:ext cx="14949982" cy="13053060"/>
            <a:chOff x="0" y="0"/>
            <a:chExt cx="1993330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516178" y="189600"/>
              <a:ext cx="19417131" cy="56864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pipeline = Pipeline(steps=[</a:t>
              </a:r>
            </a:p>
            <a:p>
              <a:pPr algn="just">
                <a:lnSpc>
                  <a:spcPts val="4799"/>
                </a:lnSpc>
              </a:pPr>
              <a:r>
                <a:rPr lang="en-US" sz="3999">
                  <a:solidFill>
                    <a:srgbClr val="000000"/>
                  </a:solidFill>
                  <a:latin typeface="Calibri (MS)"/>
                  <a:ea typeface="Calibri (MS)"/>
                  <a:cs typeface="Calibri (MS)"/>
                  <a:sym typeface="Calibri (MS)"/>
                </a:rPr>
                <a:t>  </a:t>
              </a:r>
              <a:r>
                <a:rPr lang="en-US" sz="3999">
                  <a:solidFill>
                    <a:srgbClr val="000000"/>
                  </a:solidFill>
                  <a:latin typeface="Calibri (MS)"/>
                  <a:ea typeface="Calibri (MS)"/>
                  <a:cs typeface="Calibri (MS)"/>
                  <a:sym typeface="Calibri (MS)"/>
                </a:rPr>
                <a:t>('preprocessor', pr</a:t>
              </a:r>
              <a:r>
                <a:rPr lang="en-US" sz="3999">
                  <a:solidFill>
                    <a:srgbClr val="000000"/>
                  </a:solidFill>
                  <a:latin typeface="Calibri (MS)"/>
                  <a:ea typeface="Calibri (MS)"/>
                  <a:cs typeface="Calibri (MS)"/>
                  <a:sym typeface="Calibri (MS)"/>
                </a:rPr>
                <a:t>eprocessor),</a:t>
              </a:r>
            </a:p>
            <a:p>
              <a:pPr algn="just">
                <a:lnSpc>
                  <a:spcPts val="4799"/>
                </a:lnSpc>
              </a:pPr>
              <a:r>
                <a:rPr lang="en-US" sz="3999">
                  <a:solidFill>
                    <a:srgbClr val="000000"/>
                  </a:solidFill>
                  <a:latin typeface="Calibri (MS)"/>
                  <a:ea typeface="Calibri (MS)"/>
                  <a:cs typeface="Calibri (MS)"/>
                  <a:sym typeface="Calibri (MS)"/>
                </a:rPr>
                <a:t>])</a:t>
              </a:r>
            </a:p>
            <a:p>
              <a:pPr algn="just">
                <a:lnSpc>
                  <a:spcPts val="4799"/>
                </a:lnSpc>
              </a:pPr>
            </a:p>
            <a:p>
              <a:pPr algn="just">
                <a:lnSpc>
                  <a:spcPts val="4799"/>
                </a:lnSpc>
                <a:spcBef>
                  <a:spcPct val="0"/>
                </a:spcBef>
              </a:pPr>
              <a:r>
                <a:rPr lang="en-US" sz="3999">
                  <a:solidFill>
                    <a:srgbClr val="000000"/>
                  </a:solidFill>
                  <a:latin typeface="Calibri (MS)"/>
                  <a:ea typeface="Calibri (MS)"/>
                  <a:cs typeface="Calibri (MS)"/>
                  <a:sym typeface="Calibri (MS)"/>
                </a:rPr>
                <a:t>print("Pipeline created successfu</a:t>
              </a:r>
              <a:r>
                <a:rPr lang="en-US" sz="3999">
                  <a:solidFill>
                    <a:srgbClr val="000000"/>
                  </a:solidFill>
                  <a:latin typeface="Calibri (MS)"/>
                  <a:ea typeface="Calibri (MS)"/>
                  <a:cs typeface="Calibri (MS)"/>
                  <a:sym typeface="Calibri (MS)"/>
                </a:rPr>
                <a:t>lly!")</a:t>
              </a:r>
            </a:p>
            <a:p>
              <a:pPr algn="just">
                <a:lnSpc>
                  <a:spcPts val="4799"/>
                </a:lnSpc>
                <a:spcBef>
                  <a:spcPct val="0"/>
                </a:spcBef>
              </a:pPr>
              <a:r>
                <a:rPr lang="en-US" sz="3999">
                  <a:solidFill>
                    <a:srgbClr val="000000"/>
                  </a:solidFill>
                  <a:latin typeface="Calibri (MS)"/>
                  <a:ea typeface="Calibri (MS)"/>
                  <a:cs typeface="Calibri (MS)"/>
                  <a:sym typeface="Calibri (MS)"/>
                </a:rPr>
                <a:t>print(pipeline</a:t>
              </a:r>
              <a:r>
                <a:rPr lang="en-US" sz="3999">
                  <a:solidFill>
                    <a:srgbClr val="000000"/>
                  </a:solidFill>
                  <a:latin typeface="Calibri (MS)"/>
                  <a:ea typeface="Calibri (MS)"/>
                  <a:cs typeface="Calibri (MS)"/>
                  <a:sym typeface="Calibri (MS)"/>
                </a:rPr>
                <a:t>)</a:t>
              </a:r>
            </a:p>
            <a:p>
              <a:pPr algn="just">
                <a:lnSpc>
                  <a:spcPts val="4799"/>
                </a:lnSpc>
                <a:spcBef>
                  <a:spcPct val="0"/>
                </a:spcBef>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3152775" y="217170"/>
            <a:ext cx="16459200" cy="1604070"/>
            <a:chOff x="0" y="0"/>
            <a:chExt cx="21945600" cy="2138759"/>
          </a:xfrm>
        </p:grpSpPr>
        <p:sp>
          <p:nvSpPr>
            <p:cNvPr name="Freeform 3" id="3"/>
            <p:cNvSpPr/>
            <p:nvPr/>
          </p:nvSpPr>
          <p:spPr>
            <a:xfrm flipH="false" flipV="false" rot="0">
              <a:off x="0" y="0"/>
              <a:ext cx="21945600" cy="2138759"/>
            </a:xfrm>
            <a:custGeom>
              <a:avLst/>
              <a:gdLst/>
              <a:ahLst/>
              <a:cxnLst/>
              <a:rect r="r" b="b" t="t" l="l"/>
              <a:pathLst>
                <a:path h="2138759" w="21945600">
                  <a:moveTo>
                    <a:pt x="0" y="0"/>
                  </a:moveTo>
                  <a:lnTo>
                    <a:pt x="21945600" y="0"/>
                  </a:lnTo>
                  <a:lnTo>
                    <a:pt x="21945600" y="2138759"/>
                  </a:lnTo>
                  <a:lnTo>
                    <a:pt x="0" y="2138759"/>
                  </a:lnTo>
                  <a:close/>
                </a:path>
              </a:pathLst>
            </a:custGeom>
            <a:blipFill>
              <a:blip r:embed="rId3">
                <a:alphaModFix amt="0"/>
              </a:blip>
              <a:stretch>
                <a:fillRect l="0" t="-165731" r="0" b="-134137"/>
              </a:stretch>
            </a:blipFill>
          </p:spPr>
        </p:sp>
        <p:sp>
          <p:nvSpPr>
            <p:cNvPr name="TextBox 4" id="4"/>
            <p:cNvSpPr txBox="true"/>
            <p:nvPr/>
          </p:nvSpPr>
          <p:spPr>
            <a:xfrm>
              <a:off x="0" y="-161925"/>
              <a:ext cx="21945600" cy="2300684"/>
            </a:xfrm>
            <a:prstGeom prst="rect">
              <a:avLst/>
            </a:prstGeom>
          </p:spPr>
          <p:txBody>
            <a:bodyPr anchor="ctr" rtlCol="false" tIns="0" lIns="0" bIns="0" rIns="0"/>
            <a:lstStyle/>
            <a:p>
              <a:pPr algn="l">
                <a:lnSpc>
                  <a:spcPts val="9600"/>
                </a:lnSpc>
              </a:pPr>
              <a:r>
                <a:rPr lang="en-US" sz="8000" b="true">
                  <a:solidFill>
                    <a:srgbClr val="1E293B"/>
                  </a:solidFill>
                  <a:latin typeface="Calibri (MS) Bold"/>
                  <a:ea typeface="Calibri (MS) Bold"/>
                  <a:cs typeface="Calibri (MS) Bold"/>
                  <a:sym typeface="Calibri (MS) Bold"/>
                </a:rPr>
                <a:t>Scikit</a:t>
              </a:r>
              <a:r>
                <a:rPr lang="en-US" sz="8000" b="true">
                  <a:solidFill>
                    <a:srgbClr val="1E293B"/>
                  </a:solidFill>
                  <a:latin typeface="Calibri (MS) Bold"/>
                  <a:ea typeface="Calibri (MS) Bold"/>
                  <a:cs typeface="Calibri (MS) Bold"/>
                  <a:sym typeface="Calibri (MS) Bold"/>
                </a:rPr>
                <a:t> Learn Pipeline</a:t>
              </a:r>
            </a:p>
          </p:txBody>
        </p:sp>
      </p:grpSp>
      <p:grpSp>
        <p:nvGrpSpPr>
          <p:cNvPr name="Group 5" id="5"/>
          <p:cNvGrpSpPr/>
          <p:nvPr/>
        </p:nvGrpSpPr>
        <p:grpSpPr>
          <a:xfrm rot="0">
            <a:off x="1028700" y="2674046"/>
            <a:ext cx="11846650" cy="1019749"/>
            <a:chOff x="0" y="0"/>
            <a:chExt cx="15795533" cy="1359665"/>
          </a:xfrm>
        </p:grpSpPr>
        <p:sp>
          <p:nvSpPr>
            <p:cNvPr name="Freeform 6" id="6"/>
            <p:cNvSpPr/>
            <p:nvPr/>
          </p:nvSpPr>
          <p:spPr>
            <a:xfrm flipH="false" flipV="false" rot="0">
              <a:off x="0" y="0"/>
              <a:ext cx="15795534" cy="1359666"/>
            </a:xfrm>
            <a:custGeom>
              <a:avLst/>
              <a:gdLst/>
              <a:ahLst/>
              <a:cxnLst/>
              <a:rect r="r" b="b" t="t" l="l"/>
              <a:pathLst>
                <a:path h="1359666" w="15795534">
                  <a:moveTo>
                    <a:pt x="0" y="0"/>
                  </a:moveTo>
                  <a:lnTo>
                    <a:pt x="15795534" y="0"/>
                  </a:lnTo>
                  <a:lnTo>
                    <a:pt x="15795534" y="1359666"/>
                  </a:lnTo>
                  <a:lnTo>
                    <a:pt x="0" y="1359666"/>
                  </a:lnTo>
                  <a:close/>
                </a:path>
              </a:pathLst>
            </a:custGeom>
            <a:blipFill>
              <a:blip r:embed="rId3">
                <a:alphaModFix amt="0"/>
              </a:blip>
              <a:stretch>
                <a:fillRect l="0" t="-260695" r="-38935" b="-268298"/>
              </a:stretch>
            </a:blipFill>
          </p:spPr>
        </p:sp>
        <p:sp>
          <p:nvSpPr>
            <p:cNvPr name="TextBox 7" id="7"/>
            <p:cNvSpPr txBox="true"/>
            <p:nvPr/>
          </p:nvSpPr>
          <p:spPr>
            <a:xfrm>
              <a:off x="0" y="-114300"/>
              <a:ext cx="15795533" cy="1473965"/>
            </a:xfrm>
            <a:prstGeom prst="rect">
              <a:avLst/>
            </a:prstGeom>
          </p:spPr>
          <p:txBody>
            <a:bodyPr anchor="ctr" rtlCol="false" tIns="0" lIns="0" bIns="0" rIns="0"/>
            <a:lstStyle/>
            <a:p>
              <a:pPr algn="l">
                <a:lnSpc>
                  <a:spcPts val="6000"/>
                </a:lnSpc>
              </a:pPr>
              <a:r>
                <a:rPr lang="en-US" sz="5000" b="true">
                  <a:solidFill>
                    <a:srgbClr val="1E293B"/>
                  </a:solidFill>
                  <a:latin typeface="Calibri (MS) Bold"/>
                  <a:ea typeface="Calibri (MS) Bold"/>
                  <a:cs typeface="Calibri (MS) Bold"/>
                  <a:sym typeface="Calibri (MS) Bold"/>
                </a:rPr>
                <a:t>Fit &amp; Transformer</a:t>
              </a:r>
            </a:p>
          </p:txBody>
        </p:sp>
      </p:grpSp>
      <p:grpSp>
        <p:nvGrpSpPr>
          <p:cNvPr name="Group 8" id="8"/>
          <p:cNvGrpSpPr/>
          <p:nvPr/>
        </p:nvGrpSpPr>
        <p:grpSpPr>
          <a:xfrm rot="0">
            <a:off x="3152775" y="3760470"/>
            <a:ext cx="14949982" cy="13053060"/>
            <a:chOff x="0" y="0"/>
            <a:chExt cx="19933309" cy="17404080"/>
          </a:xfrm>
        </p:grpSpPr>
        <p:grpSp>
          <p:nvGrpSpPr>
            <p:cNvPr name="Group 9" id="9"/>
            <p:cNvGrpSpPr/>
            <p:nvPr/>
          </p:nvGrpSpPr>
          <p:grpSpPr>
            <a:xfrm rot="0">
              <a:off x="0" y="0"/>
              <a:ext cx="16803694" cy="17404080"/>
              <a:chOff x="0" y="0"/>
              <a:chExt cx="16803694" cy="17404080"/>
            </a:xfrm>
          </p:grpSpPr>
          <p:sp>
            <p:nvSpPr>
              <p:cNvPr name="Freeform 10" id="10"/>
              <p:cNvSpPr/>
              <p:nvPr/>
            </p:nvSpPr>
            <p:spPr>
              <a:xfrm flipH="false" flipV="false" rot="0">
                <a:off x="0" y="0"/>
                <a:ext cx="16803694" cy="17404080"/>
              </a:xfrm>
              <a:custGeom>
                <a:avLst/>
                <a:gdLst/>
                <a:ahLst/>
                <a:cxnLst/>
                <a:rect r="r" b="b" t="t" l="l"/>
                <a:pathLst>
                  <a:path h="17404080" w="16803694">
                    <a:moveTo>
                      <a:pt x="0" y="0"/>
                    </a:moveTo>
                    <a:lnTo>
                      <a:pt x="16803694" y="0"/>
                    </a:lnTo>
                    <a:lnTo>
                      <a:pt x="16803694" y="17404080"/>
                    </a:lnTo>
                    <a:lnTo>
                      <a:pt x="0" y="17404080"/>
                    </a:lnTo>
                    <a:close/>
                  </a:path>
                </a:pathLst>
              </a:custGeom>
              <a:solidFill>
                <a:srgbClr val="4285F4"/>
              </a:solidFill>
            </p:spPr>
          </p:sp>
        </p:grpSp>
        <p:sp>
          <p:nvSpPr>
            <p:cNvPr name="TextBox 11" id="11"/>
            <p:cNvSpPr txBox="true"/>
            <p:nvPr/>
          </p:nvSpPr>
          <p:spPr>
            <a:xfrm rot="0">
              <a:off x="516178" y="189600"/>
              <a:ext cx="19417131" cy="8086725"/>
            </a:xfrm>
            <a:prstGeom prst="rect">
              <a:avLst/>
            </a:prstGeom>
          </p:spPr>
          <p:txBody>
            <a:bodyPr anchor="t" rtlCol="false" tIns="0" lIns="0" bIns="0" rIns="0">
              <a:spAutoFit/>
            </a:bodyPr>
            <a:lstStyle/>
            <a:p>
              <a:pPr algn="just">
                <a:lnSpc>
                  <a:spcPts val="4799"/>
                </a:lnSpc>
              </a:pPr>
              <a:r>
                <a:rPr lang="en-US" sz="3999">
                  <a:solidFill>
                    <a:srgbClr val="000000"/>
                  </a:solidFill>
                  <a:latin typeface="Calibri (MS)"/>
                  <a:ea typeface="Calibri (MS)"/>
                  <a:cs typeface="Calibri (MS)"/>
                  <a:sym typeface="Calibri (MS)"/>
                </a:rPr>
                <a:t>x_train_transformed = pipeline.fit_transform(x_train)</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x_test_transformed = pi</a:t>
              </a:r>
              <a:r>
                <a:rPr lang="en-US" sz="3999">
                  <a:solidFill>
                    <a:srgbClr val="000000"/>
                  </a:solidFill>
                  <a:latin typeface="Calibri (MS)"/>
                  <a:ea typeface="Calibri (MS)"/>
                  <a:cs typeface="Calibri (MS)"/>
                  <a:sym typeface="Calibri (MS)"/>
                </a:rPr>
                <a:t>peline.transform(x_test)</a:t>
              </a:r>
            </a:p>
            <a:p>
              <a:pPr algn="just">
                <a:lnSpc>
                  <a:spcPts val="4799"/>
                </a:lnSpc>
              </a:pPr>
            </a:p>
            <a:p>
              <a:pPr algn="just">
                <a:lnSpc>
                  <a:spcPts val="4799"/>
                </a:lnSpc>
              </a:pPr>
              <a:r>
                <a:rPr lang="en-US" sz="3999">
                  <a:solidFill>
                    <a:srgbClr val="000000"/>
                  </a:solidFill>
                  <a:latin typeface="Calibri (MS)"/>
                  <a:ea typeface="Calibri (MS)"/>
                  <a:cs typeface="Calibri (MS)"/>
                  <a:sym typeface="Calibri (MS)"/>
                </a:rPr>
                <a:t>print("X_train after Pipeline:")</a:t>
              </a:r>
            </a:p>
            <a:p>
              <a:pPr algn="just">
                <a:lnSpc>
                  <a:spcPts val="4799"/>
                </a:lnSpc>
              </a:pPr>
              <a:r>
                <a:rPr lang="en-US" sz="3999">
                  <a:solidFill>
                    <a:srgbClr val="000000"/>
                  </a:solidFill>
                  <a:latin typeface="Calibri (MS)"/>
                  <a:ea typeface="Calibri (MS)"/>
                  <a:cs typeface="Calibri (MS)"/>
                  <a:sym typeface="Calibri (MS)"/>
                </a:rPr>
                <a:t>print(x_train_transformed.round(2))</a:t>
              </a:r>
            </a:p>
            <a:p>
              <a:pPr algn="just">
                <a:lnSpc>
                  <a:spcPts val="4799"/>
                </a:lnSpc>
              </a:pPr>
              <a:r>
                <a:rPr lang="en-US" sz="3999">
                  <a:solidFill>
                    <a:srgbClr val="000000"/>
                  </a:solidFill>
                  <a:latin typeface="Calibri (MS)"/>
                  <a:ea typeface="Calibri (MS)"/>
                  <a:cs typeface="Calibri (MS)"/>
                  <a:sym typeface="Calibri (MS)"/>
                </a:rPr>
                <a:t>print()</a:t>
              </a:r>
            </a:p>
            <a:p>
              <a:pPr algn="just">
                <a:lnSpc>
                  <a:spcPts val="4799"/>
                </a:lnSpc>
                <a:spcBef>
                  <a:spcPct val="0"/>
                </a:spcBef>
              </a:pPr>
              <a:r>
                <a:rPr lang="en-US" sz="3999">
                  <a:solidFill>
                    <a:srgbClr val="000000"/>
                  </a:solidFill>
                  <a:latin typeface="Calibri (MS)"/>
                  <a:ea typeface="Calibri (MS)"/>
                  <a:cs typeface="Calibri (MS)"/>
                  <a:sym typeface="Calibri (MS)"/>
                </a:rPr>
                <a:t>print(f"Shape before: {x_train.shape}</a:t>
              </a:r>
              <a:r>
                <a:rPr lang="en-US" sz="3999">
                  <a:solidFill>
                    <a:srgbClr val="000000"/>
                  </a:solidFill>
                  <a:latin typeface="Calibri (MS)"/>
                  <a:ea typeface="Calibri (MS)"/>
                  <a:cs typeface="Calibri (MS)"/>
                  <a:sym typeface="Calibri (MS)"/>
                </a:rPr>
                <a:t>")</a:t>
              </a:r>
            </a:p>
            <a:p>
              <a:pPr algn="just">
                <a:lnSpc>
                  <a:spcPts val="4799"/>
                </a:lnSpc>
                <a:spcBef>
                  <a:spcPct val="0"/>
                </a:spcBef>
              </a:pPr>
              <a:r>
                <a:rPr lang="en-US" sz="3999">
                  <a:solidFill>
                    <a:srgbClr val="000000"/>
                  </a:solidFill>
                  <a:latin typeface="Calibri (MS)"/>
                  <a:ea typeface="Calibri (MS)"/>
                  <a:cs typeface="Calibri (MS)"/>
                  <a:sym typeface="Calibri (MS)"/>
                </a:rPr>
                <a:t>print(f"Shape after : {x_train_transformed.shape}"</a:t>
              </a:r>
              <a:r>
                <a:rPr lang="en-US" sz="3999">
                  <a:solidFill>
                    <a:srgbClr val="000000"/>
                  </a:solidFill>
                  <a:latin typeface="Calibri (MS)"/>
                  <a:ea typeface="Calibri (MS)"/>
                  <a:cs typeface="Calibri (MS)"/>
                  <a:sym typeface="Calibri (MS)"/>
                </a:rPr>
                <a:t>)</a:t>
              </a:r>
            </a:p>
            <a:p>
              <a:pPr algn="just">
                <a:lnSpc>
                  <a:spcPts val="479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DAHDYjF28gY</dc:identifier>
  <dcterms:modified xsi:type="dcterms:W3CDTF">2011-08-01T06:04:30Z</dcterms:modified>
  <cp:revision>1</cp:revision>
  <dc:title>GDG_DataScience_Day4.pptx</dc:title>
</cp:coreProperties>
</file>